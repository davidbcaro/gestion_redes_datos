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7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337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01F3F"/>
          </a:solidFill>
          <a:ln/>
        </p:spPr>
        <p:txBody>
          <a:bodyPr/>
          <a:lstStyle/>
          <a:p>
            <a:endParaRPr lang="es-CO"/>
          </a:p>
        </p:txBody>
      </p:sp>
      <p:sp>
        <p:nvSpPr>
          <p:cNvPr id="3" name="Shape 1"/>
          <p:cNvSpPr/>
          <p:nvPr/>
        </p:nvSpPr>
        <p:spPr>
          <a:xfrm>
            <a:off x="457200" y="411480"/>
            <a:ext cx="164592" cy="4343400"/>
          </a:xfrm>
          <a:prstGeom prst="rect">
            <a:avLst/>
          </a:prstGeom>
          <a:solidFill>
            <a:srgbClr val="39A900"/>
          </a:solidFill>
          <a:ln/>
        </p:spPr>
        <p:txBody>
          <a:bodyPr/>
          <a:lstStyle/>
          <a:p>
            <a:endParaRPr lang="es-CO"/>
          </a:p>
        </p:txBody>
      </p:sp>
      <p:sp>
        <p:nvSpPr>
          <p:cNvPr id="4" name="Shape 2"/>
          <p:cNvSpPr/>
          <p:nvPr/>
        </p:nvSpPr>
        <p:spPr>
          <a:xfrm>
            <a:off x="868680" y="1920240"/>
            <a:ext cx="1828800" cy="914400"/>
          </a:xfrm>
          <a:prstGeom prst="rect">
            <a:avLst/>
          </a:prstGeom>
          <a:solidFill>
            <a:srgbClr val="39A900"/>
          </a:solidFill>
          <a:ln/>
        </p:spPr>
        <p:txBody>
          <a:bodyPr/>
          <a:lstStyle/>
          <a:p>
            <a:endParaRPr lang="es-CO"/>
          </a:p>
        </p:txBody>
      </p:sp>
      <p:sp>
        <p:nvSpPr>
          <p:cNvPr id="5" name="Text 3"/>
          <p:cNvSpPr/>
          <p:nvPr/>
        </p:nvSpPr>
        <p:spPr>
          <a:xfrm>
            <a:off x="868680" y="1920240"/>
            <a:ext cx="1828800" cy="914400"/>
          </a:xfrm>
          <a:prstGeom prst="rect">
            <a:avLst/>
          </a:prstGeom>
          <a:noFill/>
          <a:ln/>
        </p:spPr>
        <p:txBody>
          <a:bodyPr wrap="square" lIns="0" tIns="0" rIns="0" bIns="0" rtlCol="0" anchor="ctr"/>
          <a:lstStyle/>
          <a:p>
            <a:pPr marL="0" indent="0" algn="ctr">
              <a:buNone/>
            </a:pPr>
            <a:r>
              <a:rPr lang="en-US" sz="4400" b="1" dirty="0">
                <a:solidFill>
                  <a:srgbClr val="FFFFFF"/>
                </a:solidFill>
              </a:rPr>
              <a:t>SENA</a:t>
            </a:r>
            <a:endParaRPr lang="en-US" sz="4400" dirty="0"/>
          </a:p>
        </p:txBody>
      </p:sp>
      <p:sp>
        <p:nvSpPr>
          <p:cNvPr id="6" name="Text 4"/>
          <p:cNvSpPr/>
          <p:nvPr/>
        </p:nvSpPr>
        <p:spPr>
          <a:xfrm>
            <a:off x="868680" y="2880360"/>
            <a:ext cx="2011680" cy="320040"/>
          </a:xfrm>
          <a:prstGeom prst="rect">
            <a:avLst/>
          </a:prstGeom>
          <a:noFill/>
          <a:ln/>
        </p:spPr>
        <p:txBody>
          <a:bodyPr wrap="square" lIns="0" tIns="0" rIns="0" bIns="0" rtlCol="0" anchor="ctr"/>
          <a:lstStyle/>
          <a:p>
            <a:pPr marL="0" indent="0" algn="ctr">
              <a:buNone/>
            </a:pPr>
            <a:r>
              <a:rPr lang="en-US" sz="900" dirty="0">
                <a:solidFill>
                  <a:srgbClr val="AABFD0"/>
                </a:solidFill>
              </a:rPr>
              <a:t>Servicio Nacional de Aprendizaje</a:t>
            </a:r>
            <a:endParaRPr lang="en-US" sz="900" dirty="0"/>
          </a:p>
        </p:txBody>
      </p:sp>
      <p:sp>
        <p:nvSpPr>
          <p:cNvPr id="7" name="Shape 5"/>
          <p:cNvSpPr/>
          <p:nvPr/>
        </p:nvSpPr>
        <p:spPr>
          <a:xfrm>
            <a:off x="3108960" y="0"/>
            <a:ext cx="6035040" cy="73152"/>
          </a:xfrm>
          <a:prstGeom prst="rect">
            <a:avLst/>
          </a:prstGeom>
          <a:solidFill>
            <a:srgbClr val="39A900"/>
          </a:solidFill>
          <a:ln/>
        </p:spPr>
        <p:txBody>
          <a:bodyPr/>
          <a:lstStyle/>
          <a:p>
            <a:endParaRPr lang="es-CO"/>
          </a:p>
        </p:txBody>
      </p:sp>
      <p:sp>
        <p:nvSpPr>
          <p:cNvPr id="8" name="Text 6"/>
          <p:cNvSpPr/>
          <p:nvPr/>
        </p:nvSpPr>
        <p:spPr>
          <a:xfrm>
            <a:off x="3474720" y="502920"/>
            <a:ext cx="5486400" cy="320040"/>
          </a:xfrm>
          <a:prstGeom prst="rect">
            <a:avLst/>
          </a:prstGeom>
          <a:noFill/>
          <a:ln/>
        </p:spPr>
        <p:txBody>
          <a:bodyPr wrap="square" lIns="0" tIns="0" rIns="0" bIns="0" rtlCol="0" anchor="ctr"/>
          <a:lstStyle/>
          <a:p>
            <a:pPr marL="0" indent="0">
              <a:buNone/>
            </a:pPr>
            <a:r>
              <a:rPr lang="en-US" sz="1100" b="1" dirty="0">
                <a:solidFill>
                  <a:srgbClr val="39A900"/>
                </a:solidFill>
              </a:rPr>
              <a:t>EVIDENCIA DE APRENDIZAJE - GA4-220501104-AA1-EV01</a:t>
            </a:r>
            <a:endParaRPr lang="en-US" sz="1100" dirty="0"/>
          </a:p>
        </p:txBody>
      </p:sp>
      <p:sp>
        <p:nvSpPr>
          <p:cNvPr id="9" name="Text 7"/>
          <p:cNvSpPr/>
          <p:nvPr/>
        </p:nvSpPr>
        <p:spPr>
          <a:xfrm>
            <a:off x="3474720" y="960120"/>
            <a:ext cx="5486400" cy="1554480"/>
          </a:xfrm>
          <a:prstGeom prst="rect">
            <a:avLst/>
          </a:prstGeom>
          <a:noFill/>
          <a:ln/>
        </p:spPr>
        <p:txBody>
          <a:bodyPr wrap="square" lIns="0" tIns="0" rIns="0" bIns="0" rtlCol="0" anchor="t"/>
          <a:lstStyle/>
          <a:p>
            <a:pPr marL="0" indent="0">
              <a:buNone/>
            </a:pPr>
            <a:r>
              <a:rPr lang="en-US" sz="2800" b="1" dirty="0">
                <a:solidFill>
                  <a:srgbClr val="FFFFFF"/>
                </a:solidFill>
              </a:rPr>
              <a:t>Simulacion del esquema de subredes y direccionamiento IPv4 e IPv6</a:t>
            </a:r>
            <a:endParaRPr lang="en-US" sz="2800" dirty="0"/>
          </a:p>
        </p:txBody>
      </p:sp>
      <p:sp>
        <p:nvSpPr>
          <p:cNvPr id="10" name="Text 8"/>
          <p:cNvSpPr/>
          <p:nvPr/>
        </p:nvSpPr>
        <p:spPr>
          <a:xfrm>
            <a:off x="3474720" y="2606040"/>
            <a:ext cx="5486400" cy="411480"/>
          </a:xfrm>
          <a:prstGeom prst="rect">
            <a:avLst/>
          </a:prstGeom>
          <a:noFill/>
          <a:ln/>
        </p:spPr>
        <p:txBody>
          <a:bodyPr wrap="square" lIns="0" tIns="0" rIns="0" bIns="0" rtlCol="0" anchor="ctr"/>
          <a:lstStyle/>
          <a:p>
            <a:pPr marL="0" indent="0">
              <a:buNone/>
            </a:pPr>
            <a:r>
              <a:rPr lang="en-US" sz="1400" i="1" dirty="0">
                <a:solidFill>
                  <a:srgbClr val="AABFD0"/>
                </a:solidFill>
              </a:rPr>
              <a:t>Tutorial paso a paso con Packet Tracer - Proyecto Enter Ltda.</a:t>
            </a:r>
            <a:endParaRPr lang="en-US" sz="1400" dirty="0"/>
          </a:p>
        </p:txBody>
      </p:sp>
      <p:sp>
        <p:nvSpPr>
          <p:cNvPr id="11" name="Shape 9"/>
          <p:cNvSpPr/>
          <p:nvPr/>
        </p:nvSpPr>
        <p:spPr>
          <a:xfrm>
            <a:off x="3474720" y="3200400"/>
            <a:ext cx="1234440" cy="292608"/>
          </a:xfrm>
          <a:prstGeom prst="rect">
            <a:avLst/>
          </a:prstGeom>
          <a:solidFill>
            <a:srgbClr val="39A900"/>
          </a:solidFill>
          <a:ln/>
        </p:spPr>
        <p:txBody>
          <a:bodyPr/>
          <a:lstStyle/>
          <a:p>
            <a:endParaRPr lang="es-CO"/>
          </a:p>
        </p:txBody>
      </p:sp>
      <p:sp>
        <p:nvSpPr>
          <p:cNvPr id="12" name="Text 10"/>
          <p:cNvSpPr/>
          <p:nvPr/>
        </p:nvSpPr>
        <p:spPr>
          <a:xfrm>
            <a:off x="3474720" y="3200400"/>
            <a:ext cx="1234440" cy="292608"/>
          </a:xfrm>
          <a:prstGeom prst="rect">
            <a:avLst/>
          </a:prstGeom>
          <a:noFill/>
          <a:ln/>
        </p:spPr>
        <p:txBody>
          <a:bodyPr wrap="square" lIns="0" tIns="0" rIns="0" bIns="0" rtlCol="0" anchor="ctr"/>
          <a:lstStyle/>
          <a:p>
            <a:pPr marL="0" indent="0" algn="ctr">
              <a:buNone/>
            </a:pPr>
            <a:r>
              <a:rPr lang="en-US" sz="900" b="1" dirty="0">
                <a:solidFill>
                  <a:srgbClr val="FFFFFF"/>
                </a:solidFill>
              </a:rPr>
              <a:t>ADSO</a:t>
            </a:r>
            <a:endParaRPr lang="en-US" sz="900" dirty="0"/>
          </a:p>
        </p:txBody>
      </p:sp>
      <p:sp>
        <p:nvSpPr>
          <p:cNvPr id="13" name="Shape 11"/>
          <p:cNvSpPr/>
          <p:nvPr/>
        </p:nvSpPr>
        <p:spPr>
          <a:xfrm>
            <a:off x="4800600" y="3200400"/>
            <a:ext cx="1234440" cy="292608"/>
          </a:xfrm>
          <a:prstGeom prst="rect">
            <a:avLst/>
          </a:prstGeom>
          <a:solidFill>
            <a:srgbClr val="E85D04"/>
          </a:solidFill>
          <a:ln/>
        </p:spPr>
        <p:txBody>
          <a:bodyPr/>
          <a:lstStyle/>
          <a:p>
            <a:endParaRPr lang="es-CO"/>
          </a:p>
        </p:txBody>
      </p:sp>
      <p:sp>
        <p:nvSpPr>
          <p:cNvPr id="14" name="Text 12"/>
          <p:cNvSpPr/>
          <p:nvPr/>
        </p:nvSpPr>
        <p:spPr>
          <a:xfrm>
            <a:off x="4800600" y="3200400"/>
            <a:ext cx="1234440" cy="292608"/>
          </a:xfrm>
          <a:prstGeom prst="rect">
            <a:avLst/>
          </a:prstGeom>
          <a:noFill/>
          <a:ln/>
        </p:spPr>
        <p:txBody>
          <a:bodyPr wrap="square" lIns="0" tIns="0" rIns="0" bIns="0" rtlCol="0" anchor="ctr"/>
          <a:lstStyle/>
          <a:p>
            <a:pPr marL="0" indent="0" algn="ctr">
              <a:buNone/>
            </a:pPr>
            <a:r>
              <a:rPr lang="en-US" sz="900" b="1" dirty="0">
                <a:solidFill>
                  <a:srgbClr val="FFFFFF"/>
                </a:solidFill>
              </a:rPr>
              <a:t>Packet Tracer</a:t>
            </a:r>
            <a:endParaRPr lang="en-US" sz="900" dirty="0"/>
          </a:p>
        </p:txBody>
      </p:sp>
      <p:sp>
        <p:nvSpPr>
          <p:cNvPr id="15" name="Shape 13"/>
          <p:cNvSpPr/>
          <p:nvPr/>
        </p:nvSpPr>
        <p:spPr>
          <a:xfrm>
            <a:off x="6126480" y="3200400"/>
            <a:ext cx="1234440" cy="292608"/>
          </a:xfrm>
          <a:prstGeom prst="rect">
            <a:avLst/>
          </a:prstGeom>
          <a:solidFill>
            <a:srgbClr val="1A4D7A"/>
          </a:solidFill>
          <a:ln/>
        </p:spPr>
        <p:txBody>
          <a:bodyPr/>
          <a:lstStyle/>
          <a:p>
            <a:endParaRPr lang="es-CO"/>
          </a:p>
        </p:txBody>
      </p:sp>
      <p:sp>
        <p:nvSpPr>
          <p:cNvPr id="16" name="Text 14"/>
          <p:cNvSpPr/>
          <p:nvPr/>
        </p:nvSpPr>
        <p:spPr>
          <a:xfrm>
            <a:off x="6126480" y="3200400"/>
            <a:ext cx="1234440" cy="292608"/>
          </a:xfrm>
          <a:prstGeom prst="rect">
            <a:avLst/>
          </a:prstGeom>
          <a:noFill/>
          <a:ln/>
        </p:spPr>
        <p:txBody>
          <a:bodyPr wrap="square" lIns="0" tIns="0" rIns="0" bIns="0" rtlCol="0" anchor="ctr"/>
          <a:lstStyle/>
          <a:p>
            <a:pPr marL="0" indent="0" algn="ctr">
              <a:buNone/>
            </a:pPr>
            <a:r>
              <a:rPr lang="en-US" sz="900" b="1" dirty="0">
                <a:solidFill>
                  <a:srgbClr val="FFFFFF"/>
                </a:solidFill>
              </a:rPr>
              <a:t>IPv4 + IPv6</a:t>
            </a:r>
            <a:endParaRPr lang="en-US" sz="900" dirty="0"/>
          </a:p>
        </p:txBody>
      </p:sp>
      <p:sp>
        <p:nvSpPr>
          <p:cNvPr id="17" name="Shape 15"/>
          <p:cNvSpPr/>
          <p:nvPr/>
        </p:nvSpPr>
        <p:spPr>
          <a:xfrm>
            <a:off x="7452360" y="3200400"/>
            <a:ext cx="1234440" cy="292608"/>
          </a:xfrm>
          <a:prstGeom prst="rect">
            <a:avLst/>
          </a:prstGeom>
          <a:solidFill>
            <a:srgbClr val="F59E0B"/>
          </a:solidFill>
          <a:ln/>
        </p:spPr>
        <p:txBody>
          <a:bodyPr/>
          <a:lstStyle/>
          <a:p>
            <a:endParaRPr lang="es-CO"/>
          </a:p>
        </p:txBody>
      </p:sp>
      <p:sp>
        <p:nvSpPr>
          <p:cNvPr id="18" name="Text 16"/>
          <p:cNvSpPr/>
          <p:nvPr/>
        </p:nvSpPr>
        <p:spPr>
          <a:xfrm>
            <a:off x="7452360" y="3200400"/>
            <a:ext cx="1234440" cy="292608"/>
          </a:xfrm>
          <a:prstGeom prst="rect">
            <a:avLst/>
          </a:prstGeom>
          <a:noFill/>
          <a:ln/>
        </p:spPr>
        <p:txBody>
          <a:bodyPr wrap="square" lIns="0" tIns="0" rIns="0" bIns="0" rtlCol="0" anchor="ctr"/>
          <a:lstStyle/>
          <a:p>
            <a:pPr marL="0" indent="0" algn="ctr">
              <a:buNone/>
            </a:pPr>
            <a:r>
              <a:rPr lang="en-US" sz="900" b="1" dirty="0">
                <a:solidFill>
                  <a:srgbClr val="FFFFFF"/>
                </a:solidFill>
              </a:rPr>
              <a:t>VLSM y VLAN</a:t>
            </a:r>
            <a:endParaRPr lang="en-US" sz="900" dirty="0"/>
          </a:p>
        </p:txBody>
      </p:sp>
      <p:sp>
        <p:nvSpPr>
          <p:cNvPr id="19" name="Shape 17"/>
          <p:cNvSpPr/>
          <p:nvPr/>
        </p:nvSpPr>
        <p:spPr>
          <a:xfrm>
            <a:off x="3474720" y="3749040"/>
            <a:ext cx="5486400" cy="36576"/>
          </a:xfrm>
          <a:prstGeom prst="rect">
            <a:avLst/>
          </a:prstGeom>
          <a:solidFill>
            <a:srgbClr val="39A900"/>
          </a:solidFill>
          <a:ln/>
        </p:spPr>
        <p:txBody>
          <a:bodyPr/>
          <a:lstStyle/>
          <a:p>
            <a:endParaRPr lang="es-CO"/>
          </a:p>
        </p:txBody>
      </p:sp>
      <p:sp>
        <p:nvSpPr>
          <p:cNvPr id="20" name="Text 18"/>
          <p:cNvSpPr/>
          <p:nvPr/>
        </p:nvSpPr>
        <p:spPr>
          <a:xfrm>
            <a:off x="3474720" y="3886200"/>
            <a:ext cx="5486400" cy="274320"/>
          </a:xfrm>
          <a:prstGeom prst="rect">
            <a:avLst/>
          </a:prstGeom>
          <a:noFill/>
          <a:ln/>
        </p:spPr>
        <p:txBody>
          <a:bodyPr wrap="square" lIns="0" tIns="0" rIns="0" bIns="0" rtlCol="0" anchor="ctr"/>
          <a:lstStyle/>
          <a:p>
            <a:pPr marL="0" indent="0">
              <a:buNone/>
            </a:pPr>
            <a:r>
              <a:rPr lang="en-US" sz="1000" dirty="0">
                <a:solidFill>
                  <a:srgbClr val="8FA9BF"/>
                </a:solidFill>
              </a:rPr>
              <a:t>Centro de Formacion - Servicio Nacional de Aprendizaje</a:t>
            </a:r>
            <a:endParaRPr lang="en-US" sz="1000" dirty="0"/>
          </a:p>
        </p:txBody>
      </p:sp>
      <p:sp>
        <p:nvSpPr>
          <p:cNvPr id="21" name="Text 19"/>
          <p:cNvSpPr/>
          <p:nvPr/>
        </p:nvSpPr>
        <p:spPr>
          <a:xfrm>
            <a:off x="3474720" y="4160520"/>
            <a:ext cx="5486400" cy="274320"/>
          </a:xfrm>
          <a:prstGeom prst="rect">
            <a:avLst/>
          </a:prstGeom>
          <a:noFill/>
          <a:ln/>
        </p:spPr>
        <p:txBody>
          <a:bodyPr wrap="square" lIns="0" tIns="0" rIns="0" bIns="0" rtlCol="0" anchor="ctr"/>
          <a:lstStyle/>
          <a:p>
            <a:pPr marL="0" indent="0">
              <a:buNone/>
            </a:pPr>
            <a:r>
              <a:rPr lang="en-US" sz="900" i="1" dirty="0">
                <a:solidFill>
                  <a:srgbClr val="8FA9BF"/>
                </a:solidFill>
              </a:rPr>
              <a:t>Competencia: Implementar el esquema de subredes y direccionamiento IPv4 e IPv6.</a:t>
            </a:r>
            <a:endParaRPr lang="en-US" sz="900" dirty="0"/>
          </a:p>
        </p:txBody>
      </p:sp>
      <p:pic>
        <p:nvPicPr>
          <p:cNvPr id="22" name="Image 0" descr="preencoded.png"/>
          <p:cNvPicPr>
            <a:picLocks noChangeAspect="1"/>
          </p:cNvPicPr>
          <p:nvPr/>
        </p:nvPicPr>
        <p:blipFill>
          <a:blip r:embed="rId3"/>
          <a:stretch>
            <a:fillRect/>
          </a:stretch>
        </p:blipFill>
        <p:spPr>
          <a:xfrm>
            <a:off x="7863840" y="416052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01 - INTRODUCCION</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Ficha tecnica de la evidencia</a:t>
            </a:r>
            <a:endParaRPr lang="en-US" sz="2400" dirty="0"/>
          </a:p>
        </p:txBody>
      </p:sp>
      <p:sp>
        <p:nvSpPr>
          <p:cNvPr id="6" name="Shape 4"/>
          <p:cNvSpPr/>
          <p:nvPr/>
        </p:nvSpPr>
        <p:spPr>
          <a:xfrm>
            <a:off x="457200" y="118872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502920"/>
          </a:xfrm>
          <a:prstGeom prst="rect">
            <a:avLst/>
          </a:prstGeom>
          <a:solidFill>
            <a:srgbClr val="39A900"/>
          </a:solidFill>
          <a:ln/>
        </p:spPr>
        <p:txBody>
          <a:bodyPr/>
          <a:lstStyle/>
          <a:p>
            <a:endParaRPr lang="es-CO"/>
          </a:p>
        </p:txBody>
      </p:sp>
      <p:sp>
        <p:nvSpPr>
          <p:cNvPr id="8" name="Text 6"/>
          <p:cNvSpPr/>
          <p:nvPr/>
        </p:nvSpPr>
        <p:spPr>
          <a:xfrm>
            <a:off x="685800" y="1261872"/>
            <a:ext cx="2011680" cy="365760"/>
          </a:xfrm>
          <a:prstGeom prst="rect">
            <a:avLst/>
          </a:prstGeom>
          <a:noFill/>
          <a:ln/>
        </p:spPr>
        <p:txBody>
          <a:bodyPr wrap="square" lIns="0" tIns="0" rIns="0" bIns="0" rtlCol="0" anchor="ctr"/>
          <a:lstStyle/>
          <a:p>
            <a:pPr marL="0" indent="0">
              <a:buNone/>
            </a:pPr>
            <a:r>
              <a:rPr lang="en-US" sz="1000" b="1" dirty="0">
                <a:solidFill>
                  <a:srgbClr val="39A900"/>
                </a:solidFill>
              </a:rPr>
              <a:t>CODIGO</a:t>
            </a:r>
            <a:endParaRPr lang="en-US" sz="1000" dirty="0"/>
          </a:p>
        </p:txBody>
      </p:sp>
      <p:sp>
        <p:nvSpPr>
          <p:cNvPr id="9" name="Text 7"/>
          <p:cNvSpPr/>
          <p:nvPr/>
        </p:nvSpPr>
        <p:spPr>
          <a:xfrm>
            <a:off x="2743200" y="1261872"/>
            <a:ext cx="5852160" cy="365760"/>
          </a:xfrm>
          <a:prstGeom prst="rect">
            <a:avLst/>
          </a:prstGeom>
          <a:noFill/>
          <a:ln/>
        </p:spPr>
        <p:txBody>
          <a:bodyPr wrap="square" lIns="0" tIns="0" rIns="0" bIns="0" rtlCol="0" anchor="ctr"/>
          <a:lstStyle/>
          <a:p>
            <a:pPr marL="0" indent="0">
              <a:buNone/>
            </a:pPr>
            <a:r>
              <a:rPr lang="en-US" sz="1200" dirty="0">
                <a:solidFill>
                  <a:srgbClr val="374151"/>
                </a:solidFill>
              </a:rPr>
              <a:t>GA4-220501104-AA1-EV01</a:t>
            </a:r>
            <a:endParaRPr lang="en-US" sz="1200" dirty="0"/>
          </a:p>
        </p:txBody>
      </p:sp>
      <p:sp>
        <p:nvSpPr>
          <p:cNvPr id="10" name="Shape 8"/>
          <p:cNvSpPr/>
          <p:nvPr/>
        </p:nvSpPr>
        <p:spPr>
          <a:xfrm>
            <a:off x="457200" y="178308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1" name="Shape 9"/>
          <p:cNvSpPr/>
          <p:nvPr/>
        </p:nvSpPr>
        <p:spPr>
          <a:xfrm>
            <a:off x="457200" y="1783080"/>
            <a:ext cx="64008" cy="502920"/>
          </a:xfrm>
          <a:prstGeom prst="rect">
            <a:avLst/>
          </a:prstGeom>
          <a:solidFill>
            <a:srgbClr val="003057"/>
          </a:solidFill>
          <a:ln/>
        </p:spPr>
        <p:txBody>
          <a:bodyPr/>
          <a:lstStyle/>
          <a:p>
            <a:endParaRPr lang="es-CO"/>
          </a:p>
        </p:txBody>
      </p:sp>
      <p:sp>
        <p:nvSpPr>
          <p:cNvPr id="12" name="Text 10"/>
          <p:cNvSpPr/>
          <p:nvPr/>
        </p:nvSpPr>
        <p:spPr>
          <a:xfrm>
            <a:off x="685800" y="1856232"/>
            <a:ext cx="2011680" cy="365760"/>
          </a:xfrm>
          <a:prstGeom prst="rect">
            <a:avLst/>
          </a:prstGeom>
          <a:noFill/>
          <a:ln/>
        </p:spPr>
        <p:txBody>
          <a:bodyPr wrap="square" lIns="0" tIns="0" rIns="0" bIns="0" rtlCol="0" anchor="ctr"/>
          <a:lstStyle/>
          <a:p>
            <a:pPr marL="0" indent="0">
              <a:buNone/>
            </a:pPr>
            <a:r>
              <a:rPr lang="en-US" sz="1000" b="1" dirty="0">
                <a:solidFill>
                  <a:srgbClr val="003057"/>
                </a:solidFill>
              </a:rPr>
              <a:t>PRODUCTO</a:t>
            </a:r>
            <a:endParaRPr lang="en-US" sz="1000" dirty="0"/>
          </a:p>
        </p:txBody>
      </p:sp>
      <p:sp>
        <p:nvSpPr>
          <p:cNvPr id="13" name="Text 11"/>
          <p:cNvSpPr/>
          <p:nvPr/>
        </p:nvSpPr>
        <p:spPr>
          <a:xfrm>
            <a:off x="2743200" y="1856232"/>
            <a:ext cx="5852160" cy="365760"/>
          </a:xfrm>
          <a:prstGeom prst="rect">
            <a:avLst/>
          </a:prstGeom>
          <a:noFill/>
          <a:ln/>
        </p:spPr>
        <p:txBody>
          <a:bodyPr wrap="square" lIns="0" tIns="0" rIns="0" bIns="0" rtlCol="0" anchor="ctr"/>
          <a:lstStyle/>
          <a:p>
            <a:pPr marL="0" indent="0">
              <a:buNone/>
            </a:pPr>
            <a:r>
              <a:rPr lang="en-US" sz="1200" dirty="0">
                <a:solidFill>
                  <a:srgbClr val="374151"/>
                </a:solidFill>
              </a:rPr>
              <a:t>Archivo de simulacion + tabla de direccionamiento</a:t>
            </a:r>
            <a:endParaRPr lang="en-US" sz="1200" dirty="0"/>
          </a:p>
        </p:txBody>
      </p:sp>
      <p:sp>
        <p:nvSpPr>
          <p:cNvPr id="14" name="Shape 12"/>
          <p:cNvSpPr/>
          <p:nvPr/>
        </p:nvSpPr>
        <p:spPr>
          <a:xfrm>
            <a:off x="457200" y="237744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5" name="Shape 13"/>
          <p:cNvSpPr/>
          <p:nvPr/>
        </p:nvSpPr>
        <p:spPr>
          <a:xfrm>
            <a:off x="457200" y="2377440"/>
            <a:ext cx="64008" cy="502920"/>
          </a:xfrm>
          <a:prstGeom prst="rect">
            <a:avLst/>
          </a:prstGeom>
          <a:solidFill>
            <a:srgbClr val="E85D04"/>
          </a:solidFill>
          <a:ln/>
        </p:spPr>
        <p:txBody>
          <a:bodyPr/>
          <a:lstStyle/>
          <a:p>
            <a:endParaRPr lang="es-CO"/>
          </a:p>
        </p:txBody>
      </p:sp>
      <p:sp>
        <p:nvSpPr>
          <p:cNvPr id="16" name="Text 14"/>
          <p:cNvSpPr/>
          <p:nvPr/>
        </p:nvSpPr>
        <p:spPr>
          <a:xfrm>
            <a:off x="685800" y="2450592"/>
            <a:ext cx="2011680" cy="365760"/>
          </a:xfrm>
          <a:prstGeom prst="rect">
            <a:avLst/>
          </a:prstGeom>
          <a:noFill/>
          <a:ln/>
        </p:spPr>
        <p:txBody>
          <a:bodyPr wrap="square" lIns="0" tIns="0" rIns="0" bIns="0" rtlCol="0" anchor="ctr"/>
          <a:lstStyle/>
          <a:p>
            <a:pPr marL="0" indent="0">
              <a:buNone/>
            </a:pPr>
            <a:r>
              <a:rPr lang="en-US" sz="1000" b="1" dirty="0">
                <a:solidFill>
                  <a:srgbClr val="E85D04"/>
                </a:solidFill>
              </a:rPr>
              <a:t>HERRAMIENTA</a:t>
            </a:r>
            <a:endParaRPr lang="en-US" sz="1000" dirty="0"/>
          </a:p>
        </p:txBody>
      </p:sp>
      <p:sp>
        <p:nvSpPr>
          <p:cNvPr id="17" name="Text 15"/>
          <p:cNvSpPr/>
          <p:nvPr/>
        </p:nvSpPr>
        <p:spPr>
          <a:xfrm>
            <a:off x="2743200" y="2450592"/>
            <a:ext cx="5852160" cy="365760"/>
          </a:xfrm>
          <a:prstGeom prst="rect">
            <a:avLst/>
          </a:prstGeom>
          <a:noFill/>
          <a:ln/>
        </p:spPr>
        <p:txBody>
          <a:bodyPr wrap="square" lIns="0" tIns="0" rIns="0" bIns="0" rtlCol="0" anchor="ctr"/>
          <a:lstStyle/>
          <a:p>
            <a:pPr marL="0" indent="0">
              <a:buNone/>
            </a:pPr>
            <a:r>
              <a:rPr lang="en-US" sz="1200" dirty="0">
                <a:solidFill>
                  <a:srgbClr val="374151"/>
                </a:solidFill>
              </a:rPr>
              <a:t>Cisco Packet Tracer (.pkt)</a:t>
            </a:r>
            <a:endParaRPr lang="en-US" sz="1200" dirty="0"/>
          </a:p>
        </p:txBody>
      </p:sp>
      <p:sp>
        <p:nvSpPr>
          <p:cNvPr id="18" name="Shape 16"/>
          <p:cNvSpPr/>
          <p:nvPr/>
        </p:nvSpPr>
        <p:spPr>
          <a:xfrm>
            <a:off x="457200" y="297180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9" name="Shape 17"/>
          <p:cNvSpPr/>
          <p:nvPr/>
        </p:nvSpPr>
        <p:spPr>
          <a:xfrm>
            <a:off x="457200" y="2971800"/>
            <a:ext cx="64008" cy="502920"/>
          </a:xfrm>
          <a:prstGeom prst="rect">
            <a:avLst/>
          </a:prstGeom>
          <a:solidFill>
            <a:srgbClr val="F59E0B"/>
          </a:solidFill>
          <a:ln/>
        </p:spPr>
        <p:txBody>
          <a:bodyPr/>
          <a:lstStyle/>
          <a:p>
            <a:endParaRPr lang="es-CO"/>
          </a:p>
        </p:txBody>
      </p:sp>
      <p:sp>
        <p:nvSpPr>
          <p:cNvPr id="20" name="Text 18"/>
          <p:cNvSpPr/>
          <p:nvPr/>
        </p:nvSpPr>
        <p:spPr>
          <a:xfrm>
            <a:off x="685800" y="3044952"/>
            <a:ext cx="2011680" cy="365760"/>
          </a:xfrm>
          <a:prstGeom prst="rect">
            <a:avLst/>
          </a:prstGeom>
          <a:noFill/>
          <a:ln/>
        </p:spPr>
        <p:txBody>
          <a:bodyPr wrap="square" lIns="0" tIns="0" rIns="0" bIns="0" rtlCol="0" anchor="ctr"/>
          <a:lstStyle/>
          <a:p>
            <a:pPr marL="0" indent="0">
              <a:buNone/>
            </a:pPr>
            <a:r>
              <a:rPr lang="en-US" sz="1000" b="1" dirty="0">
                <a:solidFill>
                  <a:srgbClr val="F59E0B"/>
                </a:solidFill>
              </a:rPr>
              <a:t>ESTRATEGIA</a:t>
            </a:r>
            <a:endParaRPr lang="en-US" sz="1000" dirty="0"/>
          </a:p>
        </p:txBody>
      </p:sp>
      <p:sp>
        <p:nvSpPr>
          <p:cNvPr id="21" name="Text 19"/>
          <p:cNvSpPr/>
          <p:nvPr/>
        </p:nvSpPr>
        <p:spPr>
          <a:xfrm>
            <a:off x="2743200" y="3044952"/>
            <a:ext cx="5852160" cy="365760"/>
          </a:xfrm>
          <a:prstGeom prst="rect">
            <a:avLst/>
          </a:prstGeom>
          <a:noFill/>
          <a:ln/>
        </p:spPr>
        <p:txBody>
          <a:bodyPr wrap="square" lIns="0" tIns="0" rIns="0" bIns="0" rtlCol="0" anchor="ctr"/>
          <a:lstStyle/>
          <a:p>
            <a:pPr marL="0" indent="0">
              <a:buNone/>
            </a:pPr>
            <a:r>
              <a:rPr lang="en-US" sz="1200" dirty="0">
                <a:solidFill>
                  <a:srgbClr val="374151"/>
                </a:solidFill>
              </a:rPr>
              <a:t>Aprendizaje Basado en Proyectos (ABP)</a:t>
            </a:r>
            <a:endParaRPr lang="en-US" sz="1200" dirty="0"/>
          </a:p>
        </p:txBody>
      </p:sp>
      <p:sp>
        <p:nvSpPr>
          <p:cNvPr id="22" name="Shape 20"/>
          <p:cNvSpPr/>
          <p:nvPr/>
        </p:nvSpPr>
        <p:spPr>
          <a:xfrm>
            <a:off x="457200" y="356616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3" name="Shape 21"/>
          <p:cNvSpPr/>
          <p:nvPr/>
        </p:nvSpPr>
        <p:spPr>
          <a:xfrm>
            <a:off x="457200" y="3566160"/>
            <a:ext cx="64008" cy="502920"/>
          </a:xfrm>
          <a:prstGeom prst="rect">
            <a:avLst/>
          </a:prstGeom>
          <a:solidFill>
            <a:srgbClr val="1A4D7A"/>
          </a:solidFill>
          <a:ln/>
        </p:spPr>
        <p:txBody>
          <a:bodyPr/>
          <a:lstStyle/>
          <a:p>
            <a:endParaRPr lang="es-CO"/>
          </a:p>
        </p:txBody>
      </p:sp>
      <p:sp>
        <p:nvSpPr>
          <p:cNvPr id="24" name="Text 22"/>
          <p:cNvSpPr/>
          <p:nvPr/>
        </p:nvSpPr>
        <p:spPr>
          <a:xfrm>
            <a:off x="685800" y="3639312"/>
            <a:ext cx="2011680" cy="365760"/>
          </a:xfrm>
          <a:prstGeom prst="rect">
            <a:avLst/>
          </a:prstGeom>
          <a:noFill/>
          <a:ln/>
        </p:spPr>
        <p:txBody>
          <a:bodyPr wrap="square" lIns="0" tIns="0" rIns="0" bIns="0" rtlCol="0" anchor="ctr"/>
          <a:lstStyle/>
          <a:p>
            <a:pPr marL="0" indent="0">
              <a:buNone/>
            </a:pPr>
            <a:r>
              <a:rPr lang="en-US" sz="1000" b="1" dirty="0">
                <a:solidFill>
                  <a:srgbClr val="1A4D7A"/>
                </a:solidFill>
              </a:rPr>
              <a:t>PROYECTO</a:t>
            </a:r>
            <a:endParaRPr lang="en-US" sz="1000" dirty="0"/>
          </a:p>
        </p:txBody>
      </p:sp>
      <p:sp>
        <p:nvSpPr>
          <p:cNvPr id="25" name="Text 23"/>
          <p:cNvSpPr/>
          <p:nvPr/>
        </p:nvSpPr>
        <p:spPr>
          <a:xfrm>
            <a:off x="2743200" y="3639312"/>
            <a:ext cx="5852160" cy="365760"/>
          </a:xfrm>
          <a:prstGeom prst="rect">
            <a:avLst/>
          </a:prstGeom>
          <a:noFill/>
          <a:ln/>
        </p:spPr>
        <p:txBody>
          <a:bodyPr wrap="square" lIns="0" tIns="0" rIns="0" bIns="0" rtlCol="0" anchor="ctr"/>
          <a:lstStyle/>
          <a:p>
            <a:pPr marL="0" indent="0">
              <a:buNone/>
            </a:pPr>
            <a:r>
              <a:rPr lang="en-US" sz="1200" dirty="0">
                <a:solidFill>
                  <a:srgbClr val="374151"/>
                </a:solidFill>
              </a:rPr>
              <a:t>Empresa Enter Ltda. - Sede principal</a:t>
            </a:r>
            <a:endParaRPr lang="en-US" sz="1200" dirty="0"/>
          </a:p>
        </p:txBody>
      </p:sp>
      <p:sp>
        <p:nvSpPr>
          <p:cNvPr id="26" name="Shape 24"/>
          <p:cNvSpPr/>
          <p:nvPr/>
        </p:nvSpPr>
        <p:spPr>
          <a:xfrm>
            <a:off x="457200" y="416052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7" name="Shape 25"/>
          <p:cNvSpPr/>
          <p:nvPr/>
        </p:nvSpPr>
        <p:spPr>
          <a:xfrm>
            <a:off x="457200" y="4160520"/>
            <a:ext cx="64008" cy="502920"/>
          </a:xfrm>
          <a:prstGeom prst="rect">
            <a:avLst/>
          </a:prstGeom>
          <a:solidFill>
            <a:srgbClr val="2ECC71"/>
          </a:solidFill>
          <a:ln/>
        </p:spPr>
        <p:txBody>
          <a:bodyPr/>
          <a:lstStyle/>
          <a:p>
            <a:endParaRPr lang="es-CO"/>
          </a:p>
        </p:txBody>
      </p:sp>
      <p:sp>
        <p:nvSpPr>
          <p:cNvPr id="28" name="Text 26"/>
          <p:cNvSpPr/>
          <p:nvPr/>
        </p:nvSpPr>
        <p:spPr>
          <a:xfrm>
            <a:off x="685800" y="4233672"/>
            <a:ext cx="2011680" cy="365760"/>
          </a:xfrm>
          <a:prstGeom prst="rect">
            <a:avLst/>
          </a:prstGeom>
          <a:noFill/>
          <a:ln/>
        </p:spPr>
        <p:txBody>
          <a:bodyPr wrap="square" lIns="0" tIns="0" rIns="0" bIns="0" rtlCol="0" anchor="ctr"/>
          <a:lstStyle/>
          <a:p>
            <a:pPr marL="0" indent="0">
              <a:buNone/>
            </a:pPr>
            <a:r>
              <a:rPr lang="en-US" sz="1000" b="1" dirty="0">
                <a:solidFill>
                  <a:srgbClr val="2ECC71"/>
                </a:solidFill>
              </a:rPr>
              <a:t>RESULTADO</a:t>
            </a:r>
            <a:endParaRPr lang="en-US" sz="1000" dirty="0"/>
          </a:p>
        </p:txBody>
      </p:sp>
      <p:sp>
        <p:nvSpPr>
          <p:cNvPr id="29" name="Text 27"/>
          <p:cNvSpPr/>
          <p:nvPr/>
        </p:nvSpPr>
        <p:spPr>
          <a:xfrm>
            <a:off x="2743200" y="4233672"/>
            <a:ext cx="5852160" cy="365760"/>
          </a:xfrm>
          <a:prstGeom prst="rect">
            <a:avLst/>
          </a:prstGeom>
          <a:noFill/>
          <a:ln/>
        </p:spPr>
        <p:txBody>
          <a:bodyPr wrap="square" lIns="0" tIns="0" rIns="0" bIns="0" rtlCol="0" anchor="ctr"/>
          <a:lstStyle/>
          <a:p>
            <a:pPr marL="0" indent="0">
              <a:buNone/>
            </a:pPr>
            <a:r>
              <a:rPr lang="en-US" sz="1200" dirty="0">
                <a:solidFill>
                  <a:srgbClr val="374151"/>
                </a:solidFill>
              </a:rPr>
              <a:t>Topologia operativa en IPv4 e IPv6 con verificacion</a:t>
            </a:r>
            <a:endParaRPr lang="en-US" sz="1200" dirty="0"/>
          </a:p>
        </p:txBody>
      </p:sp>
      <p:sp>
        <p:nvSpPr>
          <p:cNvPr id="30" name="Shape 28"/>
          <p:cNvSpPr/>
          <p:nvPr/>
        </p:nvSpPr>
        <p:spPr>
          <a:xfrm>
            <a:off x="0" y="4892040"/>
            <a:ext cx="9144000" cy="256032"/>
          </a:xfrm>
          <a:prstGeom prst="rect">
            <a:avLst/>
          </a:prstGeom>
          <a:solidFill>
            <a:srgbClr val="003057"/>
          </a:solidFill>
          <a:ln/>
        </p:spPr>
        <p:txBody>
          <a:bodyPr/>
          <a:lstStyle/>
          <a:p>
            <a:endParaRPr lang="es-CO"/>
          </a:p>
        </p:txBody>
      </p:sp>
      <p:sp>
        <p:nvSpPr>
          <p:cNvPr id="31" name="Text 29"/>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32" name="Text 30"/>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2 / 20</a:t>
            </a:r>
            <a:endParaRPr lang="en-US" sz="800" dirty="0"/>
          </a:p>
        </p:txBody>
      </p:sp>
      <p:sp>
        <p:nvSpPr>
          <p:cNvPr id="33" name="Shape 31"/>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02 - ESCENARIO</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Contexto: Proyecto Enter Ltda.</a:t>
            </a:r>
            <a:endParaRPr lang="en-US" sz="2400" dirty="0"/>
          </a:p>
        </p:txBody>
      </p:sp>
      <p:sp>
        <p:nvSpPr>
          <p:cNvPr id="6" name="Shape 4"/>
          <p:cNvSpPr/>
          <p:nvPr/>
        </p:nvSpPr>
        <p:spPr>
          <a:xfrm>
            <a:off x="457200" y="1188720"/>
            <a:ext cx="457200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3474720"/>
          </a:xfrm>
          <a:prstGeom prst="rect">
            <a:avLst/>
          </a:prstGeom>
          <a:solidFill>
            <a:srgbClr val="003057"/>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85800" y="1371600"/>
            <a:ext cx="411480" cy="411480"/>
          </a:xfrm>
          <a:prstGeom prst="rect">
            <a:avLst/>
          </a:prstGeom>
        </p:spPr>
      </p:pic>
      <p:sp>
        <p:nvSpPr>
          <p:cNvPr id="9" name="Text 6"/>
          <p:cNvSpPr/>
          <p:nvPr/>
        </p:nvSpPr>
        <p:spPr>
          <a:xfrm>
            <a:off x="1188720" y="1371600"/>
            <a:ext cx="3657600" cy="411480"/>
          </a:xfrm>
          <a:prstGeom prst="rect">
            <a:avLst/>
          </a:prstGeom>
          <a:noFill/>
          <a:ln/>
        </p:spPr>
        <p:txBody>
          <a:bodyPr wrap="square" lIns="0" tIns="0" rIns="0" bIns="0" rtlCol="0" anchor="ctr"/>
          <a:lstStyle/>
          <a:p>
            <a:pPr marL="0" indent="0">
              <a:buNone/>
            </a:pPr>
            <a:r>
              <a:rPr lang="en-US" sz="1600" b="1" dirty="0">
                <a:solidFill>
                  <a:srgbClr val="003057"/>
                </a:solidFill>
              </a:rPr>
              <a:t>El escenario</a:t>
            </a:r>
            <a:endParaRPr lang="en-US" sz="1600" dirty="0"/>
          </a:p>
        </p:txBody>
      </p:sp>
      <p:sp>
        <p:nvSpPr>
          <p:cNvPr id="10" name="Text 7"/>
          <p:cNvSpPr/>
          <p:nvPr/>
        </p:nvSpPr>
        <p:spPr>
          <a:xfrm>
            <a:off x="685800" y="1874520"/>
            <a:ext cx="4114800" cy="1280160"/>
          </a:xfrm>
          <a:prstGeom prst="rect">
            <a:avLst/>
          </a:prstGeom>
          <a:noFill/>
          <a:ln/>
        </p:spPr>
        <p:txBody>
          <a:bodyPr wrap="square" lIns="0" tIns="0" rIns="0" bIns="0" rtlCol="0" anchor="t"/>
          <a:lstStyle/>
          <a:p>
            <a:pPr marL="0" indent="0">
              <a:spcAft>
                <a:spcPts val="400"/>
              </a:spcAft>
              <a:buNone/>
            </a:pPr>
            <a:r>
              <a:rPr lang="en-US" sz="1200" b="1" dirty="0">
                <a:solidFill>
                  <a:srgbClr val="003057"/>
                </a:solidFill>
              </a:rPr>
              <a:t>Enter Ltda. </a:t>
            </a:r>
            <a:r>
              <a:rPr lang="en-US" sz="1200" dirty="0">
                <a:solidFill>
                  <a:srgbClr val="374151"/>
                </a:solidFill>
              </a:rPr>
              <a:t>es una empresa que requiere implementar la infraestructura de red de su </a:t>
            </a:r>
            <a:r>
              <a:rPr lang="en-US" sz="1200" b="1" dirty="0">
                <a:solidFill>
                  <a:srgbClr val="39A900"/>
                </a:solidFill>
              </a:rPr>
              <a:t>sede principal</a:t>
            </a:r>
            <a:r>
              <a:rPr lang="en-US" sz="1200" dirty="0">
                <a:solidFill>
                  <a:srgbClr val="374151"/>
                </a:solidFill>
              </a:rPr>
              <a:t>. Un edificio con multiples areas funcionales debe conectarse mediante </a:t>
            </a:r>
            <a:r>
              <a:rPr lang="en-US" sz="1200" b="1" dirty="0">
                <a:solidFill>
                  <a:srgbClr val="E85D04"/>
                </a:solidFill>
              </a:rPr>
              <a:t>VLANs</a:t>
            </a:r>
            <a:r>
              <a:rPr lang="en-US" sz="1200" dirty="0">
                <a:solidFill>
                  <a:srgbClr val="374151"/>
                </a:solidFill>
              </a:rPr>
              <a:t>, con direccionamiento en </a:t>
            </a:r>
            <a:r>
              <a:rPr lang="en-US" sz="1200" b="1" dirty="0">
                <a:solidFill>
                  <a:srgbClr val="1A4D7A"/>
                </a:solidFill>
              </a:rPr>
              <a:t>IPv4 e IPv6</a:t>
            </a:r>
            <a:r>
              <a:rPr lang="en-US" sz="1200" dirty="0">
                <a:solidFill>
                  <a:srgbClr val="374151"/>
                </a:solidFill>
              </a:rPr>
              <a:t>.</a:t>
            </a:r>
            <a:endParaRPr lang="en-US" sz="1200" dirty="0"/>
          </a:p>
        </p:txBody>
      </p:sp>
      <p:sp>
        <p:nvSpPr>
          <p:cNvPr id="11" name="Text 8"/>
          <p:cNvSpPr/>
          <p:nvPr/>
        </p:nvSpPr>
        <p:spPr>
          <a:xfrm>
            <a:off x="685800" y="3246120"/>
            <a:ext cx="4114800" cy="1280160"/>
          </a:xfrm>
          <a:prstGeom prst="rect">
            <a:avLst/>
          </a:prstGeom>
          <a:noFill/>
          <a:ln/>
        </p:spPr>
        <p:txBody>
          <a:bodyPr wrap="square" lIns="0" tIns="0" rIns="0" bIns="0" rtlCol="0" anchor="t"/>
          <a:lstStyle/>
          <a:p>
            <a:pPr marL="0" indent="0">
              <a:buNone/>
            </a:pPr>
            <a:r>
              <a:rPr lang="en-US" sz="1100" i="1" dirty="0">
                <a:solidFill>
                  <a:srgbClr val="6B7280"/>
                </a:solidFill>
              </a:rPr>
              <a:t>Como aprendiz, su rol es el del ingeniero de red que disena, simula y documenta la solucion.</a:t>
            </a:r>
            <a:endParaRPr lang="en-US" sz="1100" dirty="0"/>
          </a:p>
        </p:txBody>
      </p:sp>
      <p:sp>
        <p:nvSpPr>
          <p:cNvPr id="12" name="Text 9"/>
          <p:cNvSpPr/>
          <p:nvPr/>
        </p:nvSpPr>
        <p:spPr>
          <a:xfrm>
            <a:off x="5303520" y="1188720"/>
            <a:ext cx="3657600" cy="365760"/>
          </a:xfrm>
          <a:prstGeom prst="rect">
            <a:avLst/>
          </a:prstGeom>
          <a:noFill/>
          <a:ln/>
        </p:spPr>
        <p:txBody>
          <a:bodyPr wrap="square" lIns="0" tIns="0" rIns="0" bIns="0" rtlCol="0" anchor="ctr"/>
          <a:lstStyle/>
          <a:p>
            <a:pPr marL="0" indent="0">
              <a:buNone/>
            </a:pPr>
            <a:r>
              <a:rPr lang="en-US" sz="1400" b="1" dirty="0">
                <a:solidFill>
                  <a:srgbClr val="003057"/>
                </a:solidFill>
              </a:rPr>
              <a:t>Las 4 areas (VLAN) del edificio</a:t>
            </a:r>
            <a:endParaRPr lang="en-US" sz="1400" dirty="0"/>
          </a:p>
        </p:txBody>
      </p:sp>
      <p:sp>
        <p:nvSpPr>
          <p:cNvPr id="13" name="Shape 10"/>
          <p:cNvSpPr/>
          <p:nvPr/>
        </p:nvSpPr>
        <p:spPr>
          <a:xfrm>
            <a:off x="5303520" y="1600200"/>
            <a:ext cx="3566160" cy="685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4" name="Shape 11"/>
          <p:cNvSpPr/>
          <p:nvPr/>
        </p:nvSpPr>
        <p:spPr>
          <a:xfrm>
            <a:off x="5303520" y="1600200"/>
            <a:ext cx="822960" cy="685800"/>
          </a:xfrm>
          <a:prstGeom prst="rect">
            <a:avLst/>
          </a:prstGeom>
          <a:solidFill>
            <a:srgbClr val="39A900"/>
          </a:solidFill>
          <a:ln/>
        </p:spPr>
        <p:txBody>
          <a:bodyPr/>
          <a:lstStyle/>
          <a:p>
            <a:endParaRPr lang="es-CO"/>
          </a:p>
        </p:txBody>
      </p:sp>
      <p:sp>
        <p:nvSpPr>
          <p:cNvPr id="15" name="Text 12"/>
          <p:cNvSpPr/>
          <p:nvPr/>
        </p:nvSpPr>
        <p:spPr>
          <a:xfrm>
            <a:off x="5303520" y="1600200"/>
            <a:ext cx="822960" cy="685800"/>
          </a:xfrm>
          <a:prstGeom prst="rect">
            <a:avLst/>
          </a:prstGeom>
          <a:noFill/>
          <a:ln/>
        </p:spPr>
        <p:txBody>
          <a:bodyPr wrap="square" lIns="0" tIns="0" rIns="0" bIns="0" rtlCol="0" anchor="ctr"/>
          <a:lstStyle/>
          <a:p>
            <a:pPr marL="0" indent="0" algn="ctr">
              <a:buNone/>
            </a:pPr>
            <a:r>
              <a:rPr lang="en-US" sz="1100" b="1" dirty="0">
                <a:solidFill>
                  <a:srgbClr val="FFFFFF"/>
                </a:solidFill>
              </a:rPr>
              <a:t>VLAN 10</a:t>
            </a:r>
            <a:endParaRPr lang="en-US" sz="1100" dirty="0"/>
          </a:p>
        </p:txBody>
      </p:sp>
      <p:sp>
        <p:nvSpPr>
          <p:cNvPr id="16" name="Text 13"/>
          <p:cNvSpPr/>
          <p:nvPr/>
        </p:nvSpPr>
        <p:spPr>
          <a:xfrm>
            <a:off x="6217920" y="1673352"/>
            <a:ext cx="2560320" cy="320040"/>
          </a:xfrm>
          <a:prstGeom prst="rect">
            <a:avLst/>
          </a:prstGeom>
          <a:noFill/>
          <a:ln/>
        </p:spPr>
        <p:txBody>
          <a:bodyPr wrap="square" lIns="0" tIns="0" rIns="0" bIns="0" rtlCol="0" anchor="ctr"/>
          <a:lstStyle/>
          <a:p>
            <a:pPr marL="0" indent="0">
              <a:buNone/>
            </a:pPr>
            <a:r>
              <a:rPr lang="en-US" sz="1300" b="1" dirty="0">
                <a:solidFill>
                  <a:srgbClr val="003057"/>
                </a:solidFill>
              </a:rPr>
              <a:t>Administrativa</a:t>
            </a:r>
            <a:endParaRPr lang="en-US" sz="1300" dirty="0"/>
          </a:p>
        </p:txBody>
      </p:sp>
      <p:sp>
        <p:nvSpPr>
          <p:cNvPr id="17" name="Text 14"/>
          <p:cNvSpPr/>
          <p:nvPr/>
        </p:nvSpPr>
        <p:spPr>
          <a:xfrm>
            <a:off x="6217920" y="1947672"/>
            <a:ext cx="2560320" cy="274320"/>
          </a:xfrm>
          <a:prstGeom prst="rect">
            <a:avLst/>
          </a:prstGeom>
          <a:noFill/>
          <a:ln/>
        </p:spPr>
        <p:txBody>
          <a:bodyPr wrap="square" lIns="0" tIns="0" rIns="0" bIns="0" rtlCol="0" anchor="ctr"/>
          <a:lstStyle/>
          <a:p>
            <a:pPr marL="0" indent="0">
              <a:buNone/>
            </a:pPr>
            <a:r>
              <a:rPr lang="en-US" sz="1000" dirty="0">
                <a:solidFill>
                  <a:srgbClr val="6B7280"/>
                </a:solidFill>
              </a:rPr>
              <a:t>20 hosts</a:t>
            </a:r>
            <a:endParaRPr lang="en-US" sz="1000" dirty="0"/>
          </a:p>
        </p:txBody>
      </p:sp>
      <p:sp>
        <p:nvSpPr>
          <p:cNvPr id="18" name="Shape 15"/>
          <p:cNvSpPr/>
          <p:nvPr/>
        </p:nvSpPr>
        <p:spPr>
          <a:xfrm>
            <a:off x="5303520" y="2350008"/>
            <a:ext cx="3566160" cy="685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9" name="Shape 16"/>
          <p:cNvSpPr/>
          <p:nvPr/>
        </p:nvSpPr>
        <p:spPr>
          <a:xfrm>
            <a:off x="5303520" y="2350008"/>
            <a:ext cx="822960" cy="685800"/>
          </a:xfrm>
          <a:prstGeom prst="rect">
            <a:avLst/>
          </a:prstGeom>
          <a:solidFill>
            <a:srgbClr val="E85D04"/>
          </a:solidFill>
          <a:ln/>
        </p:spPr>
        <p:txBody>
          <a:bodyPr/>
          <a:lstStyle/>
          <a:p>
            <a:endParaRPr lang="es-CO"/>
          </a:p>
        </p:txBody>
      </p:sp>
      <p:sp>
        <p:nvSpPr>
          <p:cNvPr id="20" name="Text 17"/>
          <p:cNvSpPr/>
          <p:nvPr/>
        </p:nvSpPr>
        <p:spPr>
          <a:xfrm>
            <a:off x="5303520" y="2350008"/>
            <a:ext cx="822960" cy="685800"/>
          </a:xfrm>
          <a:prstGeom prst="rect">
            <a:avLst/>
          </a:prstGeom>
          <a:noFill/>
          <a:ln/>
        </p:spPr>
        <p:txBody>
          <a:bodyPr wrap="square" lIns="0" tIns="0" rIns="0" bIns="0" rtlCol="0" anchor="ctr"/>
          <a:lstStyle/>
          <a:p>
            <a:pPr marL="0" indent="0" algn="ctr">
              <a:buNone/>
            </a:pPr>
            <a:r>
              <a:rPr lang="en-US" sz="1100" b="1" dirty="0">
                <a:solidFill>
                  <a:srgbClr val="FFFFFF"/>
                </a:solidFill>
              </a:rPr>
              <a:t>VLAN 20</a:t>
            </a:r>
            <a:endParaRPr lang="en-US" sz="1100" dirty="0"/>
          </a:p>
        </p:txBody>
      </p:sp>
      <p:sp>
        <p:nvSpPr>
          <p:cNvPr id="21" name="Text 18"/>
          <p:cNvSpPr/>
          <p:nvPr/>
        </p:nvSpPr>
        <p:spPr>
          <a:xfrm>
            <a:off x="6217920" y="2423160"/>
            <a:ext cx="2560320" cy="320040"/>
          </a:xfrm>
          <a:prstGeom prst="rect">
            <a:avLst/>
          </a:prstGeom>
          <a:noFill/>
          <a:ln/>
        </p:spPr>
        <p:txBody>
          <a:bodyPr wrap="square" lIns="0" tIns="0" rIns="0" bIns="0" rtlCol="0" anchor="ctr"/>
          <a:lstStyle/>
          <a:p>
            <a:pPr marL="0" indent="0">
              <a:buNone/>
            </a:pPr>
            <a:r>
              <a:rPr lang="en-US" sz="1300" b="1" dirty="0">
                <a:solidFill>
                  <a:srgbClr val="003057"/>
                </a:solidFill>
              </a:rPr>
              <a:t>Financiera</a:t>
            </a:r>
            <a:endParaRPr lang="en-US" sz="1300" dirty="0"/>
          </a:p>
        </p:txBody>
      </p:sp>
      <p:sp>
        <p:nvSpPr>
          <p:cNvPr id="22" name="Text 19"/>
          <p:cNvSpPr/>
          <p:nvPr/>
        </p:nvSpPr>
        <p:spPr>
          <a:xfrm>
            <a:off x="6217920" y="2697480"/>
            <a:ext cx="2560320" cy="274320"/>
          </a:xfrm>
          <a:prstGeom prst="rect">
            <a:avLst/>
          </a:prstGeom>
          <a:noFill/>
          <a:ln/>
        </p:spPr>
        <p:txBody>
          <a:bodyPr wrap="square" lIns="0" tIns="0" rIns="0" bIns="0" rtlCol="0" anchor="ctr"/>
          <a:lstStyle/>
          <a:p>
            <a:pPr marL="0" indent="0">
              <a:buNone/>
            </a:pPr>
            <a:r>
              <a:rPr lang="en-US" sz="1000" dirty="0">
                <a:solidFill>
                  <a:srgbClr val="6B7280"/>
                </a:solidFill>
              </a:rPr>
              <a:t>50 hosts</a:t>
            </a:r>
            <a:endParaRPr lang="en-US" sz="1000" dirty="0"/>
          </a:p>
        </p:txBody>
      </p:sp>
      <p:sp>
        <p:nvSpPr>
          <p:cNvPr id="23" name="Shape 20"/>
          <p:cNvSpPr/>
          <p:nvPr/>
        </p:nvSpPr>
        <p:spPr>
          <a:xfrm>
            <a:off x="5303520" y="3099816"/>
            <a:ext cx="3566160" cy="685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4" name="Shape 21"/>
          <p:cNvSpPr/>
          <p:nvPr/>
        </p:nvSpPr>
        <p:spPr>
          <a:xfrm>
            <a:off x="5303520" y="3099816"/>
            <a:ext cx="822960" cy="685800"/>
          </a:xfrm>
          <a:prstGeom prst="rect">
            <a:avLst/>
          </a:prstGeom>
          <a:solidFill>
            <a:srgbClr val="1A4D7A"/>
          </a:solidFill>
          <a:ln/>
        </p:spPr>
        <p:txBody>
          <a:bodyPr/>
          <a:lstStyle/>
          <a:p>
            <a:endParaRPr lang="es-CO"/>
          </a:p>
        </p:txBody>
      </p:sp>
      <p:sp>
        <p:nvSpPr>
          <p:cNvPr id="25" name="Text 22"/>
          <p:cNvSpPr/>
          <p:nvPr/>
        </p:nvSpPr>
        <p:spPr>
          <a:xfrm>
            <a:off x="5303520" y="3099816"/>
            <a:ext cx="822960" cy="685800"/>
          </a:xfrm>
          <a:prstGeom prst="rect">
            <a:avLst/>
          </a:prstGeom>
          <a:noFill/>
          <a:ln/>
        </p:spPr>
        <p:txBody>
          <a:bodyPr wrap="square" lIns="0" tIns="0" rIns="0" bIns="0" rtlCol="0" anchor="ctr"/>
          <a:lstStyle/>
          <a:p>
            <a:pPr marL="0" indent="0" algn="ctr">
              <a:buNone/>
            </a:pPr>
            <a:r>
              <a:rPr lang="en-US" sz="1100" b="1" dirty="0">
                <a:solidFill>
                  <a:srgbClr val="FFFFFF"/>
                </a:solidFill>
              </a:rPr>
              <a:t>VLAN 30</a:t>
            </a:r>
            <a:endParaRPr lang="en-US" sz="1100" dirty="0"/>
          </a:p>
        </p:txBody>
      </p:sp>
      <p:sp>
        <p:nvSpPr>
          <p:cNvPr id="26" name="Text 23"/>
          <p:cNvSpPr/>
          <p:nvPr/>
        </p:nvSpPr>
        <p:spPr>
          <a:xfrm>
            <a:off x="6217920" y="3172968"/>
            <a:ext cx="2560320" cy="320040"/>
          </a:xfrm>
          <a:prstGeom prst="rect">
            <a:avLst/>
          </a:prstGeom>
          <a:noFill/>
          <a:ln/>
        </p:spPr>
        <p:txBody>
          <a:bodyPr wrap="square" lIns="0" tIns="0" rIns="0" bIns="0" rtlCol="0" anchor="ctr"/>
          <a:lstStyle/>
          <a:p>
            <a:pPr marL="0" indent="0">
              <a:buNone/>
            </a:pPr>
            <a:r>
              <a:rPr lang="en-US" sz="1300" b="1" dirty="0">
                <a:solidFill>
                  <a:srgbClr val="003057"/>
                </a:solidFill>
              </a:rPr>
              <a:t>Tecnicos</a:t>
            </a:r>
            <a:endParaRPr lang="en-US" sz="1300" dirty="0"/>
          </a:p>
        </p:txBody>
      </p:sp>
      <p:sp>
        <p:nvSpPr>
          <p:cNvPr id="27" name="Text 24"/>
          <p:cNvSpPr/>
          <p:nvPr/>
        </p:nvSpPr>
        <p:spPr>
          <a:xfrm>
            <a:off x="6217920" y="3447288"/>
            <a:ext cx="2560320" cy="274320"/>
          </a:xfrm>
          <a:prstGeom prst="rect">
            <a:avLst/>
          </a:prstGeom>
          <a:noFill/>
          <a:ln/>
        </p:spPr>
        <p:txBody>
          <a:bodyPr wrap="square" lIns="0" tIns="0" rIns="0" bIns="0" rtlCol="0" anchor="ctr"/>
          <a:lstStyle/>
          <a:p>
            <a:pPr marL="0" indent="0">
              <a:buNone/>
            </a:pPr>
            <a:r>
              <a:rPr lang="en-US" sz="1000" dirty="0">
                <a:solidFill>
                  <a:srgbClr val="6B7280"/>
                </a:solidFill>
              </a:rPr>
              <a:t>20 hosts</a:t>
            </a:r>
            <a:endParaRPr lang="en-US" sz="1000" dirty="0"/>
          </a:p>
        </p:txBody>
      </p:sp>
      <p:sp>
        <p:nvSpPr>
          <p:cNvPr id="28" name="Shape 25"/>
          <p:cNvSpPr/>
          <p:nvPr/>
        </p:nvSpPr>
        <p:spPr>
          <a:xfrm>
            <a:off x="5303520" y="3849624"/>
            <a:ext cx="3566160" cy="685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9" name="Shape 26"/>
          <p:cNvSpPr/>
          <p:nvPr/>
        </p:nvSpPr>
        <p:spPr>
          <a:xfrm>
            <a:off x="5303520" y="3849624"/>
            <a:ext cx="822960" cy="685800"/>
          </a:xfrm>
          <a:prstGeom prst="rect">
            <a:avLst/>
          </a:prstGeom>
          <a:solidFill>
            <a:srgbClr val="F59E0B"/>
          </a:solidFill>
          <a:ln/>
        </p:spPr>
        <p:txBody>
          <a:bodyPr/>
          <a:lstStyle/>
          <a:p>
            <a:endParaRPr lang="es-CO"/>
          </a:p>
        </p:txBody>
      </p:sp>
      <p:sp>
        <p:nvSpPr>
          <p:cNvPr id="30" name="Text 27"/>
          <p:cNvSpPr/>
          <p:nvPr/>
        </p:nvSpPr>
        <p:spPr>
          <a:xfrm>
            <a:off x="5303520" y="3849624"/>
            <a:ext cx="822960" cy="685800"/>
          </a:xfrm>
          <a:prstGeom prst="rect">
            <a:avLst/>
          </a:prstGeom>
          <a:noFill/>
          <a:ln/>
        </p:spPr>
        <p:txBody>
          <a:bodyPr wrap="square" lIns="0" tIns="0" rIns="0" bIns="0" rtlCol="0" anchor="ctr"/>
          <a:lstStyle/>
          <a:p>
            <a:pPr marL="0" indent="0" algn="ctr">
              <a:buNone/>
            </a:pPr>
            <a:r>
              <a:rPr lang="en-US" sz="1100" b="1" dirty="0">
                <a:solidFill>
                  <a:srgbClr val="FFFFFF"/>
                </a:solidFill>
              </a:rPr>
              <a:t>VLAN 40</a:t>
            </a:r>
            <a:endParaRPr lang="en-US" sz="1100" dirty="0"/>
          </a:p>
        </p:txBody>
      </p:sp>
      <p:sp>
        <p:nvSpPr>
          <p:cNvPr id="31" name="Text 28"/>
          <p:cNvSpPr/>
          <p:nvPr/>
        </p:nvSpPr>
        <p:spPr>
          <a:xfrm>
            <a:off x="6217920" y="3922776"/>
            <a:ext cx="2560320" cy="320040"/>
          </a:xfrm>
          <a:prstGeom prst="rect">
            <a:avLst/>
          </a:prstGeom>
          <a:noFill/>
          <a:ln/>
        </p:spPr>
        <p:txBody>
          <a:bodyPr wrap="square" lIns="0" tIns="0" rIns="0" bIns="0" rtlCol="0" anchor="ctr"/>
          <a:lstStyle/>
          <a:p>
            <a:pPr marL="0" indent="0">
              <a:buNone/>
            </a:pPr>
            <a:r>
              <a:rPr lang="en-US" sz="1300" b="1" dirty="0">
                <a:solidFill>
                  <a:srgbClr val="003057"/>
                </a:solidFill>
              </a:rPr>
              <a:t>Visitantes</a:t>
            </a:r>
            <a:endParaRPr lang="en-US" sz="1300" dirty="0"/>
          </a:p>
        </p:txBody>
      </p:sp>
      <p:sp>
        <p:nvSpPr>
          <p:cNvPr id="32" name="Text 29"/>
          <p:cNvSpPr/>
          <p:nvPr/>
        </p:nvSpPr>
        <p:spPr>
          <a:xfrm>
            <a:off x="6217920" y="4197096"/>
            <a:ext cx="2560320" cy="274320"/>
          </a:xfrm>
          <a:prstGeom prst="rect">
            <a:avLst/>
          </a:prstGeom>
          <a:noFill/>
          <a:ln/>
        </p:spPr>
        <p:txBody>
          <a:bodyPr wrap="square" lIns="0" tIns="0" rIns="0" bIns="0" rtlCol="0" anchor="ctr"/>
          <a:lstStyle/>
          <a:p>
            <a:pPr marL="0" indent="0">
              <a:buNone/>
            </a:pPr>
            <a:r>
              <a:rPr lang="en-US" sz="1000" dirty="0">
                <a:solidFill>
                  <a:srgbClr val="6B7280"/>
                </a:solidFill>
              </a:rPr>
              <a:t>100 hosts</a:t>
            </a:r>
            <a:endParaRPr lang="en-US" sz="1000" dirty="0"/>
          </a:p>
        </p:txBody>
      </p:sp>
      <p:sp>
        <p:nvSpPr>
          <p:cNvPr id="33" name="Shape 30"/>
          <p:cNvSpPr/>
          <p:nvPr/>
        </p:nvSpPr>
        <p:spPr>
          <a:xfrm>
            <a:off x="0" y="4892040"/>
            <a:ext cx="9144000" cy="256032"/>
          </a:xfrm>
          <a:prstGeom prst="rect">
            <a:avLst/>
          </a:prstGeom>
          <a:solidFill>
            <a:srgbClr val="003057"/>
          </a:solidFill>
          <a:ln/>
        </p:spPr>
        <p:txBody>
          <a:bodyPr/>
          <a:lstStyle/>
          <a:p>
            <a:endParaRPr lang="es-CO"/>
          </a:p>
        </p:txBody>
      </p:sp>
      <p:sp>
        <p:nvSpPr>
          <p:cNvPr id="34" name="Text 31"/>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35" name="Text 32"/>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3 / 20</a:t>
            </a:r>
            <a:endParaRPr lang="en-US" sz="800" dirty="0"/>
          </a:p>
        </p:txBody>
      </p:sp>
      <p:sp>
        <p:nvSpPr>
          <p:cNvPr id="36" name="Shape 33"/>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03 - QUE LOGRARAS</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Objetivos de aprendizaje</a:t>
            </a:r>
            <a:endParaRPr lang="en-US" sz="2400" dirty="0"/>
          </a:p>
        </p:txBody>
      </p:sp>
      <p:sp>
        <p:nvSpPr>
          <p:cNvPr id="6" name="Shape 4"/>
          <p:cNvSpPr/>
          <p:nvPr/>
        </p:nvSpPr>
        <p:spPr>
          <a:xfrm>
            <a:off x="457200" y="118872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1737360"/>
          </a:xfrm>
          <a:prstGeom prst="rect">
            <a:avLst/>
          </a:prstGeom>
          <a:solidFill>
            <a:srgbClr val="39A900"/>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85800" y="1389888"/>
            <a:ext cx="502920" cy="502920"/>
          </a:xfrm>
          <a:prstGeom prst="rect">
            <a:avLst/>
          </a:prstGeom>
        </p:spPr>
      </p:pic>
      <p:sp>
        <p:nvSpPr>
          <p:cNvPr id="9" name="Text 6"/>
          <p:cNvSpPr/>
          <p:nvPr/>
        </p:nvSpPr>
        <p:spPr>
          <a:xfrm>
            <a:off x="1325880" y="1353312"/>
            <a:ext cx="2926080" cy="411480"/>
          </a:xfrm>
          <a:prstGeom prst="rect">
            <a:avLst/>
          </a:prstGeom>
          <a:noFill/>
          <a:ln/>
        </p:spPr>
        <p:txBody>
          <a:bodyPr wrap="square" lIns="0" tIns="0" rIns="0" bIns="0" rtlCol="0" anchor="ctr"/>
          <a:lstStyle/>
          <a:p>
            <a:pPr marL="0" indent="0">
              <a:buNone/>
            </a:pPr>
            <a:r>
              <a:rPr lang="en-US" sz="1800" b="1" dirty="0">
                <a:solidFill>
                  <a:srgbClr val="003057"/>
                </a:solidFill>
              </a:rPr>
              <a:t>Disenar</a:t>
            </a:r>
            <a:endParaRPr lang="en-US" sz="1800" dirty="0"/>
          </a:p>
        </p:txBody>
      </p:sp>
      <p:sp>
        <p:nvSpPr>
          <p:cNvPr id="10" name="Text 7"/>
          <p:cNvSpPr/>
          <p:nvPr/>
        </p:nvSpPr>
        <p:spPr>
          <a:xfrm>
            <a:off x="685800" y="1965960"/>
            <a:ext cx="3657600" cy="868680"/>
          </a:xfrm>
          <a:prstGeom prst="rect">
            <a:avLst/>
          </a:prstGeom>
          <a:noFill/>
          <a:ln/>
        </p:spPr>
        <p:txBody>
          <a:bodyPr wrap="square" lIns="0" tIns="0" rIns="0" bIns="0" rtlCol="0" anchor="t"/>
          <a:lstStyle/>
          <a:p>
            <a:pPr marL="0" indent="0">
              <a:buNone/>
            </a:pPr>
            <a:r>
              <a:rPr lang="en-US" sz="1100" dirty="0">
                <a:solidFill>
                  <a:srgbClr val="374151"/>
                </a:solidFill>
              </a:rPr>
              <a:t>Esquemas de subredes con VLSM en IPv4 y esquemas de subredes IPv6 para cuatro VLAN.</a:t>
            </a:r>
            <a:endParaRPr lang="en-US" sz="1100" dirty="0"/>
          </a:p>
        </p:txBody>
      </p:sp>
      <p:sp>
        <p:nvSpPr>
          <p:cNvPr id="11" name="Shape 8"/>
          <p:cNvSpPr/>
          <p:nvPr/>
        </p:nvSpPr>
        <p:spPr>
          <a:xfrm>
            <a:off x="4663440" y="118872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2" name="Shape 9"/>
          <p:cNvSpPr/>
          <p:nvPr/>
        </p:nvSpPr>
        <p:spPr>
          <a:xfrm>
            <a:off x="4663440" y="1188720"/>
            <a:ext cx="64008" cy="1737360"/>
          </a:xfrm>
          <a:prstGeom prst="rect">
            <a:avLst/>
          </a:prstGeom>
          <a:solidFill>
            <a:srgbClr val="39A900"/>
          </a:solidFill>
          <a:ln/>
        </p:spPr>
        <p:txBody>
          <a:bodyPr/>
          <a:lstStyle/>
          <a:p>
            <a:endParaRPr lang="es-CO"/>
          </a:p>
        </p:txBody>
      </p:sp>
      <p:pic>
        <p:nvPicPr>
          <p:cNvPr id="13" name="Image 1" descr="preencoded.png"/>
          <p:cNvPicPr>
            <a:picLocks noChangeAspect="1"/>
          </p:cNvPicPr>
          <p:nvPr/>
        </p:nvPicPr>
        <p:blipFill>
          <a:blip r:embed="rId4"/>
          <a:stretch>
            <a:fillRect/>
          </a:stretch>
        </p:blipFill>
        <p:spPr>
          <a:xfrm>
            <a:off x="4892040" y="1389888"/>
            <a:ext cx="502920" cy="502920"/>
          </a:xfrm>
          <a:prstGeom prst="rect">
            <a:avLst/>
          </a:prstGeom>
        </p:spPr>
      </p:pic>
      <p:sp>
        <p:nvSpPr>
          <p:cNvPr id="14" name="Text 10"/>
          <p:cNvSpPr/>
          <p:nvPr/>
        </p:nvSpPr>
        <p:spPr>
          <a:xfrm>
            <a:off x="5532120" y="1353312"/>
            <a:ext cx="2926080" cy="411480"/>
          </a:xfrm>
          <a:prstGeom prst="rect">
            <a:avLst/>
          </a:prstGeom>
          <a:noFill/>
          <a:ln/>
        </p:spPr>
        <p:txBody>
          <a:bodyPr wrap="square" lIns="0" tIns="0" rIns="0" bIns="0" rtlCol="0" anchor="ctr"/>
          <a:lstStyle/>
          <a:p>
            <a:pPr marL="0" indent="0">
              <a:buNone/>
            </a:pPr>
            <a:r>
              <a:rPr lang="en-US" sz="1800" b="1" dirty="0">
                <a:solidFill>
                  <a:srgbClr val="003057"/>
                </a:solidFill>
              </a:rPr>
              <a:t>Topologizar</a:t>
            </a:r>
            <a:endParaRPr lang="en-US" sz="1800" dirty="0"/>
          </a:p>
        </p:txBody>
      </p:sp>
      <p:sp>
        <p:nvSpPr>
          <p:cNvPr id="15" name="Text 11"/>
          <p:cNvSpPr/>
          <p:nvPr/>
        </p:nvSpPr>
        <p:spPr>
          <a:xfrm>
            <a:off x="4892040" y="1965960"/>
            <a:ext cx="3657600" cy="868680"/>
          </a:xfrm>
          <a:prstGeom prst="rect">
            <a:avLst/>
          </a:prstGeom>
          <a:noFill/>
          <a:ln/>
        </p:spPr>
        <p:txBody>
          <a:bodyPr wrap="square" lIns="0" tIns="0" rIns="0" bIns="0" rtlCol="0" anchor="t"/>
          <a:lstStyle/>
          <a:p>
            <a:pPr marL="0" indent="0">
              <a:buNone/>
            </a:pPr>
            <a:r>
              <a:rPr lang="en-US" sz="1100" dirty="0">
                <a:solidFill>
                  <a:srgbClr val="374151"/>
                </a:solidFill>
              </a:rPr>
              <a:t>Interconectar todas las VLAN de la sede mediante un router y un switch en Packet Tracer.</a:t>
            </a:r>
            <a:endParaRPr lang="en-US" sz="1100" dirty="0"/>
          </a:p>
        </p:txBody>
      </p:sp>
      <p:sp>
        <p:nvSpPr>
          <p:cNvPr id="16" name="Shape 12"/>
          <p:cNvSpPr/>
          <p:nvPr/>
        </p:nvSpPr>
        <p:spPr>
          <a:xfrm>
            <a:off x="457200" y="306324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7" name="Shape 13"/>
          <p:cNvSpPr/>
          <p:nvPr/>
        </p:nvSpPr>
        <p:spPr>
          <a:xfrm>
            <a:off x="457200" y="3063240"/>
            <a:ext cx="64008" cy="1737360"/>
          </a:xfrm>
          <a:prstGeom prst="rect">
            <a:avLst/>
          </a:prstGeom>
          <a:solidFill>
            <a:srgbClr val="39A900"/>
          </a:solidFill>
          <a:ln/>
        </p:spPr>
        <p:txBody>
          <a:bodyPr/>
          <a:lstStyle/>
          <a:p>
            <a:endParaRPr lang="es-CO"/>
          </a:p>
        </p:txBody>
      </p:sp>
      <p:pic>
        <p:nvPicPr>
          <p:cNvPr id="18" name="Image 2" descr="preencoded.png"/>
          <p:cNvPicPr>
            <a:picLocks noChangeAspect="1"/>
          </p:cNvPicPr>
          <p:nvPr/>
        </p:nvPicPr>
        <p:blipFill>
          <a:blip r:embed="rId5"/>
          <a:stretch>
            <a:fillRect/>
          </a:stretch>
        </p:blipFill>
        <p:spPr>
          <a:xfrm>
            <a:off x="685800" y="3264408"/>
            <a:ext cx="502920" cy="502920"/>
          </a:xfrm>
          <a:prstGeom prst="rect">
            <a:avLst/>
          </a:prstGeom>
        </p:spPr>
      </p:pic>
      <p:sp>
        <p:nvSpPr>
          <p:cNvPr id="19" name="Text 14"/>
          <p:cNvSpPr/>
          <p:nvPr/>
        </p:nvSpPr>
        <p:spPr>
          <a:xfrm>
            <a:off x="1325880" y="3227832"/>
            <a:ext cx="2926080" cy="411480"/>
          </a:xfrm>
          <a:prstGeom prst="rect">
            <a:avLst/>
          </a:prstGeom>
          <a:noFill/>
          <a:ln/>
        </p:spPr>
        <p:txBody>
          <a:bodyPr wrap="square" lIns="0" tIns="0" rIns="0" bIns="0" rtlCol="0" anchor="ctr"/>
          <a:lstStyle/>
          <a:p>
            <a:pPr marL="0" indent="0">
              <a:buNone/>
            </a:pPr>
            <a:r>
              <a:rPr lang="en-US" sz="1800" b="1" dirty="0">
                <a:solidFill>
                  <a:srgbClr val="003057"/>
                </a:solidFill>
              </a:rPr>
              <a:t>Configurar</a:t>
            </a:r>
            <a:endParaRPr lang="en-US" sz="1800" dirty="0"/>
          </a:p>
        </p:txBody>
      </p:sp>
      <p:sp>
        <p:nvSpPr>
          <p:cNvPr id="20" name="Text 15"/>
          <p:cNvSpPr/>
          <p:nvPr/>
        </p:nvSpPr>
        <p:spPr>
          <a:xfrm>
            <a:off x="685800" y="3840480"/>
            <a:ext cx="3657600" cy="868680"/>
          </a:xfrm>
          <a:prstGeom prst="rect">
            <a:avLst/>
          </a:prstGeom>
          <a:noFill/>
          <a:ln/>
        </p:spPr>
        <p:txBody>
          <a:bodyPr wrap="square" lIns="0" tIns="0" rIns="0" bIns="0" rtlCol="0" anchor="t"/>
          <a:lstStyle/>
          <a:p>
            <a:pPr marL="0" indent="0">
              <a:buNone/>
            </a:pPr>
            <a:r>
              <a:rPr lang="en-US" sz="1100" dirty="0">
                <a:solidFill>
                  <a:srgbClr val="374151"/>
                </a:solidFill>
              </a:rPr>
              <a:t>VLAN, troncales, subinterfaces, enrutamiento IPv6 e interfaces pasivas donde se requiera.</a:t>
            </a:r>
            <a:endParaRPr lang="en-US" sz="1100" dirty="0"/>
          </a:p>
        </p:txBody>
      </p:sp>
      <p:sp>
        <p:nvSpPr>
          <p:cNvPr id="21" name="Shape 16"/>
          <p:cNvSpPr/>
          <p:nvPr/>
        </p:nvSpPr>
        <p:spPr>
          <a:xfrm>
            <a:off x="4663440" y="306324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2" name="Shape 17"/>
          <p:cNvSpPr/>
          <p:nvPr/>
        </p:nvSpPr>
        <p:spPr>
          <a:xfrm>
            <a:off x="4663440" y="3063240"/>
            <a:ext cx="64008" cy="1737360"/>
          </a:xfrm>
          <a:prstGeom prst="rect">
            <a:avLst/>
          </a:prstGeom>
          <a:solidFill>
            <a:srgbClr val="39A900"/>
          </a:solidFill>
          <a:ln/>
        </p:spPr>
        <p:txBody>
          <a:bodyPr/>
          <a:lstStyle/>
          <a:p>
            <a:endParaRPr lang="es-CO"/>
          </a:p>
        </p:txBody>
      </p:sp>
      <p:pic>
        <p:nvPicPr>
          <p:cNvPr id="23" name="Image 3" descr="preencoded.png"/>
          <p:cNvPicPr>
            <a:picLocks noChangeAspect="1"/>
          </p:cNvPicPr>
          <p:nvPr/>
        </p:nvPicPr>
        <p:blipFill>
          <a:blip r:embed="rId6"/>
          <a:stretch>
            <a:fillRect/>
          </a:stretch>
        </p:blipFill>
        <p:spPr>
          <a:xfrm>
            <a:off x="4892040" y="3264408"/>
            <a:ext cx="502920" cy="502920"/>
          </a:xfrm>
          <a:prstGeom prst="rect">
            <a:avLst/>
          </a:prstGeom>
        </p:spPr>
      </p:pic>
      <p:sp>
        <p:nvSpPr>
          <p:cNvPr id="24" name="Text 18"/>
          <p:cNvSpPr/>
          <p:nvPr/>
        </p:nvSpPr>
        <p:spPr>
          <a:xfrm>
            <a:off x="5532120" y="3227832"/>
            <a:ext cx="2926080" cy="411480"/>
          </a:xfrm>
          <a:prstGeom prst="rect">
            <a:avLst/>
          </a:prstGeom>
          <a:noFill/>
          <a:ln/>
        </p:spPr>
        <p:txBody>
          <a:bodyPr wrap="square" lIns="0" tIns="0" rIns="0" bIns="0" rtlCol="0" anchor="ctr"/>
          <a:lstStyle/>
          <a:p>
            <a:pPr marL="0" indent="0">
              <a:buNone/>
            </a:pPr>
            <a:r>
              <a:rPr lang="en-US" sz="1800" b="1" dirty="0">
                <a:solidFill>
                  <a:srgbClr val="003057"/>
                </a:solidFill>
              </a:rPr>
              <a:t>Verificar</a:t>
            </a:r>
            <a:endParaRPr lang="en-US" sz="1800" dirty="0"/>
          </a:p>
        </p:txBody>
      </p:sp>
      <p:sp>
        <p:nvSpPr>
          <p:cNvPr id="25" name="Text 19"/>
          <p:cNvSpPr/>
          <p:nvPr/>
        </p:nvSpPr>
        <p:spPr>
          <a:xfrm>
            <a:off x="4892040" y="3840480"/>
            <a:ext cx="3657600" cy="868680"/>
          </a:xfrm>
          <a:prstGeom prst="rect">
            <a:avLst/>
          </a:prstGeom>
          <a:noFill/>
          <a:ln/>
        </p:spPr>
        <p:txBody>
          <a:bodyPr wrap="square" lIns="0" tIns="0" rIns="0" bIns="0" rtlCol="0" anchor="t"/>
          <a:lstStyle/>
          <a:p>
            <a:pPr marL="0" indent="0">
              <a:buNone/>
            </a:pPr>
            <a:r>
              <a:rPr lang="en-US" sz="1100" dirty="0">
                <a:solidFill>
                  <a:srgbClr val="374151"/>
                </a:solidFill>
              </a:rPr>
              <a:t>Conectividad con ping IPv4/IPv6 y comandos show para validar la implementacion.</a:t>
            </a:r>
            <a:endParaRPr lang="en-US" sz="1100" dirty="0"/>
          </a:p>
        </p:txBody>
      </p:sp>
      <p:sp>
        <p:nvSpPr>
          <p:cNvPr id="26" name="Shape 20"/>
          <p:cNvSpPr/>
          <p:nvPr/>
        </p:nvSpPr>
        <p:spPr>
          <a:xfrm>
            <a:off x="0" y="4892040"/>
            <a:ext cx="9144000" cy="256032"/>
          </a:xfrm>
          <a:prstGeom prst="rect">
            <a:avLst/>
          </a:prstGeom>
          <a:solidFill>
            <a:srgbClr val="003057"/>
          </a:solidFill>
          <a:ln/>
        </p:spPr>
        <p:txBody>
          <a:bodyPr/>
          <a:lstStyle/>
          <a:p>
            <a:endParaRPr lang="es-CO"/>
          </a:p>
        </p:txBody>
      </p:sp>
      <p:sp>
        <p:nvSpPr>
          <p:cNvPr id="27" name="Text 21"/>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28" name="Text 22"/>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4 / 20</a:t>
            </a:r>
            <a:endParaRPr lang="en-US" sz="800" dirty="0"/>
          </a:p>
        </p:txBody>
      </p:sp>
      <p:sp>
        <p:nvSpPr>
          <p:cNvPr id="29" name="Shape 23"/>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04 - LO QUE PIDE LA EVIDENCIA</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Requerimientos del proyecto</a:t>
            </a:r>
            <a:endParaRPr lang="en-US" sz="2400" dirty="0"/>
          </a:p>
        </p:txBody>
      </p:sp>
      <p:sp>
        <p:nvSpPr>
          <p:cNvPr id="6" name="Shape 4"/>
          <p:cNvSpPr/>
          <p:nvPr/>
        </p:nvSpPr>
        <p:spPr>
          <a:xfrm>
            <a:off x="457200" y="1234440"/>
            <a:ext cx="8229600" cy="411480"/>
          </a:xfrm>
          <a:prstGeom prst="rect">
            <a:avLst/>
          </a:prstGeom>
          <a:solidFill>
            <a:srgbClr val="003057"/>
          </a:solidFill>
          <a:ln/>
        </p:spPr>
        <p:txBody>
          <a:bodyPr/>
          <a:lstStyle/>
          <a:p>
            <a:endParaRPr lang="es-CO"/>
          </a:p>
        </p:txBody>
      </p:sp>
      <p:sp>
        <p:nvSpPr>
          <p:cNvPr id="7" name="Text 5"/>
          <p:cNvSpPr/>
          <p:nvPr/>
        </p:nvSpPr>
        <p:spPr>
          <a:xfrm>
            <a:off x="548640" y="1234440"/>
            <a:ext cx="1143000" cy="411480"/>
          </a:xfrm>
          <a:prstGeom prst="rect">
            <a:avLst/>
          </a:prstGeom>
          <a:noFill/>
          <a:ln/>
        </p:spPr>
        <p:txBody>
          <a:bodyPr wrap="square" lIns="0" tIns="0" rIns="0" bIns="0" rtlCol="0" anchor="ctr"/>
          <a:lstStyle/>
          <a:p>
            <a:pPr marL="0" indent="0" algn="l">
              <a:buNone/>
            </a:pPr>
            <a:r>
              <a:rPr lang="en-US" sz="1100" b="1" dirty="0">
                <a:solidFill>
                  <a:srgbClr val="FFFFFF"/>
                </a:solidFill>
              </a:rPr>
              <a:t>VLAN</a:t>
            </a:r>
            <a:endParaRPr lang="en-US" sz="1100" dirty="0"/>
          </a:p>
        </p:txBody>
      </p:sp>
      <p:sp>
        <p:nvSpPr>
          <p:cNvPr id="8" name="Text 6"/>
          <p:cNvSpPr/>
          <p:nvPr/>
        </p:nvSpPr>
        <p:spPr>
          <a:xfrm>
            <a:off x="1691640" y="1234440"/>
            <a:ext cx="2240280" cy="411480"/>
          </a:xfrm>
          <a:prstGeom prst="rect">
            <a:avLst/>
          </a:prstGeom>
          <a:noFill/>
          <a:ln/>
        </p:spPr>
        <p:txBody>
          <a:bodyPr wrap="square" lIns="0" tIns="0" rIns="0" bIns="0" rtlCol="0" anchor="ctr"/>
          <a:lstStyle/>
          <a:p>
            <a:pPr marL="0" indent="0" algn="l">
              <a:buNone/>
            </a:pPr>
            <a:r>
              <a:rPr lang="en-US" sz="1100" b="1" dirty="0">
                <a:solidFill>
                  <a:srgbClr val="FFFFFF"/>
                </a:solidFill>
              </a:rPr>
              <a:t>Nombre</a:t>
            </a:r>
            <a:endParaRPr lang="en-US" sz="1100" dirty="0"/>
          </a:p>
        </p:txBody>
      </p:sp>
      <p:sp>
        <p:nvSpPr>
          <p:cNvPr id="9" name="Text 7"/>
          <p:cNvSpPr/>
          <p:nvPr/>
        </p:nvSpPr>
        <p:spPr>
          <a:xfrm>
            <a:off x="3931920" y="1234440"/>
            <a:ext cx="1280160" cy="411480"/>
          </a:xfrm>
          <a:prstGeom prst="rect">
            <a:avLst/>
          </a:prstGeom>
          <a:noFill/>
          <a:ln/>
        </p:spPr>
        <p:txBody>
          <a:bodyPr wrap="square" lIns="0" tIns="0" rIns="0" bIns="0" rtlCol="0" anchor="ctr"/>
          <a:lstStyle/>
          <a:p>
            <a:pPr marL="0" indent="0" algn="l">
              <a:buNone/>
            </a:pPr>
            <a:r>
              <a:rPr lang="en-US" sz="1100" b="1" dirty="0">
                <a:solidFill>
                  <a:srgbClr val="FFFFFF"/>
                </a:solidFill>
              </a:rPr>
              <a:t>Hosts req.</a:t>
            </a:r>
            <a:endParaRPr lang="en-US" sz="1100" dirty="0"/>
          </a:p>
        </p:txBody>
      </p:sp>
      <p:sp>
        <p:nvSpPr>
          <p:cNvPr id="10" name="Text 8"/>
          <p:cNvSpPr/>
          <p:nvPr/>
        </p:nvSpPr>
        <p:spPr>
          <a:xfrm>
            <a:off x="5212080" y="1234440"/>
            <a:ext cx="1554480" cy="411480"/>
          </a:xfrm>
          <a:prstGeom prst="rect">
            <a:avLst/>
          </a:prstGeom>
          <a:noFill/>
          <a:ln/>
        </p:spPr>
        <p:txBody>
          <a:bodyPr wrap="square" lIns="0" tIns="0" rIns="0" bIns="0" rtlCol="0" anchor="ctr"/>
          <a:lstStyle/>
          <a:p>
            <a:pPr marL="0" indent="0" algn="l">
              <a:buNone/>
            </a:pPr>
            <a:r>
              <a:rPr lang="en-US" sz="1100" b="1" dirty="0">
                <a:solidFill>
                  <a:srgbClr val="FFFFFF"/>
                </a:solidFill>
              </a:rPr>
              <a:t>Bits host</a:t>
            </a:r>
            <a:endParaRPr lang="en-US" sz="1100" dirty="0"/>
          </a:p>
        </p:txBody>
      </p:sp>
      <p:sp>
        <p:nvSpPr>
          <p:cNvPr id="11" name="Text 9"/>
          <p:cNvSpPr/>
          <p:nvPr/>
        </p:nvSpPr>
        <p:spPr>
          <a:xfrm>
            <a:off x="6766560" y="1234440"/>
            <a:ext cx="1828800" cy="411480"/>
          </a:xfrm>
          <a:prstGeom prst="rect">
            <a:avLst/>
          </a:prstGeom>
          <a:noFill/>
          <a:ln/>
        </p:spPr>
        <p:txBody>
          <a:bodyPr wrap="square" lIns="0" tIns="0" rIns="0" bIns="0" rtlCol="0" anchor="ctr"/>
          <a:lstStyle/>
          <a:p>
            <a:pPr marL="0" indent="0" algn="l">
              <a:buNone/>
            </a:pPr>
            <a:r>
              <a:rPr lang="en-US" sz="1100" b="1" dirty="0">
                <a:solidFill>
                  <a:srgbClr val="FFFFFF"/>
                </a:solidFill>
              </a:rPr>
              <a:t>Mascara optima</a:t>
            </a:r>
            <a:endParaRPr lang="en-US" sz="1100" dirty="0"/>
          </a:p>
        </p:txBody>
      </p:sp>
      <p:sp>
        <p:nvSpPr>
          <p:cNvPr id="12" name="Shape 10"/>
          <p:cNvSpPr/>
          <p:nvPr/>
        </p:nvSpPr>
        <p:spPr>
          <a:xfrm>
            <a:off x="457200" y="1691640"/>
            <a:ext cx="8229600" cy="457200"/>
          </a:xfrm>
          <a:prstGeom prst="rect">
            <a:avLst/>
          </a:prstGeom>
          <a:solidFill>
            <a:srgbClr val="FFFFFF"/>
          </a:solidFill>
          <a:ln/>
        </p:spPr>
        <p:txBody>
          <a:bodyPr/>
          <a:lstStyle/>
          <a:p>
            <a:endParaRPr lang="es-CO"/>
          </a:p>
        </p:txBody>
      </p:sp>
      <p:sp>
        <p:nvSpPr>
          <p:cNvPr id="13" name="Shape 11"/>
          <p:cNvSpPr/>
          <p:nvPr/>
        </p:nvSpPr>
        <p:spPr>
          <a:xfrm>
            <a:off x="457200" y="1691640"/>
            <a:ext cx="54864" cy="457200"/>
          </a:xfrm>
          <a:prstGeom prst="rect">
            <a:avLst/>
          </a:prstGeom>
          <a:solidFill>
            <a:srgbClr val="F59E0B"/>
          </a:solidFill>
          <a:ln/>
        </p:spPr>
        <p:txBody>
          <a:bodyPr/>
          <a:lstStyle/>
          <a:p>
            <a:endParaRPr lang="es-CO"/>
          </a:p>
        </p:txBody>
      </p:sp>
      <p:sp>
        <p:nvSpPr>
          <p:cNvPr id="14" name="Text 12"/>
          <p:cNvSpPr/>
          <p:nvPr/>
        </p:nvSpPr>
        <p:spPr>
          <a:xfrm>
            <a:off x="548640" y="1691640"/>
            <a:ext cx="1143000" cy="457200"/>
          </a:xfrm>
          <a:prstGeom prst="rect">
            <a:avLst/>
          </a:prstGeom>
          <a:noFill/>
          <a:ln/>
        </p:spPr>
        <p:txBody>
          <a:bodyPr wrap="square" lIns="0" tIns="0" rIns="0" bIns="0" rtlCol="0" anchor="ctr"/>
          <a:lstStyle/>
          <a:p>
            <a:pPr marL="0" indent="0">
              <a:buNone/>
            </a:pPr>
            <a:r>
              <a:rPr lang="en-US" sz="1100" b="1" dirty="0">
                <a:solidFill>
                  <a:srgbClr val="F59E0B"/>
                </a:solidFill>
              </a:rPr>
              <a:t>VLAN 40</a:t>
            </a:r>
            <a:endParaRPr lang="en-US" sz="1100" dirty="0"/>
          </a:p>
        </p:txBody>
      </p:sp>
      <p:sp>
        <p:nvSpPr>
          <p:cNvPr id="15" name="Text 13"/>
          <p:cNvSpPr/>
          <p:nvPr/>
        </p:nvSpPr>
        <p:spPr>
          <a:xfrm>
            <a:off x="1691640" y="1691640"/>
            <a:ext cx="2240280" cy="457200"/>
          </a:xfrm>
          <a:prstGeom prst="rect">
            <a:avLst/>
          </a:prstGeom>
          <a:noFill/>
          <a:ln/>
        </p:spPr>
        <p:txBody>
          <a:bodyPr wrap="square" lIns="0" tIns="0" rIns="0" bIns="0" rtlCol="0" anchor="ctr"/>
          <a:lstStyle/>
          <a:p>
            <a:pPr marL="0" indent="0">
              <a:buNone/>
            </a:pPr>
            <a:r>
              <a:rPr lang="en-US" sz="1100" dirty="0">
                <a:solidFill>
                  <a:srgbClr val="374151"/>
                </a:solidFill>
              </a:rPr>
              <a:t>Visitantes</a:t>
            </a:r>
            <a:endParaRPr lang="en-US" sz="1100" dirty="0"/>
          </a:p>
        </p:txBody>
      </p:sp>
      <p:sp>
        <p:nvSpPr>
          <p:cNvPr id="16" name="Text 14"/>
          <p:cNvSpPr/>
          <p:nvPr/>
        </p:nvSpPr>
        <p:spPr>
          <a:xfrm>
            <a:off x="3931920" y="1691640"/>
            <a:ext cx="1280160" cy="457200"/>
          </a:xfrm>
          <a:prstGeom prst="rect">
            <a:avLst/>
          </a:prstGeom>
          <a:noFill/>
          <a:ln/>
        </p:spPr>
        <p:txBody>
          <a:bodyPr wrap="square" lIns="0" tIns="0" rIns="0" bIns="0" rtlCol="0" anchor="ctr"/>
          <a:lstStyle/>
          <a:p>
            <a:pPr marL="0" indent="0">
              <a:buNone/>
            </a:pPr>
            <a:r>
              <a:rPr lang="en-US" sz="1100" dirty="0">
                <a:solidFill>
                  <a:srgbClr val="374151"/>
                </a:solidFill>
              </a:rPr>
              <a:t>100</a:t>
            </a:r>
            <a:endParaRPr lang="en-US" sz="1100" dirty="0"/>
          </a:p>
        </p:txBody>
      </p:sp>
      <p:sp>
        <p:nvSpPr>
          <p:cNvPr id="17" name="Text 15"/>
          <p:cNvSpPr/>
          <p:nvPr/>
        </p:nvSpPr>
        <p:spPr>
          <a:xfrm>
            <a:off x="5212080" y="1691640"/>
            <a:ext cx="1554480" cy="457200"/>
          </a:xfrm>
          <a:prstGeom prst="rect">
            <a:avLst/>
          </a:prstGeom>
          <a:noFill/>
          <a:ln/>
        </p:spPr>
        <p:txBody>
          <a:bodyPr wrap="square" lIns="0" tIns="0" rIns="0" bIns="0" rtlCol="0" anchor="ctr"/>
          <a:lstStyle/>
          <a:p>
            <a:pPr marL="0" indent="0">
              <a:buNone/>
            </a:pPr>
            <a:r>
              <a:rPr lang="en-US" sz="1100" dirty="0">
                <a:solidFill>
                  <a:srgbClr val="374151"/>
                </a:solidFill>
              </a:rPr>
              <a:t>7 (2^7=128)</a:t>
            </a:r>
            <a:endParaRPr lang="en-US" sz="1100" dirty="0"/>
          </a:p>
        </p:txBody>
      </p:sp>
      <p:sp>
        <p:nvSpPr>
          <p:cNvPr id="18" name="Text 16"/>
          <p:cNvSpPr/>
          <p:nvPr/>
        </p:nvSpPr>
        <p:spPr>
          <a:xfrm>
            <a:off x="6766560" y="1691640"/>
            <a:ext cx="1828800" cy="457200"/>
          </a:xfrm>
          <a:prstGeom prst="rect">
            <a:avLst/>
          </a:prstGeom>
          <a:noFill/>
          <a:ln/>
        </p:spPr>
        <p:txBody>
          <a:bodyPr wrap="square" lIns="0" tIns="0" rIns="0" bIns="0" rtlCol="0" anchor="ctr"/>
          <a:lstStyle/>
          <a:p>
            <a:pPr marL="0" indent="0">
              <a:buNone/>
            </a:pPr>
            <a:r>
              <a:rPr lang="en-US" sz="1100" dirty="0">
                <a:solidFill>
                  <a:srgbClr val="374151"/>
                </a:solidFill>
              </a:rPr>
              <a:t>/25 - 255.255.255.128</a:t>
            </a:r>
            <a:endParaRPr lang="en-US" sz="1100" dirty="0"/>
          </a:p>
        </p:txBody>
      </p:sp>
      <p:sp>
        <p:nvSpPr>
          <p:cNvPr id="19" name="Shape 17"/>
          <p:cNvSpPr/>
          <p:nvPr/>
        </p:nvSpPr>
        <p:spPr>
          <a:xfrm>
            <a:off x="457200" y="2148840"/>
            <a:ext cx="8229600" cy="457200"/>
          </a:xfrm>
          <a:prstGeom prst="rect">
            <a:avLst/>
          </a:prstGeom>
          <a:solidFill>
            <a:srgbClr val="FAFBFC"/>
          </a:solidFill>
          <a:ln/>
        </p:spPr>
        <p:txBody>
          <a:bodyPr/>
          <a:lstStyle/>
          <a:p>
            <a:endParaRPr lang="es-CO"/>
          </a:p>
        </p:txBody>
      </p:sp>
      <p:sp>
        <p:nvSpPr>
          <p:cNvPr id="20" name="Shape 18"/>
          <p:cNvSpPr/>
          <p:nvPr/>
        </p:nvSpPr>
        <p:spPr>
          <a:xfrm>
            <a:off x="457200" y="2148840"/>
            <a:ext cx="54864" cy="457200"/>
          </a:xfrm>
          <a:prstGeom prst="rect">
            <a:avLst/>
          </a:prstGeom>
          <a:solidFill>
            <a:srgbClr val="E85D04"/>
          </a:solidFill>
          <a:ln/>
        </p:spPr>
        <p:txBody>
          <a:bodyPr/>
          <a:lstStyle/>
          <a:p>
            <a:endParaRPr lang="es-CO"/>
          </a:p>
        </p:txBody>
      </p:sp>
      <p:sp>
        <p:nvSpPr>
          <p:cNvPr id="21" name="Text 19"/>
          <p:cNvSpPr/>
          <p:nvPr/>
        </p:nvSpPr>
        <p:spPr>
          <a:xfrm>
            <a:off x="548640" y="2148840"/>
            <a:ext cx="1143000" cy="457200"/>
          </a:xfrm>
          <a:prstGeom prst="rect">
            <a:avLst/>
          </a:prstGeom>
          <a:noFill/>
          <a:ln/>
        </p:spPr>
        <p:txBody>
          <a:bodyPr wrap="square" lIns="0" tIns="0" rIns="0" bIns="0" rtlCol="0" anchor="ctr"/>
          <a:lstStyle/>
          <a:p>
            <a:pPr marL="0" indent="0">
              <a:buNone/>
            </a:pPr>
            <a:r>
              <a:rPr lang="en-US" sz="1100" b="1" dirty="0">
                <a:solidFill>
                  <a:srgbClr val="E85D04"/>
                </a:solidFill>
              </a:rPr>
              <a:t>VLAN 20</a:t>
            </a:r>
            <a:endParaRPr lang="en-US" sz="1100" dirty="0"/>
          </a:p>
        </p:txBody>
      </p:sp>
      <p:sp>
        <p:nvSpPr>
          <p:cNvPr id="22" name="Text 20"/>
          <p:cNvSpPr/>
          <p:nvPr/>
        </p:nvSpPr>
        <p:spPr>
          <a:xfrm>
            <a:off x="1691640" y="2148840"/>
            <a:ext cx="2240280" cy="457200"/>
          </a:xfrm>
          <a:prstGeom prst="rect">
            <a:avLst/>
          </a:prstGeom>
          <a:noFill/>
          <a:ln/>
        </p:spPr>
        <p:txBody>
          <a:bodyPr wrap="square" lIns="0" tIns="0" rIns="0" bIns="0" rtlCol="0" anchor="ctr"/>
          <a:lstStyle/>
          <a:p>
            <a:pPr marL="0" indent="0">
              <a:buNone/>
            </a:pPr>
            <a:r>
              <a:rPr lang="en-US" sz="1100" dirty="0">
                <a:solidFill>
                  <a:srgbClr val="374151"/>
                </a:solidFill>
              </a:rPr>
              <a:t>Financiera</a:t>
            </a:r>
            <a:endParaRPr lang="en-US" sz="1100" dirty="0"/>
          </a:p>
        </p:txBody>
      </p:sp>
      <p:sp>
        <p:nvSpPr>
          <p:cNvPr id="23" name="Text 21"/>
          <p:cNvSpPr/>
          <p:nvPr/>
        </p:nvSpPr>
        <p:spPr>
          <a:xfrm>
            <a:off x="3931920" y="2148840"/>
            <a:ext cx="1280160" cy="457200"/>
          </a:xfrm>
          <a:prstGeom prst="rect">
            <a:avLst/>
          </a:prstGeom>
          <a:noFill/>
          <a:ln/>
        </p:spPr>
        <p:txBody>
          <a:bodyPr wrap="square" lIns="0" tIns="0" rIns="0" bIns="0" rtlCol="0" anchor="ctr"/>
          <a:lstStyle/>
          <a:p>
            <a:pPr marL="0" indent="0">
              <a:buNone/>
            </a:pPr>
            <a:r>
              <a:rPr lang="en-US" sz="1100" dirty="0">
                <a:solidFill>
                  <a:srgbClr val="374151"/>
                </a:solidFill>
              </a:rPr>
              <a:t>50</a:t>
            </a:r>
            <a:endParaRPr lang="en-US" sz="1100" dirty="0"/>
          </a:p>
        </p:txBody>
      </p:sp>
      <p:sp>
        <p:nvSpPr>
          <p:cNvPr id="24" name="Text 22"/>
          <p:cNvSpPr/>
          <p:nvPr/>
        </p:nvSpPr>
        <p:spPr>
          <a:xfrm>
            <a:off x="5212080" y="2148840"/>
            <a:ext cx="1554480" cy="457200"/>
          </a:xfrm>
          <a:prstGeom prst="rect">
            <a:avLst/>
          </a:prstGeom>
          <a:noFill/>
          <a:ln/>
        </p:spPr>
        <p:txBody>
          <a:bodyPr wrap="square" lIns="0" tIns="0" rIns="0" bIns="0" rtlCol="0" anchor="ctr"/>
          <a:lstStyle/>
          <a:p>
            <a:pPr marL="0" indent="0">
              <a:buNone/>
            </a:pPr>
            <a:r>
              <a:rPr lang="en-US" sz="1100" dirty="0">
                <a:solidFill>
                  <a:srgbClr val="374151"/>
                </a:solidFill>
              </a:rPr>
              <a:t>6 (2^6=64)</a:t>
            </a:r>
            <a:endParaRPr lang="en-US" sz="1100" dirty="0"/>
          </a:p>
        </p:txBody>
      </p:sp>
      <p:sp>
        <p:nvSpPr>
          <p:cNvPr id="25" name="Text 23"/>
          <p:cNvSpPr/>
          <p:nvPr/>
        </p:nvSpPr>
        <p:spPr>
          <a:xfrm>
            <a:off x="6766560" y="2148840"/>
            <a:ext cx="1828800" cy="457200"/>
          </a:xfrm>
          <a:prstGeom prst="rect">
            <a:avLst/>
          </a:prstGeom>
          <a:noFill/>
          <a:ln/>
        </p:spPr>
        <p:txBody>
          <a:bodyPr wrap="square" lIns="0" tIns="0" rIns="0" bIns="0" rtlCol="0" anchor="ctr"/>
          <a:lstStyle/>
          <a:p>
            <a:pPr marL="0" indent="0">
              <a:buNone/>
            </a:pPr>
            <a:r>
              <a:rPr lang="en-US" sz="1100" dirty="0">
                <a:solidFill>
                  <a:srgbClr val="374151"/>
                </a:solidFill>
              </a:rPr>
              <a:t>/26 - 255.255.255.192</a:t>
            </a:r>
            <a:endParaRPr lang="en-US" sz="1100" dirty="0"/>
          </a:p>
        </p:txBody>
      </p:sp>
      <p:sp>
        <p:nvSpPr>
          <p:cNvPr id="26" name="Shape 24"/>
          <p:cNvSpPr/>
          <p:nvPr/>
        </p:nvSpPr>
        <p:spPr>
          <a:xfrm>
            <a:off x="457200" y="2606040"/>
            <a:ext cx="8229600" cy="457200"/>
          </a:xfrm>
          <a:prstGeom prst="rect">
            <a:avLst/>
          </a:prstGeom>
          <a:solidFill>
            <a:srgbClr val="FFFFFF"/>
          </a:solidFill>
          <a:ln/>
        </p:spPr>
        <p:txBody>
          <a:bodyPr/>
          <a:lstStyle/>
          <a:p>
            <a:endParaRPr lang="es-CO"/>
          </a:p>
        </p:txBody>
      </p:sp>
      <p:sp>
        <p:nvSpPr>
          <p:cNvPr id="27" name="Shape 25"/>
          <p:cNvSpPr/>
          <p:nvPr/>
        </p:nvSpPr>
        <p:spPr>
          <a:xfrm>
            <a:off x="457200" y="2606040"/>
            <a:ext cx="54864" cy="457200"/>
          </a:xfrm>
          <a:prstGeom prst="rect">
            <a:avLst/>
          </a:prstGeom>
          <a:solidFill>
            <a:srgbClr val="39A900"/>
          </a:solidFill>
          <a:ln/>
        </p:spPr>
        <p:txBody>
          <a:bodyPr/>
          <a:lstStyle/>
          <a:p>
            <a:endParaRPr lang="es-CO"/>
          </a:p>
        </p:txBody>
      </p:sp>
      <p:sp>
        <p:nvSpPr>
          <p:cNvPr id="28" name="Text 26"/>
          <p:cNvSpPr/>
          <p:nvPr/>
        </p:nvSpPr>
        <p:spPr>
          <a:xfrm>
            <a:off x="548640" y="2606040"/>
            <a:ext cx="1143000" cy="457200"/>
          </a:xfrm>
          <a:prstGeom prst="rect">
            <a:avLst/>
          </a:prstGeom>
          <a:noFill/>
          <a:ln/>
        </p:spPr>
        <p:txBody>
          <a:bodyPr wrap="square" lIns="0" tIns="0" rIns="0" bIns="0" rtlCol="0" anchor="ctr"/>
          <a:lstStyle/>
          <a:p>
            <a:pPr marL="0" indent="0">
              <a:buNone/>
            </a:pPr>
            <a:r>
              <a:rPr lang="en-US" sz="1100" b="1" dirty="0">
                <a:solidFill>
                  <a:srgbClr val="39A900"/>
                </a:solidFill>
              </a:rPr>
              <a:t>VLAN 10</a:t>
            </a:r>
            <a:endParaRPr lang="en-US" sz="1100" dirty="0"/>
          </a:p>
        </p:txBody>
      </p:sp>
      <p:sp>
        <p:nvSpPr>
          <p:cNvPr id="29" name="Text 27"/>
          <p:cNvSpPr/>
          <p:nvPr/>
        </p:nvSpPr>
        <p:spPr>
          <a:xfrm>
            <a:off x="1691640" y="2606040"/>
            <a:ext cx="2240280" cy="457200"/>
          </a:xfrm>
          <a:prstGeom prst="rect">
            <a:avLst/>
          </a:prstGeom>
          <a:noFill/>
          <a:ln/>
        </p:spPr>
        <p:txBody>
          <a:bodyPr wrap="square" lIns="0" tIns="0" rIns="0" bIns="0" rtlCol="0" anchor="ctr"/>
          <a:lstStyle/>
          <a:p>
            <a:pPr marL="0" indent="0">
              <a:buNone/>
            </a:pPr>
            <a:r>
              <a:rPr lang="en-US" sz="1100" dirty="0">
                <a:solidFill>
                  <a:srgbClr val="374151"/>
                </a:solidFill>
              </a:rPr>
              <a:t>Administrativa</a:t>
            </a:r>
            <a:endParaRPr lang="en-US" sz="1100" dirty="0"/>
          </a:p>
        </p:txBody>
      </p:sp>
      <p:sp>
        <p:nvSpPr>
          <p:cNvPr id="30" name="Text 28"/>
          <p:cNvSpPr/>
          <p:nvPr/>
        </p:nvSpPr>
        <p:spPr>
          <a:xfrm>
            <a:off x="3931920" y="2606040"/>
            <a:ext cx="1280160" cy="457200"/>
          </a:xfrm>
          <a:prstGeom prst="rect">
            <a:avLst/>
          </a:prstGeom>
          <a:noFill/>
          <a:ln/>
        </p:spPr>
        <p:txBody>
          <a:bodyPr wrap="square" lIns="0" tIns="0" rIns="0" bIns="0" rtlCol="0" anchor="ctr"/>
          <a:lstStyle/>
          <a:p>
            <a:pPr marL="0" indent="0">
              <a:buNone/>
            </a:pPr>
            <a:r>
              <a:rPr lang="en-US" sz="1100" dirty="0">
                <a:solidFill>
                  <a:srgbClr val="374151"/>
                </a:solidFill>
              </a:rPr>
              <a:t>20</a:t>
            </a:r>
            <a:endParaRPr lang="en-US" sz="1100" dirty="0"/>
          </a:p>
        </p:txBody>
      </p:sp>
      <p:sp>
        <p:nvSpPr>
          <p:cNvPr id="31" name="Text 29"/>
          <p:cNvSpPr/>
          <p:nvPr/>
        </p:nvSpPr>
        <p:spPr>
          <a:xfrm>
            <a:off x="5212080" y="2606040"/>
            <a:ext cx="1554480" cy="457200"/>
          </a:xfrm>
          <a:prstGeom prst="rect">
            <a:avLst/>
          </a:prstGeom>
          <a:noFill/>
          <a:ln/>
        </p:spPr>
        <p:txBody>
          <a:bodyPr wrap="square" lIns="0" tIns="0" rIns="0" bIns="0" rtlCol="0" anchor="ctr"/>
          <a:lstStyle/>
          <a:p>
            <a:pPr marL="0" indent="0">
              <a:buNone/>
            </a:pPr>
            <a:r>
              <a:rPr lang="en-US" sz="1100" dirty="0">
                <a:solidFill>
                  <a:srgbClr val="374151"/>
                </a:solidFill>
              </a:rPr>
              <a:t>5 (2^5=32)</a:t>
            </a:r>
            <a:endParaRPr lang="en-US" sz="1100" dirty="0"/>
          </a:p>
        </p:txBody>
      </p:sp>
      <p:sp>
        <p:nvSpPr>
          <p:cNvPr id="32" name="Text 30"/>
          <p:cNvSpPr/>
          <p:nvPr/>
        </p:nvSpPr>
        <p:spPr>
          <a:xfrm>
            <a:off x="6766560" y="2606040"/>
            <a:ext cx="1828800" cy="457200"/>
          </a:xfrm>
          <a:prstGeom prst="rect">
            <a:avLst/>
          </a:prstGeom>
          <a:noFill/>
          <a:ln/>
        </p:spPr>
        <p:txBody>
          <a:bodyPr wrap="square" lIns="0" tIns="0" rIns="0" bIns="0" rtlCol="0" anchor="ctr"/>
          <a:lstStyle/>
          <a:p>
            <a:pPr marL="0" indent="0">
              <a:buNone/>
            </a:pPr>
            <a:r>
              <a:rPr lang="en-US" sz="1100" dirty="0">
                <a:solidFill>
                  <a:srgbClr val="374151"/>
                </a:solidFill>
              </a:rPr>
              <a:t>/27 - 255.255.255.224</a:t>
            </a:r>
            <a:endParaRPr lang="en-US" sz="1100" dirty="0"/>
          </a:p>
        </p:txBody>
      </p:sp>
      <p:sp>
        <p:nvSpPr>
          <p:cNvPr id="33" name="Shape 31"/>
          <p:cNvSpPr/>
          <p:nvPr/>
        </p:nvSpPr>
        <p:spPr>
          <a:xfrm>
            <a:off x="457200" y="3063240"/>
            <a:ext cx="8229600" cy="457200"/>
          </a:xfrm>
          <a:prstGeom prst="rect">
            <a:avLst/>
          </a:prstGeom>
          <a:solidFill>
            <a:srgbClr val="FAFBFC"/>
          </a:solidFill>
          <a:ln/>
        </p:spPr>
        <p:txBody>
          <a:bodyPr/>
          <a:lstStyle/>
          <a:p>
            <a:endParaRPr lang="es-CO"/>
          </a:p>
        </p:txBody>
      </p:sp>
      <p:sp>
        <p:nvSpPr>
          <p:cNvPr id="34" name="Shape 32"/>
          <p:cNvSpPr/>
          <p:nvPr/>
        </p:nvSpPr>
        <p:spPr>
          <a:xfrm>
            <a:off x="457200" y="3063240"/>
            <a:ext cx="54864" cy="457200"/>
          </a:xfrm>
          <a:prstGeom prst="rect">
            <a:avLst/>
          </a:prstGeom>
          <a:solidFill>
            <a:srgbClr val="1A4D7A"/>
          </a:solidFill>
          <a:ln/>
        </p:spPr>
        <p:txBody>
          <a:bodyPr/>
          <a:lstStyle/>
          <a:p>
            <a:endParaRPr lang="es-CO"/>
          </a:p>
        </p:txBody>
      </p:sp>
      <p:sp>
        <p:nvSpPr>
          <p:cNvPr id="35" name="Text 33"/>
          <p:cNvSpPr/>
          <p:nvPr/>
        </p:nvSpPr>
        <p:spPr>
          <a:xfrm>
            <a:off x="548640" y="3063240"/>
            <a:ext cx="1143000" cy="457200"/>
          </a:xfrm>
          <a:prstGeom prst="rect">
            <a:avLst/>
          </a:prstGeom>
          <a:noFill/>
          <a:ln/>
        </p:spPr>
        <p:txBody>
          <a:bodyPr wrap="square" lIns="0" tIns="0" rIns="0" bIns="0" rtlCol="0" anchor="ctr"/>
          <a:lstStyle/>
          <a:p>
            <a:pPr marL="0" indent="0">
              <a:buNone/>
            </a:pPr>
            <a:r>
              <a:rPr lang="en-US" sz="1100" b="1" dirty="0">
                <a:solidFill>
                  <a:srgbClr val="1A4D7A"/>
                </a:solidFill>
              </a:rPr>
              <a:t>VLAN 30</a:t>
            </a:r>
            <a:endParaRPr lang="en-US" sz="1100" dirty="0"/>
          </a:p>
        </p:txBody>
      </p:sp>
      <p:sp>
        <p:nvSpPr>
          <p:cNvPr id="36" name="Text 34"/>
          <p:cNvSpPr/>
          <p:nvPr/>
        </p:nvSpPr>
        <p:spPr>
          <a:xfrm>
            <a:off x="1691640" y="3063240"/>
            <a:ext cx="2240280" cy="457200"/>
          </a:xfrm>
          <a:prstGeom prst="rect">
            <a:avLst/>
          </a:prstGeom>
          <a:noFill/>
          <a:ln/>
        </p:spPr>
        <p:txBody>
          <a:bodyPr wrap="square" lIns="0" tIns="0" rIns="0" bIns="0" rtlCol="0" anchor="ctr"/>
          <a:lstStyle/>
          <a:p>
            <a:pPr marL="0" indent="0">
              <a:buNone/>
            </a:pPr>
            <a:r>
              <a:rPr lang="en-US" sz="1100" dirty="0">
                <a:solidFill>
                  <a:srgbClr val="374151"/>
                </a:solidFill>
              </a:rPr>
              <a:t>Tecnicos</a:t>
            </a:r>
            <a:endParaRPr lang="en-US" sz="1100" dirty="0"/>
          </a:p>
        </p:txBody>
      </p:sp>
      <p:sp>
        <p:nvSpPr>
          <p:cNvPr id="37" name="Text 35"/>
          <p:cNvSpPr/>
          <p:nvPr/>
        </p:nvSpPr>
        <p:spPr>
          <a:xfrm>
            <a:off x="3931920" y="3063240"/>
            <a:ext cx="1280160" cy="457200"/>
          </a:xfrm>
          <a:prstGeom prst="rect">
            <a:avLst/>
          </a:prstGeom>
          <a:noFill/>
          <a:ln/>
        </p:spPr>
        <p:txBody>
          <a:bodyPr wrap="square" lIns="0" tIns="0" rIns="0" bIns="0" rtlCol="0" anchor="ctr"/>
          <a:lstStyle/>
          <a:p>
            <a:pPr marL="0" indent="0">
              <a:buNone/>
            </a:pPr>
            <a:r>
              <a:rPr lang="en-US" sz="1100" dirty="0">
                <a:solidFill>
                  <a:srgbClr val="374151"/>
                </a:solidFill>
              </a:rPr>
              <a:t>20</a:t>
            </a:r>
            <a:endParaRPr lang="en-US" sz="1100" dirty="0"/>
          </a:p>
        </p:txBody>
      </p:sp>
      <p:sp>
        <p:nvSpPr>
          <p:cNvPr id="38" name="Text 36"/>
          <p:cNvSpPr/>
          <p:nvPr/>
        </p:nvSpPr>
        <p:spPr>
          <a:xfrm>
            <a:off x="5212080" y="3063240"/>
            <a:ext cx="1554480" cy="457200"/>
          </a:xfrm>
          <a:prstGeom prst="rect">
            <a:avLst/>
          </a:prstGeom>
          <a:noFill/>
          <a:ln/>
        </p:spPr>
        <p:txBody>
          <a:bodyPr wrap="square" lIns="0" tIns="0" rIns="0" bIns="0" rtlCol="0" anchor="ctr"/>
          <a:lstStyle/>
          <a:p>
            <a:pPr marL="0" indent="0">
              <a:buNone/>
            </a:pPr>
            <a:r>
              <a:rPr lang="en-US" sz="1100" dirty="0">
                <a:solidFill>
                  <a:srgbClr val="374151"/>
                </a:solidFill>
              </a:rPr>
              <a:t>5 (2^5=32)</a:t>
            </a:r>
            <a:endParaRPr lang="en-US" sz="1100" dirty="0"/>
          </a:p>
        </p:txBody>
      </p:sp>
      <p:sp>
        <p:nvSpPr>
          <p:cNvPr id="39" name="Text 37"/>
          <p:cNvSpPr/>
          <p:nvPr/>
        </p:nvSpPr>
        <p:spPr>
          <a:xfrm>
            <a:off x="6766560" y="3063240"/>
            <a:ext cx="1828800" cy="457200"/>
          </a:xfrm>
          <a:prstGeom prst="rect">
            <a:avLst/>
          </a:prstGeom>
          <a:noFill/>
          <a:ln/>
        </p:spPr>
        <p:txBody>
          <a:bodyPr wrap="square" lIns="0" tIns="0" rIns="0" bIns="0" rtlCol="0" anchor="ctr"/>
          <a:lstStyle/>
          <a:p>
            <a:pPr marL="0" indent="0">
              <a:buNone/>
            </a:pPr>
            <a:r>
              <a:rPr lang="en-US" sz="1100" dirty="0">
                <a:solidFill>
                  <a:srgbClr val="374151"/>
                </a:solidFill>
              </a:rPr>
              <a:t>/27 - 255.255.255.224</a:t>
            </a:r>
            <a:endParaRPr lang="en-US" sz="1100" dirty="0"/>
          </a:p>
        </p:txBody>
      </p:sp>
      <p:sp>
        <p:nvSpPr>
          <p:cNvPr id="40" name="Shape 38"/>
          <p:cNvSpPr/>
          <p:nvPr/>
        </p:nvSpPr>
        <p:spPr>
          <a:xfrm>
            <a:off x="457200" y="3703320"/>
            <a:ext cx="822960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41" name="Shape 39"/>
          <p:cNvSpPr/>
          <p:nvPr/>
        </p:nvSpPr>
        <p:spPr>
          <a:xfrm>
            <a:off x="457200" y="3703320"/>
            <a:ext cx="64008" cy="1005840"/>
          </a:xfrm>
          <a:prstGeom prst="rect">
            <a:avLst/>
          </a:prstGeom>
          <a:solidFill>
            <a:srgbClr val="E85D04"/>
          </a:solidFill>
          <a:ln/>
        </p:spPr>
        <p:txBody>
          <a:bodyPr/>
          <a:lstStyle/>
          <a:p>
            <a:endParaRPr lang="es-CO"/>
          </a:p>
        </p:txBody>
      </p:sp>
      <p:pic>
        <p:nvPicPr>
          <p:cNvPr id="42" name="Image 0" descr="preencoded.png"/>
          <p:cNvPicPr>
            <a:picLocks noChangeAspect="1"/>
          </p:cNvPicPr>
          <p:nvPr/>
        </p:nvPicPr>
        <p:blipFill>
          <a:blip r:embed="rId3"/>
          <a:stretch>
            <a:fillRect/>
          </a:stretch>
        </p:blipFill>
        <p:spPr>
          <a:xfrm>
            <a:off x="685800" y="3886200"/>
            <a:ext cx="502920" cy="502920"/>
          </a:xfrm>
          <a:prstGeom prst="rect">
            <a:avLst/>
          </a:prstGeom>
        </p:spPr>
      </p:pic>
      <p:sp>
        <p:nvSpPr>
          <p:cNvPr id="43" name="Text 40"/>
          <p:cNvSpPr/>
          <p:nvPr/>
        </p:nvSpPr>
        <p:spPr>
          <a:xfrm>
            <a:off x="1325880" y="3794760"/>
            <a:ext cx="7132320" cy="320040"/>
          </a:xfrm>
          <a:prstGeom prst="rect">
            <a:avLst/>
          </a:prstGeom>
          <a:noFill/>
          <a:ln/>
        </p:spPr>
        <p:txBody>
          <a:bodyPr wrap="square" lIns="0" tIns="0" rIns="0" bIns="0" rtlCol="0" anchor="ctr"/>
          <a:lstStyle/>
          <a:p>
            <a:pPr marL="0" indent="0">
              <a:buNone/>
            </a:pPr>
            <a:r>
              <a:rPr lang="en-US" sz="1200" b="1" dirty="0">
                <a:solidFill>
                  <a:srgbClr val="003057"/>
                </a:solidFill>
              </a:rPr>
              <a:t>Principio VLSM (Variable Length Subnet Mask)</a:t>
            </a:r>
            <a:endParaRPr lang="en-US" sz="1200" dirty="0"/>
          </a:p>
        </p:txBody>
      </p:sp>
      <p:sp>
        <p:nvSpPr>
          <p:cNvPr id="44" name="Text 41"/>
          <p:cNvSpPr/>
          <p:nvPr/>
        </p:nvSpPr>
        <p:spPr>
          <a:xfrm>
            <a:off x="1325880" y="4069080"/>
            <a:ext cx="7132320" cy="594360"/>
          </a:xfrm>
          <a:prstGeom prst="rect">
            <a:avLst/>
          </a:prstGeom>
          <a:noFill/>
          <a:ln/>
        </p:spPr>
        <p:txBody>
          <a:bodyPr wrap="square" lIns="0" tIns="0" rIns="0" bIns="0" rtlCol="0" anchor="t"/>
          <a:lstStyle/>
          <a:p>
            <a:pPr marL="0" indent="0">
              <a:buNone/>
            </a:pPr>
            <a:r>
              <a:rPr lang="en-US" sz="1000" dirty="0">
                <a:solidFill>
                  <a:srgbClr val="374151"/>
                </a:solidFill>
              </a:rPr>
              <a:t>Ordene las VLAN de mayor a menor numero de hosts y asigne el bloque mas pequeno que satisfaga cada necesidad. Asi se aprovecha el espacio de direcciones sin desperdicio.</a:t>
            </a:r>
            <a:endParaRPr lang="en-US" sz="1000" dirty="0"/>
          </a:p>
        </p:txBody>
      </p:sp>
      <p:sp>
        <p:nvSpPr>
          <p:cNvPr id="45" name="Shape 42"/>
          <p:cNvSpPr/>
          <p:nvPr/>
        </p:nvSpPr>
        <p:spPr>
          <a:xfrm>
            <a:off x="0" y="4892040"/>
            <a:ext cx="9144000" cy="256032"/>
          </a:xfrm>
          <a:prstGeom prst="rect">
            <a:avLst/>
          </a:prstGeom>
          <a:solidFill>
            <a:srgbClr val="003057"/>
          </a:solidFill>
          <a:ln/>
        </p:spPr>
        <p:txBody>
          <a:bodyPr/>
          <a:lstStyle/>
          <a:p>
            <a:endParaRPr lang="es-CO"/>
          </a:p>
        </p:txBody>
      </p:sp>
      <p:sp>
        <p:nvSpPr>
          <p:cNvPr id="46" name="Text 43"/>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47" name="Text 44"/>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5 / 20</a:t>
            </a:r>
            <a:endParaRPr lang="en-US" sz="800" dirty="0"/>
          </a:p>
        </p:txBody>
      </p:sp>
      <p:sp>
        <p:nvSpPr>
          <p:cNvPr id="48" name="Shape 45"/>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05 - FUNDAMENTOS</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Conceptos clave antes de empezar</a:t>
            </a:r>
            <a:endParaRPr lang="en-US" sz="2400" dirty="0"/>
          </a:p>
        </p:txBody>
      </p:sp>
      <p:sp>
        <p:nvSpPr>
          <p:cNvPr id="6" name="Shape 4"/>
          <p:cNvSpPr/>
          <p:nvPr/>
        </p:nvSpPr>
        <p:spPr>
          <a:xfrm>
            <a:off x="457200" y="118872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1737360"/>
          </a:xfrm>
          <a:prstGeom prst="rect">
            <a:avLst/>
          </a:prstGeom>
          <a:solidFill>
            <a:srgbClr val="39A900"/>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85800" y="1389888"/>
            <a:ext cx="411480" cy="411480"/>
          </a:xfrm>
          <a:prstGeom prst="rect">
            <a:avLst/>
          </a:prstGeom>
        </p:spPr>
      </p:pic>
      <p:sp>
        <p:nvSpPr>
          <p:cNvPr id="9" name="Text 6"/>
          <p:cNvSpPr/>
          <p:nvPr/>
        </p:nvSpPr>
        <p:spPr>
          <a:xfrm>
            <a:off x="1188720" y="1353312"/>
            <a:ext cx="3108960" cy="411480"/>
          </a:xfrm>
          <a:prstGeom prst="rect">
            <a:avLst/>
          </a:prstGeom>
          <a:noFill/>
          <a:ln/>
        </p:spPr>
        <p:txBody>
          <a:bodyPr wrap="square" lIns="0" tIns="0" rIns="0" bIns="0" rtlCol="0" anchor="ctr"/>
          <a:lstStyle/>
          <a:p>
            <a:pPr marL="0" indent="0">
              <a:buNone/>
            </a:pPr>
            <a:r>
              <a:rPr lang="en-US" sz="1600" b="1" dirty="0">
                <a:solidFill>
                  <a:srgbClr val="003057"/>
                </a:solidFill>
              </a:rPr>
              <a:t>Subred</a:t>
            </a:r>
            <a:endParaRPr lang="en-US" sz="1600" dirty="0"/>
          </a:p>
        </p:txBody>
      </p:sp>
      <p:sp>
        <p:nvSpPr>
          <p:cNvPr id="10" name="Text 7"/>
          <p:cNvSpPr/>
          <p:nvPr/>
        </p:nvSpPr>
        <p:spPr>
          <a:xfrm>
            <a:off x="685800" y="1920240"/>
            <a:ext cx="3657600" cy="914400"/>
          </a:xfrm>
          <a:prstGeom prst="rect">
            <a:avLst/>
          </a:prstGeom>
          <a:noFill/>
          <a:ln/>
        </p:spPr>
        <p:txBody>
          <a:bodyPr wrap="square" lIns="0" tIns="0" rIns="0" bIns="0" rtlCol="0" anchor="t"/>
          <a:lstStyle/>
          <a:p>
            <a:pPr marL="0" indent="0">
              <a:buNone/>
            </a:pPr>
            <a:r>
              <a:rPr lang="en-US" sz="1100" dirty="0">
                <a:solidFill>
                  <a:srgbClr val="374151"/>
                </a:solidFill>
              </a:rPr>
              <a:t>Division logica de una red IP que reduce el dominio de broadcast y mejora la seguridad y el rendimiento.</a:t>
            </a:r>
            <a:endParaRPr lang="en-US" sz="1100" dirty="0"/>
          </a:p>
        </p:txBody>
      </p:sp>
      <p:sp>
        <p:nvSpPr>
          <p:cNvPr id="11" name="Shape 8"/>
          <p:cNvSpPr/>
          <p:nvPr/>
        </p:nvSpPr>
        <p:spPr>
          <a:xfrm>
            <a:off x="4663440" y="118872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2" name="Shape 9"/>
          <p:cNvSpPr/>
          <p:nvPr/>
        </p:nvSpPr>
        <p:spPr>
          <a:xfrm>
            <a:off x="4663440" y="1188720"/>
            <a:ext cx="64008" cy="1737360"/>
          </a:xfrm>
          <a:prstGeom prst="rect">
            <a:avLst/>
          </a:prstGeom>
          <a:solidFill>
            <a:srgbClr val="E85D04"/>
          </a:solidFill>
          <a:ln/>
        </p:spPr>
        <p:txBody>
          <a:bodyPr/>
          <a:lstStyle/>
          <a:p>
            <a:endParaRPr lang="es-CO"/>
          </a:p>
        </p:txBody>
      </p:sp>
      <p:pic>
        <p:nvPicPr>
          <p:cNvPr id="13" name="Image 1" descr="preencoded.png"/>
          <p:cNvPicPr>
            <a:picLocks noChangeAspect="1"/>
          </p:cNvPicPr>
          <p:nvPr/>
        </p:nvPicPr>
        <p:blipFill>
          <a:blip r:embed="rId4"/>
          <a:stretch>
            <a:fillRect/>
          </a:stretch>
        </p:blipFill>
        <p:spPr>
          <a:xfrm>
            <a:off x="4892040" y="1389888"/>
            <a:ext cx="411480" cy="411480"/>
          </a:xfrm>
          <a:prstGeom prst="rect">
            <a:avLst/>
          </a:prstGeom>
        </p:spPr>
      </p:pic>
      <p:sp>
        <p:nvSpPr>
          <p:cNvPr id="14" name="Text 10"/>
          <p:cNvSpPr/>
          <p:nvPr/>
        </p:nvSpPr>
        <p:spPr>
          <a:xfrm>
            <a:off x="5394960" y="1353312"/>
            <a:ext cx="3108960" cy="411480"/>
          </a:xfrm>
          <a:prstGeom prst="rect">
            <a:avLst/>
          </a:prstGeom>
          <a:noFill/>
          <a:ln/>
        </p:spPr>
        <p:txBody>
          <a:bodyPr wrap="square" lIns="0" tIns="0" rIns="0" bIns="0" rtlCol="0" anchor="ctr"/>
          <a:lstStyle/>
          <a:p>
            <a:pPr marL="0" indent="0">
              <a:buNone/>
            </a:pPr>
            <a:r>
              <a:rPr lang="en-US" sz="1600" b="1" dirty="0">
                <a:solidFill>
                  <a:srgbClr val="003057"/>
                </a:solidFill>
              </a:rPr>
              <a:t>VLAN</a:t>
            </a:r>
            <a:endParaRPr lang="en-US" sz="1600" dirty="0"/>
          </a:p>
        </p:txBody>
      </p:sp>
      <p:sp>
        <p:nvSpPr>
          <p:cNvPr id="15" name="Text 11"/>
          <p:cNvSpPr/>
          <p:nvPr/>
        </p:nvSpPr>
        <p:spPr>
          <a:xfrm>
            <a:off x="4892040" y="1920240"/>
            <a:ext cx="3657600" cy="914400"/>
          </a:xfrm>
          <a:prstGeom prst="rect">
            <a:avLst/>
          </a:prstGeom>
          <a:noFill/>
          <a:ln/>
        </p:spPr>
        <p:txBody>
          <a:bodyPr wrap="square" lIns="0" tIns="0" rIns="0" bIns="0" rtlCol="0" anchor="t"/>
          <a:lstStyle/>
          <a:p>
            <a:pPr marL="0" indent="0">
              <a:buNone/>
            </a:pPr>
            <a:r>
              <a:rPr lang="en-US" sz="1100" dirty="0">
                <a:solidFill>
                  <a:srgbClr val="374151"/>
                </a:solidFill>
              </a:rPr>
              <a:t>Segmenta un switch fisico en multiples redes logicas. Los hosts en distintas VLAN no se ven sin enrutamiento.</a:t>
            </a:r>
            <a:endParaRPr lang="en-US" sz="1100" dirty="0"/>
          </a:p>
        </p:txBody>
      </p:sp>
      <p:sp>
        <p:nvSpPr>
          <p:cNvPr id="16" name="Shape 12"/>
          <p:cNvSpPr/>
          <p:nvPr/>
        </p:nvSpPr>
        <p:spPr>
          <a:xfrm>
            <a:off x="457200" y="306324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7" name="Shape 13"/>
          <p:cNvSpPr/>
          <p:nvPr/>
        </p:nvSpPr>
        <p:spPr>
          <a:xfrm>
            <a:off x="457200" y="3063240"/>
            <a:ext cx="64008" cy="1737360"/>
          </a:xfrm>
          <a:prstGeom prst="rect">
            <a:avLst/>
          </a:prstGeom>
          <a:solidFill>
            <a:srgbClr val="1A4D7A"/>
          </a:solidFill>
          <a:ln/>
        </p:spPr>
        <p:txBody>
          <a:bodyPr/>
          <a:lstStyle/>
          <a:p>
            <a:endParaRPr lang="es-CO"/>
          </a:p>
        </p:txBody>
      </p:sp>
      <p:pic>
        <p:nvPicPr>
          <p:cNvPr id="18" name="Image 2" descr="preencoded.png"/>
          <p:cNvPicPr>
            <a:picLocks noChangeAspect="1"/>
          </p:cNvPicPr>
          <p:nvPr/>
        </p:nvPicPr>
        <p:blipFill>
          <a:blip r:embed="rId5"/>
          <a:stretch>
            <a:fillRect/>
          </a:stretch>
        </p:blipFill>
        <p:spPr>
          <a:xfrm>
            <a:off x="685800" y="3264408"/>
            <a:ext cx="411480" cy="411480"/>
          </a:xfrm>
          <a:prstGeom prst="rect">
            <a:avLst/>
          </a:prstGeom>
        </p:spPr>
      </p:pic>
      <p:sp>
        <p:nvSpPr>
          <p:cNvPr id="19" name="Text 14"/>
          <p:cNvSpPr/>
          <p:nvPr/>
        </p:nvSpPr>
        <p:spPr>
          <a:xfrm>
            <a:off x="1188720" y="3227832"/>
            <a:ext cx="3108960" cy="411480"/>
          </a:xfrm>
          <a:prstGeom prst="rect">
            <a:avLst/>
          </a:prstGeom>
          <a:noFill/>
          <a:ln/>
        </p:spPr>
        <p:txBody>
          <a:bodyPr wrap="square" lIns="0" tIns="0" rIns="0" bIns="0" rtlCol="0" anchor="ctr"/>
          <a:lstStyle/>
          <a:p>
            <a:pPr marL="0" indent="0">
              <a:buNone/>
            </a:pPr>
            <a:r>
              <a:rPr lang="en-US" sz="1600" b="1" dirty="0">
                <a:solidFill>
                  <a:srgbClr val="003057"/>
                </a:solidFill>
              </a:rPr>
              <a:t>VLSM</a:t>
            </a:r>
            <a:endParaRPr lang="en-US" sz="1600" dirty="0"/>
          </a:p>
        </p:txBody>
      </p:sp>
      <p:sp>
        <p:nvSpPr>
          <p:cNvPr id="20" name="Text 15"/>
          <p:cNvSpPr/>
          <p:nvPr/>
        </p:nvSpPr>
        <p:spPr>
          <a:xfrm>
            <a:off x="685800" y="3794760"/>
            <a:ext cx="3657600" cy="914400"/>
          </a:xfrm>
          <a:prstGeom prst="rect">
            <a:avLst/>
          </a:prstGeom>
          <a:noFill/>
          <a:ln/>
        </p:spPr>
        <p:txBody>
          <a:bodyPr wrap="square" lIns="0" tIns="0" rIns="0" bIns="0" rtlCol="0" anchor="t"/>
          <a:lstStyle/>
          <a:p>
            <a:pPr marL="0" indent="0">
              <a:buNone/>
            </a:pPr>
            <a:r>
              <a:rPr lang="en-US" sz="1100" dirty="0">
                <a:solidFill>
                  <a:srgbClr val="374151"/>
                </a:solidFill>
              </a:rPr>
              <a:t>Asigna mascaras de longitud variable a cada subred: menos desperdicio de IPs cuando las VLAN tienen tamanos distintos.</a:t>
            </a:r>
            <a:endParaRPr lang="en-US" sz="1100" dirty="0"/>
          </a:p>
        </p:txBody>
      </p:sp>
      <p:sp>
        <p:nvSpPr>
          <p:cNvPr id="21" name="Shape 16"/>
          <p:cNvSpPr/>
          <p:nvPr/>
        </p:nvSpPr>
        <p:spPr>
          <a:xfrm>
            <a:off x="4663440" y="3063240"/>
            <a:ext cx="402336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2" name="Shape 17"/>
          <p:cNvSpPr/>
          <p:nvPr/>
        </p:nvSpPr>
        <p:spPr>
          <a:xfrm>
            <a:off x="4663440" y="3063240"/>
            <a:ext cx="64008" cy="1737360"/>
          </a:xfrm>
          <a:prstGeom prst="rect">
            <a:avLst/>
          </a:prstGeom>
          <a:solidFill>
            <a:srgbClr val="F59E0B"/>
          </a:solidFill>
          <a:ln/>
        </p:spPr>
        <p:txBody>
          <a:bodyPr/>
          <a:lstStyle/>
          <a:p>
            <a:endParaRPr lang="es-CO"/>
          </a:p>
        </p:txBody>
      </p:sp>
      <p:pic>
        <p:nvPicPr>
          <p:cNvPr id="23" name="Image 3" descr="preencoded.png"/>
          <p:cNvPicPr>
            <a:picLocks noChangeAspect="1"/>
          </p:cNvPicPr>
          <p:nvPr/>
        </p:nvPicPr>
        <p:blipFill>
          <a:blip r:embed="rId6"/>
          <a:stretch>
            <a:fillRect/>
          </a:stretch>
        </p:blipFill>
        <p:spPr>
          <a:xfrm>
            <a:off x="4892040" y="3264408"/>
            <a:ext cx="411480" cy="411480"/>
          </a:xfrm>
          <a:prstGeom prst="rect">
            <a:avLst/>
          </a:prstGeom>
        </p:spPr>
      </p:pic>
      <p:sp>
        <p:nvSpPr>
          <p:cNvPr id="24" name="Text 18"/>
          <p:cNvSpPr/>
          <p:nvPr/>
        </p:nvSpPr>
        <p:spPr>
          <a:xfrm>
            <a:off x="5394960" y="3227832"/>
            <a:ext cx="3108960" cy="411480"/>
          </a:xfrm>
          <a:prstGeom prst="rect">
            <a:avLst/>
          </a:prstGeom>
          <a:noFill/>
          <a:ln/>
        </p:spPr>
        <p:txBody>
          <a:bodyPr wrap="square" lIns="0" tIns="0" rIns="0" bIns="0" rtlCol="0" anchor="ctr"/>
          <a:lstStyle/>
          <a:p>
            <a:pPr marL="0" indent="0">
              <a:buNone/>
            </a:pPr>
            <a:r>
              <a:rPr lang="en-US" sz="1600" b="1" dirty="0">
                <a:solidFill>
                  <a:srgbClr val="003057"/>
                </a:solidFill>
              </a:rPr>
              <a:t>Router-on-a-stick</a:t>
            </a:r>
            <a:endParaRPr lang="en-US" sz="1600" dirty="0"/>
          </a:p>
        </p:txBody>
      </p:sp>
      <p:sp>
        <p:nvSpPr>
          <p:cNvPr id="25" name="Text 19"/>
          <p:cNvSpPr/>
          <p:nvPr/>
        </p:nvSpPr>
        <p:spPr>
          <a:xfrm>
            <a:off x="4892040" y="3794760"/>
            <a:ext cx="3657600" cy="914400"/>
          </a:xfrm>
          <a:prstGeom prst="rect">
            <a:avLst/>
          </a:prstGeom>
          <a:noFill/>
          <a:ln/>
        </p:spPr>
        <p:txBody>
          <a:bodyPr wrap="square" lIns="0" tIns="0" rIns="0" bIns="0" rtlCol="0" anchor="t"/>
          <a:lstStyle/>
          <a:p>
            <a:pPr marL="0" indent="0">
              <a:buNone/>
            </a:pPr>
            <a:r>
              <a:rPr lang="en-US" sz="1100" dirty="0">
                <a:solidFill>
                  <a:srgbClr val="374151"/>
                </a:solidFill>
              </a:rPr>
              <a:t>Un router enruta entre VLAN usando subinterfaces y un enlace troncal 802.1Q al switch.</a:t>
            </a:r>
            <a:endParaRPr lang="en-US" sz="1100" dirty="0"/>
          </a:p>
        </p:txBody>
      </p:sp>
      <p:sp>
        <p:nvSpPr>
          <p:cNvPr id="26" name="Shape 20"/>
          <p:cNvSpPr/>
          <p:nvPr/>
        </p:nvSpPr>
        <p:spPr>
          <a:xfrm>
            <a:off x="0" y="4892040"/>
            <a:ext cx="9144000" cy="256032"/>
          </a:xfrm>
          <a:prstGeom prst="rect">
            <a:avLst/>
          </a:prstGeom>
          <a:solidFill>
            <a:srgbClr val="003057"/>
          </a:solidFill>
          <a:ln/>
        </p:spPr>
        <p:txBody>
          <a:bodyPr/>
          <a:lstStyle/>
          <a:p>
            <a:endParaRPr lang="es-CO"/>
          </a:p>
        </p:txBody>
      </p:sp>
      <p:sp>
        <p:nvSpPr>
          <p:cNvPr id="27" name="Text 21"/>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28" name="Text 22"/>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6 / 20</a:t>
            </a:r>
            <a:endParaRPr lang="en-US" sz="800" dirty="0"/>
          </a:p>
        </p:txBody>
      </p:sp>
      <p:sp>
        <p:nvSpPr>
          <p:cNvPr id="29" name="Shape 23"/>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06 - DOS PROTOCOLOS, UNA SOLUCION</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IPv4 vs IPv6 en un vistazo</a:t>
            </a:r>
            <a:endParaRPr lang="en-US" sz="2400" dirty="0"/>
          </a:p>
        </p:txBody>
      </p:sp>
      <p:sp>
        <p:nvSpPr>
          <p:cNvPr id="6" name="Shape 4"/>
          <p:cNvSpPr/>
          <p:nvPr/>
        </p:nvSpPr>
        <p:spPr>
          <a:xfrm>
            <a:off x="457200" y="1188720"/>
            <a:ext cx="8229600" cy="384048"/>
          </a:xfrm>
          <a:prstGeom prst="rect">
            <a:avLst/>
          </a:prstGeom>
          <a:solidFill>
            <a:srgbClr val="003057"/>
          </a:solidFill>
          <a:ln/>
        </p:spPr>
        <p:txBody>
          <a:bodyPr/>
          <a:lstStyle/>
          <a:p>
            <a:endParaRPr lang="es-CO"/>
          </a:p>
        </p:txBody>
      </p:sp>
      <p:sp>
        <p:nvSpPr>
          <p:cNvPr id="7" name="Text 5"/>
          <p:cNvSpPr/>
          <p:nvPr/>
        </p:nvSpPr>
        <p:spPr>
          <a:xfrm>
            <a:off x="594360" y="1188720"/>
            <a:ext cx="2103120" cy="384048"/>
          </a:xfrm>
          <a:prstGeom prst="rect">
            <a:avLst/>
          </a:prstGeom>
          <a:noFill/>
          <a:ln/>
        </p:spPr>
        <p:txBody>
          <a:bodyPr wrap="square" lIns="0" tIns="0" rIns="0" bIns="0" rtlCol="0" anchor="ctr"/>
          <a:lstStyle/>
          <a:p>
            <a:pPr marL="0" indent="0">
              <a:buNone/>
            </a:pPr>
            <a:r>
              <a:rPr lang="en-US" sz="1100" b="1" dirty="0">
                <a:solidFill>
                  <a:srgbClr val="FFFFFF"/>
                </a:solidFill>
              </a:rPr>
              <a:t>Caracteristica</a:t>
            </a:r>
            <a:endParaRPr lang="en-US" sz="1100" dirty="0"/>
          </a:p>
        </p:txBody>
      </p:sp>
      <p:sp>
        <p:nvSpPr>
          <p:cNvPr id="8" name="Text 6"/>
          <p:cNvSpPr/>
          <p:nvPr/>
        </p:nvSpPr>
        <p:spPr>
          <a:xfrm>
            <a:off x="2743200" y="1188720"/>
            <a:ext cx="2743200" cy="384048"/>
          </a:xfrm>
          <a:prstGeom prst="rect">
            <a:avLst/>
          </a:prstGeom>
          <a:noFill/>
          <a:ln/>
        </p:spPr>
        <p:txBody>
          <a:bodyPr wrap="square" lIns="0" tIns="0" rIns="0" bIns="0" rtlCol="0" anchor="ctr"/>
          <a:lstStyle/>
          <a:p>
            <a:pPr marL="0" indent="0">
              <a:buNone/>
            </a:pPr>
            <a:r>
              <a:rPr lang="en-US" sz="1100" b="1" dirty="0">
                <a:solidFill>
                  <a:srgbClr val="FFFFFF"/>
                </a:solidFill>
              </a:rPr>
              <a:t>IPv4</a:t>
            </a:r>
            <a:endParaRPr lang="en-US" sz="1100" dirty="0"/>
          </a:p>
        </p:txBody>
      </p:sp>
      <p:sp>
        <p:nvSpPr>
          <p:cNvPr id="9" name="Text 7"/>
          <p:cNvSpPr/>
          <p:nvPr/>
        </p:nvSpPr>
        <p:spPr>
          <a:xfrm>
            <a:off x="5669280" y="1188720"/>
            <a:ext cx="2926080" cy="384048"/>
          </a:xfrm>
          <a:prstGeom prst="rect">
            <a:avLst/>
          </a:prstGeom>
          <a:noFill/>
          <a:ln/>
        </p:spPr>
        <p:txBody>
          <a:bodyPr wrap="square" lIns="0" tIns="0" rIns="0" bIns="0" rtlCol="0" anchor="ctr"/>
          <a:lstStyle/>
          <a:p>
            <a:pPr marL="0" indent="0">
              <a:buNone/>
            </a:pPr>
            <a:r>
              <a:rPr lang="en-US" sz="1100" b="1" dirty="0">
                <a:solidFill>
                  <a:srgbClr val="FFFFFF"/>
                </a:solidFill>
              </a:rPr>
              <a:t>IPv6</a:t>
            </a:r>
            <a:endParaRPr lang="en-US" sz="1100" dirty="0"/>
          </a:p>
        </p:txBody>
      </p:sp>
      <p:sp>
        <p:nvSpPr>
          <p:cNvPr id="10" name="Shape 8"/>
          <p:cNvSpPr/>
          <p:nvPr/>
        </p:nvSpPr>
        <p:spPr>
          <a:xfrm>
            <a:off x="457200" y="1572768"/>
            <a:ext cx="8229600" cy="429768"/>
          </a:xfrm>
          <a:prstGeom prst="rect">
            <a:avLst/>
          </a:prstGeom>
          <a:solidFill>
            <a:srgbClr val="FFFFFF"/>
          </a:solidFill>
          <a:ln/>
        </p:spPr>
        <p:txBody>
          <a:bodyPr/>
          <a:lstStyle/>
          <a:p>
            <a:endParaRPr lang="es-CO"/>
          </a:p>
        </p:txBody>
      </p:sp>
      <p:sp>
        <p:nvSpPr>
          <p:cNvPr id="11" name="Text 9"/>
          <p:cNvSpPr/>
          <p:nvPr/>
        </p:nvSpPr>
        <p:spPr>
          <a:xfrm>
            <a:off x="594360" y="1572768"/>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Longitud</a:t>
            </a:r>
            <a:endParaRPr lang="en-US" sz="1000" dirty="0"/>
          </a:p>
        </p:txBody>
      </p:sp>
      <p:sp>
        <p:nvSpPr>
          <p:cNvPr id="12" name="Text 10"/>
          <p:cNvSpPr/>
          <p:nvPr/>
        </p:nvSpPr>
        <p:spPr>
          <a:xfrm>
            <a:off x="2743200" y="1572768"/>
            <a:ext cx="2834640" cy="429768"/>
          </a:xfrm>
          <a:prstGeom prst="rect">
            <a:avLst/>
          </a:prstGeom>
          <a:noFill/>
          <a:ln/>
        </p:spPr>
        <p:txBody>
          <a:bodyPr wrap="square" lIns="0" tIns="0" rIns="0" bIns="0" rtlCol="0" anchor="ctr"/>
          <a:lstStyle/>
          <a:p>
            <a:pPr marL="0" indent="0">
              <a:buNone/>
            </a:pPr>
            <a:r>
              <a:rPr lang="en-US" sz="1000" dirty="0">
                <a:solidFill>
                  <a:srgbClr val="374151"/>
                </a:solidFill>
              </a:rPr>
              <a:t>32 bits (4 octetos)</a:t>
            </a:r>
            <a:endParaRPr lang="en-US" sz="1000" dirty="0"/>
          </a:p>
        </p:txBody>
      </p:sp>
      <p:sp>
        <p:nvSpPr>
          <p:cNvPr id="13" name="Text 11"/>
          <p:cNvSpPr/>
          <p:nvPr/>
        </p:nvSpPr>
        <p:spPr>
          <a:xfrm>
            <a:off x="5669280" y="1572768"/>
            <a:ext cx="2926080" cy="429768"/>
          </a:xfrm>
          <a:prstGeom prst="rect">
            <a:avLst/>
          </a:prstGeom>
          <a:noFill/>
          <a:ln/>
        </p:spPr>
        <p:txBody>
          <a:bodyPr wrap="square" lIns="0" tIns="0" rIns="0" bIns="0" rtlCol="0" anchor="ctr"/>
          <a:lstStyle/>
          <a:p>
            <a:pPr marL="0" indent="0">
              <a:buNone/>
            </a:pPr>
            <a:r>
              <a:rPr lang="en-US" sz="1000" dirty="0">
                <a:solidFill>
                  <a:srgbClr val="374151"/>
                </a:solidFill>
              </a:rPr>
              <a:t>128 bits (8 grupos de 16 bits)</a:t>
            </a:r>
            <a:endParaRPr lang="en-US" sz="1000" dirty="0"/>
          </a:p>
        </p:txBody>
      </p:sp>
      <p:sp>
        <p:nvSpPr>
          <p:cNvPr id="14" name="Shape 12"/>
          <p:cNvSpPr/>
          <p:nvPr/>
        </p:nvSpPr>
        <p:spPr>
          <a:xfrm>
            <a:off x="457200" y="2002536"/>
            <a:ext cx="8229600" cy="429768"/>
          </a:xfrm>
          <a:prstGeom prst="rect">
            <a:avLst/>
          </a:prstGeom>
          <a:solidFill>
            <a:srgbClr val="FAFBFC"/>
          </a:solidFill>
          <a:ln/>
        </p:spPr>
        <p:txBody>
          <a:bodyPr/>
          <a:lstStyle/>
          <a:p>
            <a:endParaRPr lang="es-CO"/>
          </a:p>
        </p:txBody>
      </p:sp>
      <p:sp>
        <p:nvSpPr>
          <p:cNvPr id="15" name="Text 13"/>
          <p:cNvSpPr/>
          <p:nvPr/>
        </p:nvSpPr>
        <p:spPr>
          <a:xfrm>
            <a:off x="594360" y="2002536"/>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Formato</a:t>
            </a:r>
            <a:endParaRPr lang="en-US" sz="1000" dirty="0"/>
          </a:p>
        </p:txBody>
      </p:sp>
      <p:sp>
        <p:nvSpPr>
          <p:cNvPr id="16" name="Text 14"/>
          <p:cNvSpPr/>
          <p:nvPr/>
        </p:nvSpPr>
        <p:spPr>
          <a:xfrm>
            <a:off x="2743200" y="2002536"/>
            <a:ext cx="2834640" cy="429768"/>
          </a:xfrm>
          <a:prstGeom prst="rect">
            <a:avLst/>
          </a:prstGeom>
          <a:noFill/>
          <a:ln/>
        </p:spPr>
        <p:txBody>
          <a:bodyPr wrap="square" lIns="0" tIns="0" rIns="0" bIns="0" rtlCol="0" anchor="ctr"/>
          <a:lstStyle/>
          <a:p>
            <a:pPr marL="0" indent="0">
              <a:buNone/>
            </a:pPr>
            <a:r>
              <a:rPr lang="en-US" sz="1000" dirty="0">
                <a:solidFill>
                  <a:srgbClr val="374151"/>
                </a:solidFill>
              </a:rPr>
              <a:t>Decimal punteado - 192.168.1.1</a:t>
            </a:r>
            <a:endParaRPr lang="en-US" sz="1000" dirty="0"/>
          </a:p>
        </p:txBody>
      </p:sp>
      <p:sp>
        <p:nvSpPr>
          <p:cNvPr id="17" name="Text 15"/>
          <p:cNvSpPr/>
          <p:nvPr/>
        </p:nvSpPr>
        <p:spPr>
          <a:xfrm>
            <a:off x="5669280" y="2002536"/>
            <a:ext cx="2926080" cy="429768"/>
          </a:xfrm>
          <a:prstGeom prst="rect">
            <a:avLst/>
          </a:prstGeom>
          <a:noFill/>
          <a:ln/>
        </p:spPr>
        <p:txBody>
          <a:bodyPr wrap="square" lIns="0" tIns="0" rIns="0" bIns="0" rtlCol="0" anchor="ctr"/>
          <a:lstStyle/>
          <a:p>
            <a:pPr marL="0" indent="0">
              <a:buNone/>
            </a:pPr>
            <a:r>
              <a:rPr lang="en-US" sz="1000" dirty="0">
                <a:solidFill>
                  <a:srgbClr val="374151"/>
                </a:solidFill>
              </a:rPr>
              <a:t>Hexadecimal - 2001:DB8:ACAD::1</a:t>
            </a:r>
            <a:endParaRPr lang="en-US" sz="1000" dirty="0"/>
          </a:p>
        </p:txBody>
      </p:sp>
      <p:sp>
        <p:nvSpPr>
          <p:cNvPr id="18" name="Shape 16"/>
          <p:cNvSpPr/>
          <p:nvPr/>
        </p:nvSpPr>
        <p:spPr>
          <a:xfrm>
            <a:off x="457200" y="2432304"/>
            <a:ext cx="8229600" cy="429768"/>
          </a:xfrm>
          <a:prstGeom prst="rect">
            <a:avLst/>
          </a:prstGeom>
          <a:solidFill>
            <a:srgbClr val="FFFFFF"/>
          </a:solidFill>
          <a:ln/>
        </p:spPr>
        <p:txBody>
          <a:bodyPr/>
          <a:lstStyle/>
          <a:p>
            <a:endParaRPr lang="es-CO"/>
          </a:p>
        </p:txBody>
      </p:sp>
      <p:sp>
        <p:nvSpPr>
          <p:cNvPr id="19" name="Text 17"/>
          <p:cNvSpPr/>
          <p:nvPr/>
        </p:nvSpPr>
        <p:spPr>
          <a:xfrm>
            <a:off x="594360" y="2432304"/>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Espacio</a:t>
            </a:r>
            <a:endParaRPr lang="en-US" sz="1000" dirty="0"/>
          </a:p>
        </p:txBody>
      </p:sp>
      <p:sp>
        <p:nvSpPr>
          <p:cNvPr id="20" name="Text 18"/>
          <p:cNvSpPr/>
          <p:nvPr/>
        </p:nvSpPr>
        <p:spPr>
          <a:xfrm>
            <a:off x="2743200" y="2432304"/>
            <a:ext cx="2834640" cy="429768"/>
          </a:xfrm>
          <a:prstGeom prst="rect">
            <a:avLst/>
          </a:prstGeom>
          <a:noFill/>
          <a:ln/>
        </p:spPr>
        <p:txBody>
          <a:bodyPr wrap="square" lIns="0" tIns="0" rIns="0" bIns="0" rtlCol="0" anchor="ctr"/>
          <a:lstStyle/>
          <a:p>
            <a:pPr marL="0" indent="0">
              <a:buNone/>
            </a:pPr>
            <a:r>
              <a:rPr lang="en-US" sz="1000" dirty="0">
                <a:solidFill>
                  <a:srgbClr val="374151"/>
                </a:solidFill>
              </a:rPr>
              <a:t>~4.3 mil millones de IPs</a:t>
            </a:r>
            <a:endParaRPr lang="en-US" sz="1000" dirty="0"/>
          </a:p>
        </p:txBody>
      </p:sp>
      <p:sp>
        <p:nvSpPr>
          <p:cNvPr id="21" name="Text 19"/>
          <p:cNvSpPr/>
          <p:nvPr/>
        </p:nvSpPr>
        <p:spPr>
          <a:xfrm>
            <a:off x="5669280" y="2432304"/>
            <a:ext cx="2926080" cy="429768"/>
          </a:xfrm>
          <a:prstGeom prst="rect">
            <a:avLst/>
          </a:prstGeom>
          <a:noFill/>
          <a:ln/>
        </p:spPr>
        <p:txBody>
          <a:bodyPr wrap="square" lIns="0" tIns="0" rIns="0" bIns="0" rtlCol="0" anchor="ctr"/>
          <a:lstStyle/>
          <a:p>
            <a:pPr marL="0" indent="0">
              <a:buNone/>
            </a:pPr>
            <a:r>
              <a:rPr lang="en-US" sz="1000" dirty="0">
                <a:solidFill>
                  <a:srgbClr val="374151"/>
                </a:solidFill>
              </a:rPr>
              <a:t>3.4 x 10^38 direcciones</a:t>
            </a:r>
            <a:endParaRPr lang="en-US" sz="1000" dirty="0"/>
          </a:p>
        </p:txBody>
      </p:sp>
      <p:sp>
        <p:nvSpPr>
          <p:cNvPr id="22" name="Shape 20"/>
          <p:cNvSpPr/>
          <p:nvPr/>
        </p:nvSpPr>
        <p:spPr>
          <a:xfrm>
            <a:off x="457200" y="2862072"/>
            <a:ext cx="8229600" cy="429768"/>
          </a:xfrm>
          <a:prstGeom prst="rect">
            <a:avLst/>
          </a:prstGeom>
          <a:solidFill>
            <a:srgbClr val="FAFBFC"/>
          </a:solidFill>
          <a:ln/>
        </p:spPr>
        <p:txBody>
          <a:bodyPr/>
          <a:lstStyle/>
          <a:p>
            <a:endParaRPr lang="es-CO"/>
          </a:p>
        </p:txBody>
      </p:sp>
      <p:sp>
        <p:nvSpPr>
          <p:cNvPr id="23" name="Text 21"/>
          <p:cNvSpPr/>
          <p:nvPr/>
        </p:nvSpPr>
        <p:spPr>
          <a:xfrm>
            <a:off x="594360" y="2862072"/>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Mascara</a:t>
            </a:r>
            <a:endParaRPr lang="en-US" sz="1000" dirty="0"/>
          </a:p>
        </p:txBody>
      </p:sp>
      <p:sp>
        <p:nvSpPr>
          <p:cNvPr id="24" name="Text 22"/>
          <p:cNvSpPr/>
          <p:nvPr/>
        </p:nvSpPr>
        <p:spPr>
          <a:xfrm>
            <a:off x="2743200" y="2862072"/>
            <a:ext cx="2834640" cy="429768"/>
          </a:xfrm>
          <a:prstGeom prst="rect">
            <a:avLst/>
          </a:prstGeom>
          <a:noFill/>
          <a:ln/>
        </p:spPr>
        <p:txBody>
          <a:bodyPr wrap="square" lIns="0" tIns="0" rIns="0" bIns="0" rtlCol="0" anchor="ctr"/>
          <a:lstStyle/>
          <a:p>
            <a:pPr marL="0" indent="0">
              <a:buNone/>
            </a:pPr>
            <a:r>
              <a:rPr lang="en-US" sz="1000" dirty="0">
                <a:solidFill>
                  <a:srgbClr val="374151"/>
                </a:solidFill>
              </a:rPr>
              <a:t>/24, /25, /26 ...</a:t>
            </a:r>
            <a:endParaRPr lang="en-US" sz="1000" dirty="0"/>
          </a:p>
        </p:txBody>
      </p:sp>
      <p:sp>
        <p:nvSpPr>
          <p:cNvPr id="25" name="Text 23"/>
          <p:cNvSpPr/>
          <p:nvPr/>
        </p:nvSpPr>
        <p:spPr>
          <a:xfrm>
            <a:off x="5669280" y="2862072"/>
            <a:ext cx="2926080" cy="429768"/>
          </a:xfrm>
          <a:prstGeom prst="rect">
            <a:avLst/>
          </a:prstGeom>
          <a:noFill/>
          <a:ln/>
        </p:spPr>
        <p:txBody>
          <a:bodyPr wrap="square" lIns="0" tIns="0" rIns="0" bIns="0" rtlCol="0" anchor="ctr"/>
          <a:lstStyle/>
          <a:p>
            <a:pPr marL="0" indent="0">
              <a:buNone/>
            </a:pPr>
            <a:r>
              <a:rPr lang="en-US" sz="1000" dirty="0">
                <a:solidFill>
                  <a:srgbClr val="374151"/>
                </a:solidFill>
              </a:rPr>
              <a:t>Prefijo /64 tipico por subred</a:t>
            </a:r>
            <a:endParaRPr lang="en-US" sz="1000" dirty="0"/>
          </a:p>
        </p:txBody>
      </p:sp>
      <p:sp>
        <p:nvSpPr>
          <p:cNvPr id="26" name="Shape 24"/>
          <p:cNvSpPr/>
          <p:nvPr/>
        </p:nvSpPr>
        <p:spPr>
          <a:xfrm>
            <a:off x="457200" y="3291840"/>
            <a:ext cx="8229600" cy="429768"/>
          </a:xfrm>
          <a:prstGeom prst="rect">
            <a:avLst/>
          </a:prstGeom>
          <a:solidFill>
            <a:srgbClr val="FFFFFF"/>
          </a:solidFill>
          <a:ln/>
        </p:spPr>
        <p:txBody>
          <a:bodyPr/>
          <a:lstStyle/>
          <a:p>
            <a:endParaRPr lang="es-CO"/>
          </a:p>
        </p:txBody>
      </p:sp>
      <p:sp>
        <p:nvSpPr>
          <p:cNvPr id="27" name="Text 25"/>
          <p:cNvSpPr/>
          <p:nvPr/>
        </p:nvSpPr>
        <p:spPr>
          <a:xfrm>
            <a:off x="594360" y="3291840"/>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Configuracion</a:t>
            </a:r>
            <a:endParaRPr lang="en-US" sz="1000" dirty="0"/>
          </a:p>
        </p:txBody>
      </p:sp>
      <p:sp>
        <p:nvSpPr>
          <p:cNvPr id="28" name="Text 26"/>
          <p:cNvSpPr/>
          <p:nvPr/>
        </p:nvSpPr>
        <p:spPr>
          <a:xfrm>
            <a:off x="2743200" y="3291840"/>
            <a:ext cx="2834640" cy="429768"/>
          </a:xfrm>
          <a:prstGeom prst="rect">
            <a:avLst/>
          </a:prstGeom>
          <a:noFill/>
          <a:ln/>
        </p:spPr>
        <p:txBody>
          <a:bodyPr wrap="square" lIns="0" tIns="0" rIns="0" bIns="0" rtlCol="0" anchor="ctr"/>
          <a:lstStyle/>
          <a:p>
            <a:pPr marL="0" indent="0">
              <a:buNone/>
            </a:pPr>
            <a:r>
              <a:rPr lang="en-US" sz="1000" dirty="0">
                <a:solidFill>
                  <a:srgbClr val="374151"/>
                </a:solidFill>
              </a:rPr>
              <a:t>Manual o DHCP</a:t>
            </a:r>
            <a:endParaRPr lang="en-US" sz="1000" dirty="0"/>
          </a:p>
        </p:txBody>
      </p:sp>
      <p:sp>
        <p:nvSpPr>
          <p:cNvPr id="29" name="Text 27"/>
          <p:cNvSpPr/>
          <p:nvPr/>
        </p:nvSpPr>
        <p:spPr>
          <a:xfrm>
            <a:off x="5669280" y="3291840"/>
            <a:ext cx="2926080" cy="429768"/>
          </a:xfrm>
          <a:prstGeom prst="rect">
            <a:avLst/>
          </a:prstGeom>
          <a:noFill/>
          <a:ln/>
        </p:spPr>
        <p:txBody>
          <a:bodyPr wrap="square" lIns="0" tIns="0" rIns="0" bIns="0" rtlCol="0" anchor="ctr"/>
          <a:lstStyle/>
          <a:p>
            <a:pPr marL="0" indent="0">
              <a:buNone/>
            </a:pPr>
            <a:r>
              <a:rPr lang="en-US" sz="1000" dirty="0">
                <a:solidFill>
                  <a:srgbClr val="374151"/>
                </a:solidFill>
              </a:rPr>
              <a:t>SLAAC, DHCPv6 o manual</a:t>
            </a:r>
            <a:endParaRPr lang="en-US" sz="1000" dirty="0"/>
          </a:p>
        </p:txBody>
      </p:sp>
      <p:sp>
        <p:nvSpPr>
          <p:cNvPr id="30" name="Shape 28"/>
          <p:cNvSpPr/>
          <p:nvPr/>
        </p:nvSpPr>
        <p:spPr>
          <a:xfrm>
            <a:off x="457200" y="3721608"/>
            <a:ext cx="8229600" cy="429768"/>
          </a:xfrm>
          <a:prstGeom prst="rect">
            <a:avLst/>
          </a:prstGeom>
          <a:solidFill>
            <a:srgbClr val="FAFBFC"/>
          </a:solidFill>
          <a:ln/>
        </p:spPr>
        <p:txBody>
          <a:bodyPr/>
          <a:lstStyle/>
          <a:p>
            <a:endParaRPr lang="es-CO"/>
          </a:p>
        </p:txBody>
      </p:sp>
      <p:sp>
        <p:nvSpPr>
          <p:cNvPr id="31" name="Text 29"/>
          <p:cNvSpPr/>
          <p:nvPr/>
        </p:nvSpPr>
        <p:spPr>
          <a:xfrm>
            <a:off x="594360" y="3721608"/>
            <a:ext cx="2103120" cy="429768"/>
          </a:xfrm>
          <a:prstGeom prst="rect">
            <a:avLst/>
          </a:prstGeom>
          <a:noFill/>
          <a:ln/>
        </p:spPr>
        <p:txBody>
          <a:bodyPr wrap="square" lIns="0" tIns="0" rIns="0" bIns="0" rtlCol="0" anchor="ctr"/>
          <a:lstStyle/>
          <a:p>
            <a:pPr marL="0" indent="0">
              <a:buNone/>
            </a:pPr>
            <a:r>
              <a:rPr lang="en-US" sz="1000" b="1" dirty="0">
                <a:solidFill>
                  <a:srgbClr val="003057"/>
                </a:solidFill>
              </a:rPr>
              <a:t>Loopback</a:t>
            </a:r>
            <a:endParaRPr lang="en-US" sz="1000" dirty="0"/>
          </a:p>
        </p:txBody>
      </p:sp>
      <p:sp>
        <p:nvSpPr>
          <p:cNvPr id="32" name="Text 30"/>
          <p:cNvSpPr/>
          <p:nvPr/>
        </p:nvSpPr>
        <p:spPr>
          <a:xfrm>
            <a:off x="2743200" y="3721608"/>
            <a:ext cx="2834640" cy="429768"/>
          </a:xfrm>
          <a:prstGeom prst="rect">
            <a:avLst/>
          </a:prstGeom>
          <a:noFill/>
          <a:ln/>
        </p:spPr>
        <p:txBody>
          <a:bodyPr wrap="square" lIns="0" tIns="0" rIns="0" bIns="0" rtlCol="0" anchor="ctr"/>
          <a:lstStyle/>
          <a:p>
            <a:pPr marL="0" indent="0">
              <a:buNone/>
            </a:pPr>
            <a:r>
              <a:rPr lang="en-US" sz="1000" dirty="0">
                <a:solidFill>
                  <a:srgbClr val="374151"/>
                </a:solidFill>
              </a:rPr>
              <a:t>127.0.0.1</a:t>
            </a:r>
            <a:endParaRPr lang="en-US" sz="1000" dirty="0"/>
          </a:p>
        </p:txBody>
      </p:sp>
      <p:sp>
        <p:nvSpPr>
          <p:cNvPr id="33" name="Text 31"/>
          <p:cNvSpPr/>
          <p:nvPr/>
        </p:nvSpPr>
        <p:spPr>
          <a:xfrm>
            <a:off x="5669280" y="3721608"/>
            <a:ext cx="2926080" cy="429768"/>
          </a:xfrm>
          <a:prstGeom prst="rect">
            <a:avLst/>
          </a:prstGeom>
          <a:noFill/>
          <a:ln/>
        </p:spPr>
        <p:txBody>
          <a:bodyPr wrap="square" lIns="0" tIns="0" rIns="0" bIns="0" rtlCol="0" anchor="ctr"/>
          <a:lstStyle/>
          <a:p>
            <a:pPr marL="0" indent="0">
              <a:buNone/>
            </a:pPr>
            <a:r>
              <a:rPr lang="en-US" sz="1000" dirty="0">
                <a:solidFill>
                  <a:srgbClr val="374151"/>
                </a:solidFill>
              </a:rPr>
              <a:t>::1</a:t>
            </a:r>
            <a:endParaRPr lang="en-US" sz="1000" dirty="0"/>
          </a:p>
        </p:txBody>
      </p:sp>
      <p:sp>
        <p:nvSpPr>
          <p:cNvPr id="34" name="Shape 32"/>
          <p:cNvSpPr/>
          <p:nvPr/>
        </p:nvSpPr>
        <p:spPr>
          <a:xfrm>
            <a:off x="0" y="4892040"/>
            <a:ext cx="9144000" cy="256032"/>
          </a:xfrm>
          <a:prstGeom prst="rect">
            <a:avLst/>
          </a:prstGeom>
          <a:solidFill>
            <a:srgbClr val="003057"/>
          </a:solidFill>
          <a:ln/>
        </p:spPr>
        <p:txBody>
          <a:bodyPr/>
          <a:lstStyle/>
          <a:p>
            <a:endParaRPr lang="es-CO"/>
          </a:p>
        </p:txBody>
      </p:sp>
      <p:sp>
        <p:nvSpPr>
          <p:cNvPr id="35" name="Text 33"/>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36" name="Text 34"/>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7 / 20</a:t>
            </a:r>
            <a:endParaRPr lang="en-US" sz="800" dirty="0"/>
          </a:p>
        </p:txBody>
      </p:sp>
      <p:sp>
        <p:nvSpPr>
          <p:cNvPr id="37" name="Shape 35"/>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07 - HOJA DE RUTA</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Ruta del tutorial paso a paso</a:t>
            </a:r>
            <a:endParaRPr lang="en-US" sz="2400" dirty="0"/>
          </a:p>
        </p:txBody>
      </p:sp>
      <p:sp>
        <p:nvSpPr>
          <p:cNvPr id="6" name="Shape 4"/>
          <p:cNvSpPr/>
          <p:nvPr/>
        </p:nvSpPr>
        <p:spPr>
          <a:xfrm>
            <a:off x="457200" y="118872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1572768" cy="411480"/>
          </a:xfrm>
          <a:prstGeom prst="rect">
            <a:avLst/>
          </a:prstGeom>
          <a:solidFill>
            <a:srgbClr val="39A900"/>
          </a:solidFill>
          <a:ln/>
        </p:spPr>
        <p:txBody>
          <a:bodyPr/>
          <a:lstStyle/>
          <a:p>
            <a:endParaRPr lang="es-CO"/>
          </a:p>
        </p:txBody>
      </p:sp>
      <p:sp>
        <p:nvSpPr>
          <p:cNvPr id="8" name="Text 6"/>
          <p:cNvSpPr/>
          <p:nvPr/>
        </p:nvSpPr>
        <p:spPr>
          <a:xfrm>
            <a:off x="457200" y="118872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1</a:t>
            </a:r>
            <a:endParaRPr lang="en-US" sz="1100" dirty="0"/>
          </a:p>
        </p:txBody>
      </p:sp>
      <p:sp>
        <p:nvSpPr>
          <p:cNvPr id="9" name="Text 7"/>
          <p:cNvSpPr/>
          <p:nvPr/>
        </p:nvSpPr>
        <p:spPr>
          <a:xfrm>
            <a:off x="548640" y="169164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Descargar Packet Tracer</a:t>
            </a:r>
            <a:endParaRPr lang="en-US" sz="1100" dirty="0"/>
          </a:p>
        </p:txBody>
      </p:sp>
      <p:sp>
        <p:nvSpPr>
          <p:cNvPr id="10" name="Shape 8"/>
          <p:cNvSpPr/>
          <p:nvPr/>
        </p:nvSpPr>
        <p:spPr>
          <a:xfrm>
            <a:off x="2139696" y="118872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1" name="Shape 9"/>
          <p:cNvSpPr/>
          <p:nvPr/>
        </p:nvSpPr>
        <p:spPr>
          <a:xfrm>
            <a:off x="2139696" y="1188720"/>
            <a:ext cx="1572768" cy="411480"/>
          </a:xfrm>
          <a:prstGeom prst="rect">
            <a:avLst/>
          </a:prstGeom>
          <a:solidFill>
            <a:srgbClr val="E85D04"/>
          </a:solidFill>
          <a:ln/>
        </p:spPr>
        <p:txBody>
          <a:bodyPr/>
          <a:lstStyle/>
          <a:p>
            <a:endParaRPr lang="es-CO"/>
          </a:p>
        </p:txBody>
      </p:sp>
      <p:sp>
        <p:nvSpPr>
          <p:cNvPr id="12" name="Text 10"/>
          <p:cNvSpPr/>
          <p:nvPr/>
        </p:nvSpPr>
        <p:spPr>
          <a:xfrm>
            <a:off x="2139696" y="118872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2</a:t>
            </a:r>
            <a:endParaRPr lang="en-US" sz="1100" dirty="0"/>
          </a:p>
        </p:txBody>
      </p:sp>
      <p:sp>
        <p:nvSpPr>
          <p:cNvPr id="13" name="Text 11"/>
          <p:cNvSpPr/>
          <p:nvPr/>
        </p:nvSpPr>
        <p:spPr>
          <a:xfrm>
            <a:off x="2231136" y="169164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Diseno IPv4 con VLSM</a:t>
            </a:r>
            <a:endParaRPr lang="en-US" sz="1100" dirty="0"/>
          </a:p>
        </p:txBody>
      </p:sp>
      <p:sp>
        <p:nvSpPr>
          <p:cNvPr id="14" name="Shape 12"/>
          <p:cNvSpPr/>
          <p:nvPr/>
        </p:nvSpPr>
        <p:spPr>
          <a:xfrm>
            <a:off x="3822192" y="118872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5" name="Shape 13"/>
          <p:cNvSpPr/>
          <p:nvPr/>
        </p:nvSpPr>
        <p:spPr>
          <a:xfrm>
            <a:off x="3822192" y="1188720"/>
            <a:ext cx="1572768" cy="411480"/>
          </a:xfrm>
          <a:prstGeom prst="rect">
            <a:avLst/>
          </a:prstGeom>
          <a:solidFill>
            <a:srgbClr val="1A4D7A"/>
          </a:solidFill>
          <a:ln/>
        </p:spPr>
        <p:txBody>
          <a:bodyPr/>
          <a:lstStyle/>
          <a:p>
            <a:endParaRPr lang="es-CO"/>
          </a:p>
        </p:txBody>
      </p:sp>
      <p:sp>
        <p:nvSpPr>
          <p:cNvPr id="16" name="Text 14"/>
          <p:cNvSpPr/>
          <p:nvPr/>
        </p:nvSpPr>
        <p:spPr>
          <a:xfrm>
            <a:off x="3822192" y="118872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3</a:t>
            </a:r>
            <a:endParaRPr lang="en-US" sz="1100" dirty="0"/>
          </a:p>
        </p:txBody>
      </p:sp>
      <p:sp>
        <p:nvSpPr>
          <p:cNvPr id="17" name="Text 15"/>
          <p:cNvSpPr/>
          <p:nvPr/>
        </p:nvSpPr>
        <p:spPr>
          <a:xfrm>
            <a:off x="3913632" y="169164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Diseno IPv6</a:t>
            </a:r>
            <a:endParaRPr lang="en-US" sz="1100" dirty="0"/>
          </a:p>
        </p:txBody>
      </p:sp>
      <p:sp>
        <p:nvSpPr>
          <p:cNvPr id="18" name="Shape 16"/>
          <p:cNvSpPr/>
          <p:nvPr/>
        </p:nvSpPr>
        <p:spPr>
          <a:xfrm>
            <a:off x="5504688" y="118872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9" name="Shape 17"/>
          <p:cNvSpPr/>
          <p:nvPr/>
        </p:nvSpPr>
        <p:spPr>
          <a:xfrm>
            <a:off x="5504688" y="1188720"/>
            <a:ext cx="1572768" cy="411480"/>
          </a:xfrm>
          <a:prstGeom prst="rect">
            <a:avLst/>
          </a:prstGeom>
          <a:solidFill>
            <a:srgbClr val="F59E0B"/>
          </a:solidFill>
          <a:ln/>
        </p:spPr>
        <p:txBody>
          <a:bodyPr/>
          <a:lstStyle/>
          <a:p>
            <a:endParaRPr lang="es-CO"/>
          </a:p>
        </p:txBody>
      </p:sp>
      <p:sp>
        <p:nvSpPr>
          <p:cNvPr id="20" name="Text 18"/>
          <p:cNvSpPr/>
          <p:nvPr/>
        </p:nvSpPr>
        <p:spPr>
          <a:xfrm>
            <a:off x="5504688" y="118872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4</a:t>
            </a:r>
            <a:endParaRPr lang="en-US" sz="1100" dirty="0"/>
          </a:p>
        </p:txBody>
      </p:sp>
      <p:sp>
        <p:nvSpPr>
          <p:cNvPr id="21" name="Text 19"/>
          <p:cNvSpPr/>
          <p:nvPr/>
        </p:nvSpPr>
        <p:spPr>
          <a:xfrm>
            <a:off x="5596128" y="169164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Topologia en Packet Tracer</a:t>
            </a:r>
            <a:endParaRPr lang="en-US" sz="1100" dirty="0"/>
          </a:p>
        </p:txBody>
      </p:sp>
      <p:sp>
        <p:nvSpPr>
          <p:cNvPr id="22" name="Shape 20"/>
          <p:cNvSpPr/>
          <p:nvPr/>
        </p:nvSpPr>
        <p:spPr>
          <a:xfrm>
            <a:off x="7187184" y="118872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3" name="Shape 21"/>
          <p:cNvSpPr/>
          <p:nvPr/>
        </p:nvSpPr>
        <p:spPr>
          <a:xfrm>
            <a:off x="7187184" y="1188720"/>
            <a:ext cx="1572768" cy="411480"/>
          </a:xfrm>
          <a:prstGeom prst="rect">
            <a:avLst/>
          </a:prstGeom>
          <a:solidFill>
            <a:srgbClr val="2ECC71"/>
          </a:solidFill>
          <a:ln/>
        </p:spPr>
        <p:txBody>
          <a:bodyPr/>
          <a:lstStyle/>
          <a:p>
            <a:endParaRPr lang="es-CO"/>
          </a:p>
        </p:txBody>
      </p:sp>
      <p:sp>
        <p:nvSpPr>
          <p:cNvPr id="24" name="Text 22"/>
          <p:cNvSpPr/>
          <p:nvPr/>
        </p:nvSpPr>
        <p:spPr>
          <a:xfrm>
            <a:off x="7187184" y="118872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5</a:t>
            </a:r>
            <a:endParaRPr lang="en-US" sz="1100" dirty="0"/>
          </a:p>
        </p:txBody>
      </p:sp>
      <p:sp>
        <p:nvSpPr>
          <p:cNvPr id="25" name="Text 23"/>
          <p:cNvSpPr/>
          <p:nvPr/>
        </p:nvSpPr>
        <p:spPr>
          <a:xfrm>
            <a:off x="7278624" y="169164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Configurar VLAN en switch</a:t>
            </a:r>
            <a:endParaRPr lang="en-US" sz="1100" dirty="0"/>
          </a:p>
        </p:txBody>
      </p:sp>
      <p:sp>
        <p:nvSpPr>
          <p:cNvPr id="26" name="Shape 24"/>
          <p:cNvSpPr/>
          <p:nvPr/>
        </p:nvSpPr>
        <p:spPr>
          <a:xfrm>
            <a:off x="457200" y="292608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7" name="Shape 25"/>
          <p:cNvSpPr/>
          <p:nvPr/>
        </p:nvSpPr>
        <p:spPr>
          <a:xfrm>
            <a:off x="457200" y="2926080"/>
            <a:ext cx="1572768" cy="411480"/>
          </a:xfrm>
          <a:prstGeom prst="rect">
            <a:avLst/>
          </a:prstGeom>
          <a:solidFill>
            <a:srgbClr val="39A900"/>
          </a:solidFill>
          <a:ln/>
        </p:spPr>
        <p:txBody>
          <a:bodyPr/>
          <a:lstStyle/>
          <a:p>
            <a:endParaRPr lang="es-CO"/>
          </a:p>
        </p:txBody>
      </p:sp>
      <p:sp>
        <p:nvSpPr>
          <p:cNvPr id="28" name="Text 26"/>
          <p:cNvSpPr/>
          <p:nvPr/>
        </p:nvSpPr>
        <p:spPr>
          <a:xfrm>
            <a:off x="457200" y="292608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6</a:t>
            </a:r>
            <a:endParaRPr lang="en-US" sz="1100" dirty="0"/>
          </a:p>
        </p:txBody>
      </p:sp>
      <p:sp>
        <p:nvSpPr>
          <p:cNvPr id="29" name="Text 27"/>
          <p:cNvSpPr/>
          <p:nvPr/>
        </p:nvSpPr>
        <p:spPr>
          <a:xfrm>
            <a:off x="548640" y="342900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Router-on-a-stick (IPv4)</a:t>
            </a:r>
            <a:endParaRPr lang="en-US" sz="1100" dirty="0"/>
          </a:p>
        </p:txBody>
      </p:sp>
      <p:sp>
        <p:nvSpPr>
          <p:cNvPr id="30" name="Shape 28"/>
          <p:cNvSpPr/>
          <p:nvPr/>
        </p:nvSpPr>
        <p:spPr>
          <a:xfrm>
            <a:off x="2139696" y="292608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1" name="Shape 29"/>
          <p:cNvSpPr/>
          <p:nvPr/>
        </p:nvSpPr>
        <p:spPr>
          <a:xfrm>
            <a:off x="2139696" y="2926080"/>
            <a:ext cx="1572768" cy="411480"/>
          </a:xfrm>
          <a:prstGeom prst="rect">
            <a:avLst/>
          </a:prstGeom>
          <a:solidFill>
            <a:srgbClr val="E85D04"/>
          </a:solidFill>
          <a:ln/>
        </p:spPr>
        <p:txBody>
          <a:bodyPr/>
          <a:lstStyle/>
          <a:p>
            <a:endParaRPr lang="es-CO"/>
          </a:p>
        </p:txBody>
      </p:sp>
      <p:sp>
        <p:nvSpPr>
          <p:cNvPr id="32" name="Text 30"/>
          <p:cNvSpPr/>
          <p:nvPr/>
        </p:nvSpPr>
        <p:spPr>
          <a:xfrm>
            <a:off x="2139696" y="292608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7</a:t>
            </a:r>
            <a:endParaRPr lang="en-US" sz="1100" dirty="0"/>
          </a:p>
        </p:txBody>
      </p:sp>
      <p:sp>
        <p:nvSpPr>
          <p:cNvPr id="33" name="Text 31"/>
          <p:cNvSpPr/>
          <p:nvPr/>
        </p:nvSpPr>
        <p:spPr>
          <a:xfrm>
            <a:off x="2231136" y="342900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Habilitar IPv6 en router</a:t>
            </a:r>
            <a:endParaRPr lang="en-US" sz="1100" dirty="0"/>
          </a:p>
        </p:txBody>
      </p:sp>
      <p:sp>
        <p:nvSpPr>
          <p:cNvPr id="34" name="Shape 32"/>
          <p:cNvSpPr/>
          <p:nvPr/>
        </p:nvSpPr>
        <p:spPr>
          <a:xfrm>
            <a:off x="3822192" y="292608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5" name="Shape 33"/>
          <p:cNvSpPr/>
          <p:nvPr/>
        </p:nvSpPr>
        <p:spPr>
          <a:xfrm>
            <a:off x="3822192" y="2926080"/>
            <a:ext cx="1572768" cy="411480"/>
          </a:xfrm>
          <a:prstGeom prst="rect">
            <a:avLst/>
          </a:prstGeom>
          <a:solidFill>
            <a:srgbClr val="1A4D7A"/>
          </a:solidFill>
          <a:ln/>
        </p:spPr>
        <p:txBody>
          <a:bodyPr/>
          <a:lstStyle/>
          <a:p>
            <a:endParaRPr lang="es-CO"/>
          </a:p>
        </p:txBody>
      </p:sp>
      <p:sp>
        <p:nvSpPr>
          <p:cNvPr id="36" name="Text 34"/>
          <p:cNvSpPr/>
          <p:nvPr/>
        </p:nvSpPr>
        <p:spPr>
          <a:xfrm>
            <a:off x="3822192" y="292608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8</a:t>
            </a:r>
            <a:endParaRPr lang="en-US" sz="1100" dirty="0"/>
          </a:p>
        </p:txBody>
      </p:sp>
      <p:sp>
        <p:nvSpPr>
          <p:cNvPr id="37" name="Text 35"/>
          <p:cNvSpPr/>
          <p:nvPr/>
        </p:nvSpPr>
        <p:spPr>
          <a:xfrm>
            <a:off x="3913632" y="342900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Interfaces pasivas</a:t>
            </a:r>
            <a:endParaRPr lang="en-US" sz="1100" dirty="0"/>
          </a:p>
        </p:txBody>
      </p:sp>
      <p:sp>
        <p:nvSpPr>
          <p:cNvPr id="38" name="Shape 36"/>
          <p:cNvSpPr/>
          <p:nvPr/>
        </p:nvSpPr>
        <p:spPr>
          <a:xfrm>
            <a:off x="5504688" y="292608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9" name="Shape 37"/>
          <p:cNvSpPr/>
          <p:nvPr/>
        </p:nvSpPr>
        <p:spPr>
          <a:xfrm>
            <a:off x="5504688" y="2926080"/>
            <a:ext cx="1572768" cy="411480"/>
          </a:xfrm>
          <a:prstGeom prst="rect">
            <a:avLst/>
          </a:prstGeom>
          <a:solidFill>
            <a:srgbClr val="F59E0B"/>
          </a:solidFill>
          <a:ln/>
        </p:spPr>
        <p:txBody>
          <a:bodyPr/>
          <a:lstStyle/>
          <a:p>
            <a:endParaRPr lang="es-CO"/>
          </a:p>
        </p:txBody>
      </p:sp>
      <p:sp>
        <p:nvSpPr>
          <p:cNvPr id="40" name="Text 38"/>
          <p:cNvSpPr/>
          <p:nvPr/>
        </p:nvSpPr>
        <p:spPr>
          <a:xfrm>
            <a:off x="5504688" y="292608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9</a:t>
            </a:r>
            <a:endParaRPr lang="en-US" sz="1100" dirty="0"/>
          </a:p>
        </p:txBody>
      </p:sp>
      <p:sp>
        <p:nvSpPr>
          <p:cNvPr id="41" name="Text 39"/>
          <p:cNvSpPr/>
          <p:nvPr/>
        </p:nvSpPr>
        <p:spPr>
          <a:xfrm>
            <a:off x="5596128" y="342900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Pruebas de verificacion</a:t>
            </a:r>
            <a:endParaRPr lang="en-US" sz="1100" dirty="0"/>
          </a:p>
        </p:txBody>
      </p:sp>
      <p:sp>
        <p:nvSpPr>
          <p:cNvPr id="42" name="Shape 40"/>
          <p:cNvSpPr/>
          <p:nvPr/>
        </p:nvSpPr>
        <p:spPr>
          <a:xfrm>
            <a:off x="7187184" y="2926080"/>
            <a:ext cx="1572768" cy="14173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43" name="Shape 41"/>
          <p:cNvSpPr/>
          <p:nvPr/>
        </p:nvSpPr>
        <p:spPr>
          <a:xfrm>
            <a:off x="7187184" y="2926080"/>
            <a:ext cx="1572768" cy="411480"/>
          </a:xfrm>
          <a:prstGeom prst="rect">
            <a:avLst/>
          </a:prstGeom>
          <a:solidFill>
            <a:srgbClr val="2ECC71"/>
          </a:solidFill>
          <a:ln/>
        </p:spPr>
        <p:txBody>
          <a:bodyPr/>
          <a:lstStyle/>
          <a:p>
            <a:endParaRPr lang="es-CO"/>
          </a:p>
        </p:txBody>
      </p:sp>
      <p:sp>
        <p:nvSpPr>
          <p:cNvPr id="44" name="Text 42"/>
          <p:cNvSpPr/>
          <p:nvPr/>
        </p:nvSpPr>
        <p:spPr>
          <a:xfrm>
            <a:off x="7187184" y="2926080"/>
            <a:ext cx="1572768" cy="411480"/>
          </a:xfrm>
          <a:prstGeom prst="rect">
            <a:avLst/>
          </a:prstGeom>
          <a:noFill/>
          <a:ln/>
        </p:spPr>
        <p:txBody>
          <a:bodyPr wrap="square" lIns="0" tIns="0" rIns="0" bIns="0" rtlCol="0" anchor="ctr"/>
          <a:lstStyle/>
          <a:p>
            <a:pPr marL="0" indent="0" algn="ctr">
              <a:buNone/>
            </a:pPr>
            <a:r>
              <a:rPr lang="en-US" sz="1100" b="1" dirty="0">
                <a:solidFill>
                  <a:srgbClr val="FFFFFF"/>
                </a:solidFill>
              </a:rPr>
              <a:t>Paso 10</a:t>
            </a:r>
            <a:endParaRPr lang="en-US" sz="1100" dirty="0"/>
          </a:p>
        </p:txBody>
      </p:sp>
      <p:sp>
        <p:nvSpPr>
          <p:cNvPr id="45" name="Text 43"/>
          <p:cNvSpPr/>
          <p:nvPr/>
        </p:nvSpPr>
        <p:spPr>
          <a:xfrm>
            <a:off x="7278624" y="3429000"/>
            <a:ext cx="1389888" cy="868680"/>
          </a:xfrm>
          <a:prstGeom prst="rect">
            <a:avLst/>
          </a:prstGeom>
          <a:noFill/>
          <a:ln/>
        </p:spPr>
        <p:txBody>
          <a:bodyPr wrap="square" lIns="0" tIns="0" rIns="0" bIns="0" rtlCol="0" anchor="t"/>
          <a:lstStyle/>
          <a:p>
            <a:pPr marL="0" indent="0" algn="ctr">
              <a:buNone/>
            </a:pPr>
            <a:r>
              <a:rPr lang="en-US" sz="1100" b="1" dirty="0">
                <a:solidFill>
                  <a:srgbClr val="003057"/>
                </a:solidFill>
              </a:rPr>
              <a:t>Entregables del aprendiz</a:t>
            </a:r>
            <a:endParaRPr lang="en-US" sz="1100" dirty="0"/>
          </a:p>
        </p:txBody>
      </p:sp>
      <p:sp>
        <p:nvSpPr>
          <p:cNvPr id="46" name="Shape 44"/>
          <p:cNvSpPr/>
          <p:nvPr/>
        </p:nvSpPr>
        <p:spPr>
          <a:xfrm>
            <a:off x="0" y="4892040"/>
            <a:ext cx="9144000" cy="256032"/>
          </a:xfrm>
          <a:prstGeom prst="rect">
            <a:avLst/>
          </a:prstGeom>
          <a:solidFill>
            <a:srgbClr val="003057"/>
          </a:solidFill>
          <a:ln/>
        </p:spPr>
        <p:txBody>
          <a:bodyPr/>
          <a:lstStyle/>
          <a:p>
            <a:endParaRPr lang="es-CO"/>
          </a:p>
        </p:txBody>
      </p:sp>
      <p:sp>
        <p:nvSpPr>
          <p:cNvPr id="47" name="Text 45"/>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48" name="Text 46"/>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8 / 20</a:t>
            </a:r>
            <a:endParaRPr lang="en-US" sz="800" dirty="0"/>
          </a:p>
        </p:txBody>
      </p:sp>
      <p:sp>
        <p:nvSpPr>
          <p:cNvPr id="49" name="Shape 47"/>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08 - PREPARACION</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1 - Descargar e instalar Packet Tracer</a:t>
            </a:r>
            <a:endParaRPr lang="en-US" sz="2400" dirty="0"/>
          </a:p>
        </p:txBody>
      </p:sp>
      <p:sp>
        <p:nvSpPr>
          <p:cNvPr id="6" name="Shape 4"/>
          <p:cNvSpPr/>
          <p:nvPr/>
        </p:nvSpPr>
        <p:spPr>
          <a:xfrm>
            <a:off x="457200" y="1188720"/>
            <a:ext cx="502920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3474720"/>
          </a:xfrm>
          <a:prstGeom prst="rect">
            <a:avLst/>
          </a:prstGeom>
          <a:solidFill>
            <a:srgbClr val="39A900"/>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85800" y="1371600"/>
            <a:ext cx="457200" cy="457200"/>
          </a:xfrm>
          <a:prstGeom prst="rect">
            <a:avLst/>
          </a:prstGeom>
        </p:spPr>
      </p:pic>
      <p:sp>
        <p:nvSpPr>
          <p:cNvPr id="9" name="Text 6"/>
          <p:cNvSpPr/>
          <p:nvPr/>
        </p:nvSpPr>
        <p:spPr>
          <a:xfrm>
            <a:off x="1280160" y="1371600"/>
            <a:ext cx="3931920" cy="457200"/>
          </a:xfrm>
          <a:prstGeom prst="rect">
            <a:avLst/>
          </a:prstGeom>
          <a:noFill/>
          <a:ln/>
        </p:spPr>
        <p:txBody>
          <a:bodyPr wrap="square" lIns="0" tIns="0" rIns="0" bIns="0" rtlCol="0" anchor="ctr"/>
          <a:lstStyle/>
          <a:p>
            <a:pPr marL="0" indent="0">
              <a:buNone/>
            </a:pPr>
            <a:r>
              <a:rPr lang="en-US" sz="1600" b="1" dirty="0">
                <a:solidFill>
                  <a:srgbClr val="003057"/>
                </a:solidFill>
              </a:rPr>
              <a:t>Proceso de descarga</a:t>
            </a:r>
            <a:endParaRPr lang="en-US" sz="1600" dirty="0"/>
          </a:p>
        </p:txBody>
      </p:sp>
      <p:sp>
        <p:nvSpPr>
          <p:cNvPr id="10" name="Text 7"/>
          <p:cNvSpPr/>
          <p:nvPr/>
        </p:nvSpPr>
        <p:spPr>
          <a:xfrm>
            <a:off x="685800" y="1965960"/>
            <a:ext cx="4572000" cy="2560320"/>
          </a:xfrm>
          <a:prstGeom prst="rect">
            <a:avLst/>
          </a:prstGeom>
          <a:noFill/>
          <a:ln/>
        </p:spPr>
        <p:txBody>
          <a:bodyPr wrap="square" lIns="0" tIns="0" rIns="0" bIns="0" rtlCol="0" anchor="t"/>
          <a:lstStyle/>
          <a:p>
            <a:pPr marL="0" indent="0">
              <a:spcAft>
                <a:spcPts val="500"/>
              </a:spcAft>
              <a:buNone/>
            </a:pPr>
            <a:r>
              <a:rPr lang="en-US" sz="1100" dirty="0">
                <a:solidFill>
                  <a:srgbClr val="374151"/>
                </a:solidFill>
              </a:rPr>
              <a:t>1. Ingrese a la plataforma Cisco Networking Academy (netacad.com).</a:t>
            </a:r>
            <a:endParaRPr lang="en-US" sz="1100" dirty="0"/>
          </a:p>
          <a:p>
            <a:pPr marL="0" indent="0">
              <a:spcAft>
                <a:spcPts val="500"/>
              </a:spcAft>
              <a:buNone/>
            </a:pPr>
            <a:r>
              <a:rPr lang="en-US" sz="1100" dirty="0">
                <a:solidFill>
                  <a:srgbClr val="374151"/>
                </a:solidFill>
              </a:rPr>
              <a:t>2. Inicie sesion con su cuenta institucional o personal.</a:t>
            </a:r>
            <a:endParaRPr lang="en-US" sz="1100" dirty="0"/>
          </a:p>
          <a:p>
            <a:pPr marL="0" indent="0">
              <a:spcAft>
                <a:spcPts val="500"/>
              </a:spcAft>
              <a:buNone/>
            </a:pPr>
            <a:r>
              <a:rPr lang="en-US" sz="1100" dirty="0">
                <a:solidFill>
                  <a:srgbClr val="374151"/>
                </a:solidFill>
              </a:rPr>
              <a:t>3. Vaya a la seccion Resources / Packet Tracer.</a:t>
            </a:r>
            <a:endParaRPr lang="en-US" sz="1100" dirty="0"/>
          </a:p>
          <a:p>
            <a:pPr marL="0" indent="0">
              <a:spcAft>
                <a:spcPts val="500"/>
              </a:spcAft>
              <a:buNone/>
            </a:pPr>
            <a:r>
              <a:rPr lang="en-US" sz="1100" dirty="0">
                <a:solidFill>
                  <a:srgbClr val="374151"/>
                </a:solidFill>
              </a:rPr>
              <a:t>4. Descargue la version de Packet Tracer compatible con su S.O.</a:t>
            </a:r>
            <a:endParaRPr lang="en-US" sz="1100" dirty="0"/>
          </a:p>
          <a:p>
            <a:pPr marL="0" indent="0">
              <a:spcAft>
                <a:spcPts val="500"/>
              </a:spcAft>
              <a:buNone/>
            </a:pPr>
            <a:r>
              <a:rPr lang="en-US" sz="1100" dirty="0">
                <a:solidFill>
                  <a:srgbClr val="374151"/>
                </a:solidFill>
              </a:rPr>
              <a:t>5. Instale siguiendo el asistente y abra la aplicacion.</a:t>
            </a:r>
            <a:endParaRPr lang="en-US" sz="1100" dirty="0"/>
          </a:p>
          <a:p>
            <a:pPr marL="0" indent="0">
              <a:spcAft>
                <a:spcPts val="500"/>
              </a:spcAft>
              <a:buNone/>
            </a:pPr>
            <a:r>
              <a:rPr lang="en-US" sz="1100" dirty="0">
                <a:solidFill>
                  <a:srgbClr val="374151"/>
                </a:solidFill>
              </a:rPr>
              <a:t>6. Inicie sesion en Packet Tracer con sus credenciales NetAcad.</a:t>
            </a:r>
            <a:endParaRPr lang="en-US" sz="1100" dirty="0"/>
          </a:p>
        </p:txBody>
      </p:sp>
      <p:sp>
        <p:nvSpPr>
          <p:cNvPr id="11" name="Shape 8"/>
          <p:cNvSpPr/>
          <p:nvPr/>
        </p:nvSpPr>
        <p:spPr>
          <a:xfrm>
            <a:off x="5669280" y="1188720"/>
            <a:ext cx="301752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2" name="Shape 9"/>
          <p:cNvSpPr/>
          <p:nvPr/>
        </p:nvSpPr>
        <p:spPr>
          <a:xfrm>
            <a:off x="5669280" y="1188720"/>
            <a:ext cx="64008" cy="1645920"/>
          </a:xfrm>
          <a:prstGeom prst="rect">
            <a:avLst/>
          </a:prstGeom>
          <a:solidFill>
            <a:srgbClr val="003057"/>
          </a:solidFill>
          <a:ln/>
        </p:spPr>
        <p:txBody>
          <a:bodyPr/>
          <a:lstStyle/>
          <a:p>
            <a:endParaRPr lang="es-CO"/>
          </a:p>
        </p:txBody>
      </p:sp>
      <p:pic>
        <p:nvPicPr>
          <p:cNvPr id="13" name="Image 1" descr="preencoded.png"/>
          <p:cNvPicPr>
            <a:picLocks noChangeAspect="1"/>
          </p:cNvPicPr>
          <p:nvPr/>
        </p:nvPicPr>
        <p:blipFill>
          <a:blip r:embed="rId4"/>
          <a:stretch>
            <a:fillRect/>
          </a:stretch>
        </p:blipFill>
        <p:spPr>
          <a:xfrm>
            <a:off x="5852160" y="1325880"/>
            <a:ext cx="365760" cy="365760"/>
          </a:xfrm>
          <a:prstGeom prst="rect">
            <a:avLst/>
          </a:prstGeom>
        </p:spPr>
      </p:pic>
      <p:sp>
        <p:nvSpPr>
          <p:cNvPr id="14" name="Text 10"/>
          <p:cNvSpPr/>
          <p:nvPr/>
        </p:nvSpPr>
        <p:spPr>
          <a:xfrm>
            <a:off x="6309360" y="1325880"/>
            <a:ext cx="2286000" cy="365760"/>
          </a:xfrm>
          <a:prstGeom prst="rect">
            <a:avLst/>
          </a:prstGeom>
          <a:noFill/>
          <a:ln/>
        </p:spPr>
        <p:txBody>
          <a:bodyPr wrap="square" lIns="0" tIns="0" rIns="0" bIns="0" rtlCol="0" anchor="ctr"/>
          <a:lstStyle/>
          <a:p>
            <a:pPr marL="0" indent="0">
              <a:buNone/>
            </a:pPr>
            <a:r>
              <a:rPr lang="en-US" sz="1300" b="1" dirty="0">
                <a:solidFill>
                  <a:srgbClr val="003057"/>
                </a:solidFill>
              </a:rPr>
              <a:t>Requisitos minimos</a:t>
            </a:r>
            <a:endParaRPr lang="en-US" sz="1300" dirty="0"/>
          </a:p>
        </p:txBody>
      </p:sp>
      <p:sp>
        <p:nvSpPr>
          <p:cNvPr id="15" name="Text 11"/>
          <p:cNvSpPr/>
          <p:nvPr/>
        </p:nvSpPr>
        <p:spPr>
          <a:xfrm>
            <a:off x="5852160" y="1783080"/>
            <a:ext cx="2651760" cy="1005840"/>
          </a:xfrm>
          <a:prstGeom prst="rect">
            <a:avLst/>
          </a:prstGeom>
          <a:noFill/>
          <a:ln/>
        </p:spPr>
        <p:txBody>
          <a:bodyPr wrap="square" lIns="0" tIns="0" rIns="0" bIns="0" rtlCol="0" anchor="t"/>
          <a:lstStyle/>
          <a:p>
            <a:pPr marL="0" indent="0">
              <a:buNone/>
            </a:pPr>
            <a:r>
              <a:rPr lang="en-US" sz="1000" dirty="0">
                <a:solidFill>
                  <a:srgbClr val="374151"/>
                </a:solidFill>
              </a:rPr>
              <a:t>- Windows 10/11, macOS o Linux</a:t>
            </a:r>
            <a:endParaRPr lang="en-US" sz="1000" dirty="0"/>
          </a:p>
          <a:p>
            <a:pPr marL="0" indent="0">
              <a:buNone/>
            </a:pPr>
            <a:r>
              <a:rPr lang="en-US" sz="1000" dirty="0">
                <a:solidFill>
                  <a:srgbClr val="374151"/>
                </a:solidFill>
              </a:rPr>
              <a:t>- 4 GB RAM (recomendado 8 GB)</a:t>
            </a:r>
            <a:endParaRPr lang="en-US" sz="1000" dirty="0"/>
          </a:p>
          <a:p>
            <a:pPr marL="0" indent="0">
              <a:buNone/>
            </a:pPr>
            <a:r>
              <a:rPr lang="en-US" sz="1000" dirty="0">
                <a:solidFill>
                  <a:srgbClr val="374151"/>
                </a:solidFill>
              </a:rPr>
              <a:t>- 1 GB de disco libre</a:t>
            </a:r>
            <a:endParaRPr lang="en-US" sz="1000" dirty="0"/>
          </a:p>
          <a:p>
            <a:pPr marL="0" indent="0">
              <a:buNone/>
            </a:pPr>
            <a:r>
              <a:rPr lang="en-US" sz="1000" dirty="0">
                <a:solidFill>
                  <a:srgbClr val="374151"/>
                </a:solidFill>
              </a:rPr>
              <a:t>- Version 8.x o superior</a:t>
            </a:r>
            <a:endParaRPr lang="en-US" sz="1000" dirty="0"/>
          </a:p>
        </p:txBody>
      </p:sp>
      <p:sp>
        <p:nvSpPr>
          <p:cNvPr id="16" name="Shape 12"/>
          <p:cNvSpPr/>
          <p:nvPr/>
        </p:nvSpPr>
        <p:spPr>
          <a:xfrm>
            <a:off x="5669280" y="2971800"/>
            <a:ext cx="3017520" cy="16916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7" name="Shape 13"/>
          <p:cNvSpPr/>
          <p:nvPr/>
        </p:nvSpPr>
        <p:spPr>
          <a:xfrm>
            <a:off x="5669280" y="2971800"/>
            <a:ext cx="64008" cy="1691640"/>
          </a:xfrm>
          <a:prstGeom prst="rect">
            <a:avLst/>
          </a:prstGeom>
          <a:solidFill>
            <a:srgbClr val="E85D04"/>
          </a:solidFill>
          <a:ln/>
        </p:spPr>
        <p:txBody>
          <a:bodyPr/>
          <a:lstStyle/>
          <a:p>
            <a:endParaRPr lang="es-CO"/>
          </a:p>
        </p:txBody>
      </p:sp>
      <p:pic>
        <p:nvPicPr>
          <p:cNvPr id="18" name="Image 2" descr="preencoded.png"/>
          <p:cNvPicPr>
            <a:picLocks noChangeAspect="1"/>
          </p:cNvPicPr>
          <p:nvPr/>
        </p:nvPicPr>
        <p:blipFill>
          <a:blip r:embed="rId5"/>
          <a:stretch>
            <a:fillRect/>
          </a:stretch>
        </p:blipFill>
        <p:spPr>
          <a:xfrm>
            <a:off x="5852160" y="3108960"/>
            <a:ext cx="365760" cy="365760"/>
          </a:xfrm>
          <a:prstGeom prst="rect">
            <a:avLst/>
          </a:prstGeom>
        </p:spPr>
      </p:pic>
      <p:sp>
        <p:nvSpPr>
          <p:cNvPr id="19" name="Text 14"/>
          <p:cNvSpPr/>
          <p:nvPr/>
        </p:nvSpPr>
        <p:spPr>
          <a:xfrm>
            <a:off x="6309360" y="3108960"/>
            <a:ext cx="1828800" cy="365760"/>
          </a:xfrm>
          <a:prstGeom prst="rect">
            <a:avLst/>
          </a:prstGeom>
          <a:noFill/>
          <a:ln/>
        </p:spPr>
        <p:txBody>
          <a:bodyPr wrap="square" lIns="0" tIns="0" rIns="0" bIns="0" rtlCol="0" anchor="ctr"/>
          <a:lstStyle/>
          <a:p>
            <a:pPr marL="0" indent="0">
              <a:buNone/>
            </a:pPr>
            <a:r>
              <a:rPr lang="en-US" sz="1300" b="1" dirty="0">
                <a:solidFill>
                  <a:srgbClr val="003057"/>
                </a:solidFill>
              </a:rPr>
              <a:t>Tip</a:t>
            </a:r>
            <a:endParaRPr lang="en-US" sz="1300" dirty="0"/>
          </a:p>
        </p:txBody>
      </p:sp>
      <p:sp>
        <p:nvSpPr>
          <p:cNvPr id="20" name="Text 15"/>
          <p:cNvSpPr/>
          <p:nvPr/>
        </p:nvSpPr>
        <p:spPr>
          <a:xfrm>
            <a:off x="5852160" y="3520440"/>
            <a:ext cx="2651760" cy="1097280"/>
          </a:xfrm>
          <a:prstGeom prst="rect">
            <a:avLst/>
          </a:prstGeom>
          <a:noFill/>
          <a:ln/>
        </p:spPr>
        <p:txBody>
          <a:bodyPr wrap="square" lIns="0" tIns="0" rIns="0" bIns="0" rtlCol="0" anchor="t"/>
          <a:lstStyle/>
          <a:p>
            <a:pPr marL="0" indent="0">
              <a:buNone/>
            </a:pPr>
            <a:r>
              <a:rPr lang="en-US" sz="1000" dirty="0">
                <a:solidFill>
                  <a:srgbClr val="374151"/>
                </a:solidFill>
              </a:rPr>
              <a:t>Si no tiene cuenta, solicite al instructor la inscripcion en el curso Introduction to Networks para acceder gratuitamente a la descarga.</a:t>
            </a:r>
            <a:endParaRPr lang="en-US" sz="1000" dirty="0"/>
          </a:p>
        </p:txBody>
      </p:sp>
      <p:sp>
        <p:nvSpPr>
          <p:cNvPr id="21" name="Shape 16"/>
          <p:cNvSpPr/>
          <p:nvPr/>
        </p:nvSpPr>
        <p:spPr>
          <a:xfrm>
            <a:off x="0" y="4892040"/>
            <a:ext cx="9144000" cy="256032"/>
          </a:xfrm>
          <a:prstGeom prst="rect">
            <a:avLst/>
          </a:prstGeom>
          <a:solidFill>
            <a:srgbClr val="003057"/>
          </a:solidFill>
          <a:ln/>
        </p:spPr>
        <p:txBody>
          <a:bodyPr/>
          <a:lstStyle/>
          <a:p>
            <a:endParaRPr lang="es-CO"/>
          </a:p>
        </p:txBody>
      </p:sp>
      <p:sp>
        <p:nvSpPr>
          <p:cNvPr id="22" name="Text 17"/>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23" name="Text 18"/>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9 / 20</a:t>
            </a:r>
            <a:endParaRPr lang="en-US" sz="800" dirty="0"/>
          </a:p>
        </p:txBody>
      </p:sp>
      <p:sp>
        <p:nvSpPr>
          <p:cNvPr id="24" name="Shape 19"/>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09 - SUBNETTING</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2 - Diseno del direccionamiento IPv4 (VLSM)</a:t>
            </a:r>
            <a:endParaRPr lang="en-US" sz="2400" dirty="0"/>
          </a:p>
        </p:txBody>
      </p:sp>
      <p:sp>
        <p:nvSpPr>
          <p:cNvPr id="6" name="Shape 4"/>
          <p:cNvSpPr/>
          <p:nvPr/>
        </p:nvSpPr>
        <p:spPr>
          <a:xfrm>
            <a:off x="457200" y="1143000"/>
            <a:ext cx="8229600" cy="594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43000"/>
            <a:ext cx="64008" cy="594360"/>
          </a:xfrm>
          <a:prstGeom prst="rect">
            <a:avLst/>
          </a:prstGeom>
          <a:solidFill>
            <a:srgbClr val="39A900"/>
          </a:solidFill>
          <a:ln/>
        </p:spPr>
        <p:txBody>
          <a:bodyPr/>
          <a:lstStyle/>
          <a:p>
            <a:endParaRPr lang="es-CO"/>
          </a:p>
        </p:txBody>
      </p:sp>
      <p:sp>
        <p:nvSpPr>
          <p:cNvPr id="8" name="Text 6"/>
          <p:cNvSpPr/>
          <p:nvPr/>
        </p:nvSpPr>
        <p:spPr>
          <a:xfrm>
            <a:off x="685800" y="1188720"/>
            <a:ext cx="7863840" cy="502920"/>
          </a:xfrm>
          <a:prstGeom prst="rect">
            <a:avLst/>
          </a:prstGeom>
          <a:noFill/>
          <a:ln/>
        </p:spPr>
        <p:txBody>
          <a:bodyPr wrap="square" lIns="0" tIns="0" rIns="0" bIns="0" rtlCol="0" anchor="ctr"/>
          <a:lstStyle/>
          <a:p>
            <a:pPr marL="0" indent="0">
              <a:buNone/>
            </a:pPr>
            <a:r>
              <a:rPr lang="en-US" sz="1200" b="1" dirty="0">
                <a:solidFill>
                  <a:srgbClr val="003057"/>
                </a:solidFill>
              </a:rPr>
              <a:t>Red base sugerida: </a:t>
            </a:r>
            <a:r>
              <a:rPr lang="en-US" sz="1200" b="1" dirty="0">
                <a:solidFill>
                  <a:srgbClr val="39A900"/>
                </a:solidFill>
              </a:rPr>
              <a:t>192.168.1.0/24</a:t>
            </a:r>
            <a:r>
              <a:rPr lang="en-US" sz="1200" dirty="0">
                <a:solidFill>
                  <a:srgbClr val="374151"/>
                </a:solidFill>
              </a:rPr>
              <a:t>  -  256 direcciones, 1 red, aplicamos VLSM para obtener 4 subredes</a:t>
            </a:r>
            <a:endParaRPr lang="en-US" sz="1200" dirty="0"/>
          </a:p>
        </p:txBody>
      </p:sp>
      <p:sp>
        <p:nvSpPr>
          <p:cNvPr id="9" name="Shape 7"/>
          <p:cNvSpPr/>
          <p:nvPr/>
        </p:nvSpPr>
        <p:spPr>
          <a:xfrm>
            <a:off x="457200" y="1828800"/>
            <a:ext cx="8229600" cy="384048"/>
          </a:xfrm>
          <a:prstGeom prst="rect">
            <a:avLst/>
          </a:prstGeom>
          <a:solidFill>
            <a:srgbClr val="003057"/>
          </a:solidFill>
          <a:ln/>
        </p:spPr>
        <p:txBody>
          <a:bodyPr/>
          <a:lstStyle/>
          <a:p>
            <a:endParaRPr lang="es-CO"/>
          </a:p>
        </p:txBody>
      </p:sp>
      <p:sp>
        <p:nvSpPr>
          <p:cNvPr id="10" name="Text 8"/>
          <p:cNvSpPr/>
          <p:nvPr/>
        </p:nvSpPr>
        <p:spPr>
          <a:xfrm>
            <a:off x="548640" y="1828800"/>
            <a:ext cx="1143000" cy="384048"/>
          </a:xfrm>
          <a:prstGeom prst="rect">
            <a:avLst/>
          </a:prstGeom>
          <a:noFill/>
          <a:ln/>
        </p:spPr>
        <p:txBody>
          <a:bodyPr wrap="square" lIns="0" tIns="0" rIns="0" bIns="0" rtlCol="0" anchor="ctr"/>
          <a:lstStyle/>
          <a:p>
            <a:pPr marL="0" indent="0">
              <a:buNone/>
            </a:pPr>
            <a:r>
              <a:rPr lang="en-US" sz="1000" b="1" dirty="0">
                <a:solidFill>
                  <a:srgbClr val="FFFFFF"/>
                </a:solidFill>
              </a:rPr>
              <a:t>VLAN</a:t>
            </a:r>
            <a:endParaRPr lang="en-US" sz="1000" dirty="0"/>
          </a:p>
        </p:txBody>
      </p:sp>
      <p:sp>
        <p:nvSpPr>
          <p:cNvPr id="11" name="Text 9"/>
          <p:cNvSpPr/>
          <p:nvPr/>
        </p:nvSpPr>
        <p:spPr>
          <a:xfrm>
            <a:off x="1691640" y="1828800"/>
            <a:ext cx="1143000" cy="384048"/>
          </a:xfrm>
          <a:prstGeom prst="rect">
            <a:avLst/>
          </a:prstGeom>
          <a:noFill/>
          <a:ln/>
        </p:spPr>
        <p:txBody>
          <a:bodyPr wrap="square" lIns="0" tIns="0" rIns="0" bIns="0" rtlCol="0" anchor="ctr"/>
          <a:lstStyle/>
          <a:p>
            <a:pPr marL="0" indent="0">
              <a:buNone/>
            </a:pPr>
            <a:r>
              <a:rPr lang="en-US" sz="1000" b="1" dirty="0">
                <a:solidFill>
                  <a:srgbClr val="FFFFFF"/>
                </a:solidFill>
              </a:rPr>
              <a:t>Subred</a:t>
            </a:r>
            <a:endParaRPr lang="en-US" sz="1000" dirty="0"/>
          </a:p>
        </p:txBody>
      </p:sp>
      <p:sp>
        <p:nvSpPr>
          <p:cNvPr id="12" name="Text 10"/>
          <p:cNvSpPr/>
          <p:nvPr/>
        </p:nvSpPr>
        <p:spPr>
          <a:xfrm>
            <a:off x="2834640" y="1828800"/>
            <a:ext cx="1371600" cy="384048"/>
          </a:xfrm>
          <a:prstGeom prst="rect">
            <a:avLst/>
          </a:prstGeom>
          <a:noFill/>
          <a:ln/>
        </p:spPr>
        <p:txBody>
          <a:bodyPr wrap="square" lIns="0" tIns="0" rIns="0" bIns="0" rtlCol="0" anchor="ctr"/>
          <a:lstStyle/>
          <a:p>
            <a:pPr marL="0" indent="0">
              <a:buNone/>
            </a:pPr>
            <a:r>
              <a:rPr lang="en-US" sz="1000" b="1" dirty="0">
                <a:solidFill>
                  <a:srgbClr val="FFFFFF"/>
                </a:solidFill>
              </a:rPr>
              <a:t>Red</a:t>
            </a:r>
            <a:endParaRPr lang="en-US" sz="1000" dirty="0"/>
          </a:p>
        </p:txBody>
      </p:sp>
      <p:sp>
        <p:nvSpPr>
          <p:cNvPr id="13" name="Text 11"/>
          <p:cNvSpPr/>
          <p:nvPr/>
        </p:nvSpPr>
        <p:spPr>
          <a:xfrm>
            <a:off x="4206240" y="1828800"/>
            <a:ext cx="1371600" cy="384048"/>
          </a:xfrm>
          <a:prstGeom prst="rect">
            <a:avLst/>
          </a:prstGeom>
          <a:noFill/>
          <a:ln/>
        </p:spPr>
        <p:txBody>
          <a:bodyPr wrap="square" lIns="0" tIns="0" rIns="0" bIns="0" rtlCol="0" anchor="ctr"/>
          <a:lstStyle/>
          <a:p>
            <a:pPr marL="0" indent="0">
              <a:buNone/>
            </a:pPr>
            <a:r>
              <a:rPr lang="en-US" sz="1000" b="1" dirty="0">
                <a:solidFill>
                  <a:srgbClr val="FFFFFF"/>
                </a:solidFill>
              </a:rPr>
              <a:t>Rango usable</a:t>
            </a:r>
            <a:endParaRPr lang="en-US" sz="1000" dirty="0"/>
          </a:p>
        </p:txBody>
      </p:sp>
      <p:sp>
        <p:nvSpPr>
          <p:cNvPr id="14" name="Text 12"/>
          <p:cNvSpPr/>
          <p:nvPr/>
        </p:nvSpPr>
        <p:spPr>
          <a:xfrm>
            <a:off x="5577840" y="1828800"/>
            <a:ext cx="1325880" cy="384048"/>
          </a:xfrm>
          <a:prstGeom prst="rect">
            <a:avLst/>
          </a:prstGeom>
          <a:noFill/>
          <a:ln/>
        </p:spPr>
        <p:txBody>
          <a:bodyPr wrap="square" lIns="0" tIns="0" rIns="0" bIns="0" rtlCol="0" anchor="ctr"/>
          <a:lstStyle/>
          <a:p>
            <a:pPr marL="0" indent="0">
              <a:buNone/>
            </a:pPr>
            <a:r>
              <a:rPr lang="en-US" sz="1000" b="1" dirty="0">
                <a:solidFill>
                  <a:srgbClr val="FFFFFF"/>
                </a:solidFill>
              </a:rPr>
              <a:t>Broadcast</a:t>
            </a:r>
            <a:endParaRPr lang="en-US" sz="1000" dirty="0"/>
          </a:p>
        </p:txBody>
      </p:sp>
      <p:sp>
        <p:nvSpPr>
          <p:cNvPr id="15" name="Text 13"/>
          <p:cNvSpPr/>
          <p:nvPr/>
        </p:nvSpPr>
        <p:spPr>
          <a:xfrm>
            <a:off x="6903720" y="1828800"/>
            <a:ext cx="1143000" cy="384048"/>
          </a:xfrm>
          <a:prstGeom prst="rect">
            <a:avLst/>
          </a:prstGeom>
          <a:noFill/>
          <a:ln/>
        </p:spPr>
        <p:txBody>
          <a:bodyPr wrap="square" lIns="0" tIns="0" rIns="0" bIns="0" rtlCol="0" anchor="ctr"/>
          <a:lstStyle/>
          <a:p>
            <a:pPr marL="0" indent="0">
              <a:buNone/>
            </a:pPr>
            <a:r>
              <a:rPr lang="en-US" sz="1000" b="1" dirty="0">
                <a:solidFill>
                  <a:srgbClr val="FFFFFF"/>
                </a:solidFill>
              </a:rPr>
              <a:t>Gateway</a:t>
            </a:r>
            <a:endParaRPr lang="en-US" sz="1000" dirty="0"/>
          </a:p>
        </p:txBody>
      </p:sp>
      <p:sp>
        <p:nvSpPr>
          <p:cNvPr id="16" name="Text 14"/>
          <p:cNvSpPr/>
          <p:nvPr/>
        </p:nvSpPr>
        <p:spPr>
          <a:xfrm>
            <a:off x="8046720" y="1828800"/>
            <a:ext cx="640080" cy="384048"/>
          </a:xfrm>
          <a:prstGeom prst="rect">
            <a:avLst/>
          </a:prstGeom>
          <a:noFill/>
          <a:ln/>
        </p:spPr>
        <p:txBody>
          <a:bodyPr wrap="square" lIns="0" tIns="0" rIns="0" bIns="0" rtlCol="0" anchor="ctr"/>
          <a:lstStyle/>
          <a:p>
            <a:pPr marL="0" indent="0">
              <a:buNone/>
            </a:pPr>
            <a:r>
              <a:rPr lang="en-US" sz="1000" b="1" dirty="0">
                <a:solidFill>
                  <a:srgbClr val="FFFFFF"/>
                </a:solidFill>
              </a:rPr>
              <a:t>/</a:t>
            </a:r>
            <a:endParaRPr lang="en-US" sz="1000" dirty="0"/>
          </a:p>
        </p:txBody>
      </p:sp>
      <p:sp>
        <p:nvSpPr>
          <p:cNvPr id="17" name="Shape 15"/>
          <p:cNvSpPr/>
          <p:nvPr/>
        </p:nvSpPr>
        <p:spPr>
          <a:xfrm>
            <a:off x="457200" y="2212848"/>
            <a:ext cx="8229600" cy="438912"/>
          </a:xfrm>
          <a:prstGeom prst="rect">
            <a:avLst/>
          </a:prstGeom>
          <a:solidFill>
            <a:srgbClr val="FFFFFF"/>
          </a:solidFill>
          <a:ln/>
        </p:spPr>
        <p:txBody>
          <a:bodyPr/>
          <a:lstStyle/>
          <a:p>
            <a:endParaRPr lang="es-CO"/>
          </a:p>
        </p:txBody>
      </p:sp>
      <p:sp>
        <p:nvSpPr>
          <p:cNvPr id="18" name="Shape 16"/>
          <p:cNvSpPr/>
          <p:nvPr/>
        </p:nvSpPr>
        <p:spPr>
          <a:xfrm>
            <a:off x="457200" y="2212848"/>
            <a:ext cx="54864" cy="438912"/>
          </a:xfrm>
          <a:prstGeom prst="rect">
            <a:avLst/>
          </a:prstGeom>
          <a:solidFill>
            <a:srgbClr val="F59E0B"/>
          </a:solidFill>
          <a:ln/>
        </p:spPr>
        <p:txBody>
          <a:bodyPr/>
          <a:lstStyle/>
          <a:p>
            <a:endParaRPr lang="es-CO"/>
          </a:p>
        </p:txBody>
      </p:sp>
      <p:sp>
        <p:nvSpPr>
          <p:cNvPr id="19" name="Text 17"/>
          <p:cNvSpPr/>
          <p:nvPr/>
        </p:nvSpPr>
        <p:spPr>
          <a:xfrm>
            <a:off x="548640" y="2212848"/>
            <a:ext cx="1143000" cy="438912"/>
          </a:xfrm>
          <a:prstGeom prst="rect">
            <a:avLst/>
          </a:prstGeom>
          <a:noFill/>
          <a:ln/>
        </p:spPr>
        <p:txBody>
          <a:bodyPr wrap="square" lIns="0" tIns="0" rIns="0" bIns="0" rtlCol="0" anchor="ctr"/>
          <a:lstStyle/>
          <a:p>
            <a:pPr marL="0" indent="0">
              <a:buNone/>
            </a:pPr>
            <a:r>
              <a:rPr lang="en-US" sz="1000" dirty="0">
                <a:solidFill>
                  <a:srgbClr val="374151"/>
                </a:solidFill>
              </a:rPr>
              <a:t>40 Visitantes</a:t>
            </a:r>
            <a:endParaRPr lang="en-US" sz="1000" dirty="0"/>
          </a:p>
        </p:txBody>
      </p:sp>
      <p:sp>
        <p:nvSpPr>
          <p:cNvPr id="20" name="Text 18"/>
          <p:cNvSpPr/>
          <p:nvPr/>
        </p:nvSpPr>
        <p:spPr>
          <a:xfrm>
            <a:off x="1691640" y="2212848"/>
            <a:ext cx="1143000" cy="438912"/>
          </a:xfrm>
          <a:prstGeom prst="rect">
            <a:avLst/>
          </a:prstGeom>
          <a:noFill/>
          <a:ln/>
        </p:spPr>
        <p:txBody>
          <a:bodyPr wrap="square" lIns="0" tIns="0" rIns="0" bIns="0" rtlCol="0" anchor="ctr"/>
          <a:lstStyle/>
          <a:p>
            <a:pPr marL="0" indent="0">
              <a:buNone/>
            </a:pPr>
            <a:r>
              <a:rPr lang="en-US" sz="1000" dirty="0">
                <a:solidFill>
                  <a:srgbClr val="374151"/>
                </a:solidFill>
              </a:rPr>
              <a:t>/25</a:t>
            </a:r>
            <a:endParaRPr lang="en-US" sz="1000" dirty="0"/>
          </a:p>
        </p:txBody>
      </p:sp>
      <p:sp>
        <p:nvSpPr>
          <p:cNvPr id="21" name="Text 19"/>
          <p:cNvSpPr/>
          <p:nvPr/>
        </p:nvSpPr>
        <p:spPr>
          <a:xfrm>
            <a:off x="2834640" y="2212848"/>
            <a:ext cx="1371600" cy="438912"/>
          </a:xfrm>
          <a:prstGeom prst="rect">
            <a:avLst/>
          </a:prstGeom>
          <a:noFill/>
          <a:ln/>
        </p:spPr>
        <p:txBody>
          <a:bodyPr wrap="square" lIns="0" tIns="0" rIns="0" bIns="0" rtlCol="0" anchor="ctr"/>
          <a:lstStyle/>
          <a:p>
            <a:pPr marL="0" indent="0">
              <a:buNone/>
            </a:pPr>
            <a:r>
              <a:rPr lang="en-US" sz="1000" dirty="0">
                <a:solidFill>
                  <a:srgbClr val="374151"/>
                </a:solidFill>
              </a:rPr>
              <a:t>192.168.1.0</a:t>
            </a:r>
            <a:endParaRPr lang="en-US" sz="1000" dirty="0"/>
          </a:p>
        </p:txBody>
      </p:sp>
      <p:sp>
        <p:nvSpPr>
          <p:cNvPr id="22" name="Text 20"/>
          <p:cNvSpPr/>
          <p:nvPr/>
        </p:nvSpPr>
        <p:spPr>
          <a:xfrm>
            <a:off x="4206240" y="2212848"/>
            <a:ext cx="1371600" cy="438912"/>
          </a:xfrm>
          <a:prstGeom prst="rect">
            <a:avLst/>
          </a:prstGeom>
          <a:noFill/>
          <a:ln/>
        </p:spPr>
        <p:txBody>
          <a:bodyPr wrap="square" lIns="0" tIns="0" rIns="0" bIns="0" rtlCol="0" anchor="ctr"/>
          <a:lstStyle/>
          <a:p>
            <a:pPr marL="0" indent="0">
              <a:buNone/>
            </a:pPr>
            <a:r>
              <a:rPr lang="en-US" sz="1000" dirty="0">
                <a:solidFill>
                  <a:srgbClr val="374151"/>
                </a:solidFill>
              </a:rPr>
              <a:t>.1 - .126</a:t>
            </a:r>
            <a:endParaRPr lang="en-US" sz="1000" dirty="0"/>
          </a:p>
        </p:txBody>
      </p:sp>
      <p:sp>
        <p:nvSpPr>
          <p:cNvPr id="23" name="Text 21"/>
          <p:cNvSpPr/>
          <p:nvPr/>
        </p:nvSpPr>
        <p:spPr>
          <a:xfrm>
            <a:off x="5577840" y="2212848"/>
            <a:ext cx="1325880" cy="438912"/>
          </a:xfrm>
          <a:prstGeom prst="rect">
            <a:avLst/>
          </a:prstGeom>
          <a:noFill/>
          <a:ln/>
        </p:spPr>
        <p:txBody>
          <a:bodyPr wrap="square" lIns="0" tIns="0" rIns="0" bIns="0" rtlCol="0" anchor="ctr"/>
          <a:lstStyle/>
          <a:p>
            <a:pPr marL="0" indent="0">
              <a:buNone/>
            </a:pPr>
            <a:r>
              <a:rPr lang="en-US" sz="1000" dirty="0">
                <a:solidFill>
                  <a:srgbClr val="374151"/>
                </a:solidFill>
              </a:rPr>
              <a:t>.127</a:t>
            </a:r>
            <a:endParaRPr lang="en-US" sz="1000" dirty="0"/>
          </a:p>
        </p:txBody>
      </p:sp>
      <p:sp>
        <p:nvSpPr>
          <p:cNvPr id="24" name="Text 22"/>
          <p:cNvSpPr/>
          <p:nvPr/>
        </p:nvSpPr>
        <p:spPr>
          <a:xfrm>
            <a:off x="6903720" y="2212848"/>
            <a:ext cx="1143000" cy="438912"/>
          </a:xfrm>
          <a:prstGeom prst="rect">
            <a:avLst/>
          </a:prstGeom>
          <a:noFill/>
          <a:ln/>
        </p:spPr>
        <p:txBody>
          <a:bodyPr wrap="square" lIns="0" tIns="0" rIns="0" bIns="0" rtlCol="0" anchor="ctr"/>
          <a:lstStyle/>
          <a:p>
            <a:pPr marL="0" indent="0">
              <a:buNone/>
            </a:pPr>
            <a:r>
              <a:rPr lang="en-US" sz="1000" dirty="0">
                <a:solidFill>
                  <a:srgbClr val="374151"/>
                </a:solidFill>
              </a:rPr>
              <a:t>.1</a:t>
            </a:r>
            <a:endParaRPr lang="en-US" sz="1000" dirty="0"/>
          </a:p>
        </p:txBody>
      </p:sp>
      <p:sp>
        <p:nvSpPr>
          <p:cNvPr id="25" name="Text 23"/>
          <p:cNvSpPr/>
          <p:nvPr/>
        </p:nvSpPr>
        <p:spPr>
          <a:xfrm>
            <a:off x="8046720" y="2212848"/>
            <a:ext cx="640080" cy="438912"/>
          </a:xfrm>
          <a:prstGeom prst="rect">
            <a:avLst/>
          </a:prstGeom>
          <a:noFill/>
          <a:ln/>
        </p:spPr>
        <p:txBody>
          <a:bodyPr wrap="square" lIns="0" tIns="0" rIns="0" bIns="0" rtlCol="0" anchor="ctr"/>
          <a:lstStyle/>
          <a:p>
            <a:pPr marL="0" indent="0">
              <a:buNone/>
            </a:pPr>
            <a:r>
              <a:rPr lang="en-US" sz="1000" dirty="0">
                <a:solidFill>
                  <a:srgbClr val="374151"/>
                </a:solidFill>
              </a:rPr>
              <a:t>25</a:t>
            </a:r>
            <a:endParaRPr lang="en-US" sz="1000" dirty="0"/>
          </a:p>
        </p:txBody>
      </p:sp>
      <p:sp>
        <p:nvSpPr>
          <p:cNvPr id="26" name="Shape 24"/>
          <p:cNvSpPr/>
          <p:nvPr/>
        </p:nvSpPr>
        <p:spPr>
          <a:xfrm>
            <a:off x="457200" y="2651760"/>
            <a:ext cx="8229600" cy="438912"/>
          </a:xfrm>
          <a:prstGeom prst="rect">
            <a:avLst/>
          </a:prstGeom>
          <a:solidFill>
            <a:srgbClr val="FAFBFC"/>
          </a:solidFill>
          <a:ln/>
        </p:spPr>
        <p:txBody>
          <a:bodyPr/>
          <a:lstStyle/>
          <a:p>
            <a:endParaRPr lang="es-CO"/>
          </a:p>
        </p:txBody>
      </p:sp>
      <p:sp>
        <p:nvSpPr>
          <p:cNvPr id="27" name="Shape 25"/>
          <p:cNvSpPr/>
          <p:nvPr/>
        </p:nvSpPr>
        <p:spPr>
          <a:xfrm>
            <a:off x="457200" y="2651760"/>
            <a:ext cx="54864" cy="438912"/>
          </a:xfrm>
          <a:prstGeom prst="rect">
            <a:avLst/>
          </a:prstGeom>
          <a:solidFill>
            <a:srgbClr val="E85D04"/>
          </a:solidFill>
          <a:ln/>
        </p:spPr>
        <p:txBody>
          <a:bodyPr/>
          <a:lstStyle/>
          <a:p>
            <a:endParaRPr lang="es-CO"/>
          </a:p>
        </p:txBody>
      </p:sp>
      <p:sp>
        <p:nvSpPr>
          <p:cNvPr id="28" name="Text 26"/>
          <p:cNvSpPr/>
          <p:nvPr/>
        </p:nvSpPr>
        <p:spPr>
          <a:xfrm>
            <a:off x="548640" y="2651760"/>
            <a:ext cx="1143000" cy="438912"/>
          </a:xfrm>
          <a:prstGeom prst="rect">
            <a:avLst/>
          </a:prstGeom>
          <a:noFill/>
          <a:ln/>
        </p:spPr>
        <p:txBody>
          <a:bodyPr wrap="square" lIns="0" tIns="0" rIns="0" bIns="0" rtlCol="0" anchor="ctr"/>
          <a:lstStyle/>
          <a:p>
            <a:pPr marL="0" indent="0">
              <a:buNone/>
            </a:pPr>
            <a:r>
              <a:rPr lang="en-US" sz="1000" dirty="0">
                <a:solidFill>
                  <a:srgbClr val="374151"/>
                </a:solidFill>
              </a:rPr>
              <a:t>20 Financiera</a:t>
            </a:r>
            <a:endParaRPr lang="en-US" sz="1000" dirty="0"/>
          </a:p>
        </p:txBody>
      </p:sp>
      <p:sp>
        <p:nvSpPr>
          <p:cNvPr id="29" name="Text 27"/>
          <p:cNvSpPr/>
          <p:nvPr/>
        </p:nvSpPr>
        <p:spPr>
          <a:xfrm>
            <a:off x="1691640" y="2651760"/>
            <a:ext cx="1143000" cy="438912"/>
          </a:xfrm>
          <a:prstGeom prst="rect">
            <a:avLst/>
          </a:prstGeom>
          <a:noFill/>
          <a:ln/>
        </p:spPr>
        <p:txBody>
          <a:bodyPr wrap="square" lIns="0" tIns="0" rIns="0" bIns="0" rtlCol="0" anchor="ctr"/>
          <a:lstStyle/>
          <a:p>
            <a:pPr marL="0" indent="0">
              <a:buNone/>
            </a:pPr>
            <a:r>
              <a:rPr lang="en-US" sz="1000" dirty="0">
                <a:solidFill>
                  <a:srgbClr val="374151"/>
                </a:solidFill>
              </a:rPr>
              <a:t>/26</a:t>
            </a:r>
            <a:endParaRPr lang="en-US" sz="1000" dirty="0"/>
          </a:p>
        </p:txBody>
      </p:sp>
      <p:sp>
        <p:nvSpPr>
          <p:cNvPr id="30" name="Text 28"/>
          <p:cNvSpPr/>
          <p:nvPr/>
        </p:nvSpPr>
        <p:spPr>
          <a:xfrm>
            <a:off x="2834640" y="2651760"/>
            <a:ext cx="1371600" cy="438912"/>
          </a:xfrm>
          <a:prstGeom prst="rect">
            <a:avLst/>
          </a:prstGeom>
          <a:noFill/>
          <a:ln/>
        </p:spPr>
        <p:txBody>
          <a:bodyPr wrap="square" lIns="0" tIns="0" rIns="0" bIns="0" rtlCol="0" anchor="ctr"/>
          <a:lstStyle/>
          <a:p>
            <a:pPr marL="0" indent="0">
              <a:buNone/>
            </a:pPr>
            <a:r>
              <a:rPr lang="en-US" sz="1000" dirty="0">
                <a:solidFill>
                  <a:srgbClr val="374151"/>
                </a:solidFill>
              </a:rPr>
              <a:t>192.168.1.128</a:t>
            </a:r>
            <a:endParaRPr lang="en-US" sz="1000" dirty="0"/>
          </a:p>
        </p:txBody>
      </p:sp>
      <p:sp>
        <p:nvSpPr>
          <p:cNvPr id="31" name="Text 29"/>
          <p:cNvSpPr/>
          <p:nvPr/>
        </p:nvSpPr>
        <p:spPr>
          <a:xfrm>
            <a:off x="4206240" y="2651760"/>
            <a:ext cx="1371600" cy="438912"/>
          </a:xfrm>
          <a:prstGeom prst="rect">
            <a:avLst/>
          </a:prstGeom>
          <a:noFill/>
          <a:ln/>
        </p:spPr>
        <p:txBody>
          <a:bodyPr wrap="square" lIns="0" tIns="0" rIns="0" bIns="0" rtlCol="0" anchor="ctr"/>
          <a:lstStyle/>
          <a:p>
            <a:pPr marL="0" indent="0">
              <a:buNone/>
            </a:pPr>
            <a:r>
              <a:rPr lang="en-US" sz="1000" dirty="0">
                <a:solidFill>
                  <a:srgbClr val="374151"/>
                </a:solidFill>
              </a:rPr>
              <a:t>.129 - .190</a:t>
            </a:r>
            <a:endParaRPr lang="en-US" sz="1000" dirty="0"/>
          </a:p>
        </p:txBody>
      </p:sp>
      <p:sp>
        <p:nvSpPr>
          <p:cNvPr id="32" name="Text 30"/>
          <p:cNvSpPr/>
          <p:nvPr/>
        </p:nvSpPr>
        <p:spPr>
          <a:xfrm>
            <a:off x="5577840" y="2651760"/>
            <a:ext cx="1325880" cy="438912"/>
          </a:xfrm>
          <a:prstGeom prst="rect">
            <a:avLst/>
          </a:prstGeom>
          <a:noFill/>
          <a:ln/>
        </p:spPr>
        <p:txBody>
          <a:bodyPr wrap="square" lIns="0" tIns="0" rIns="0" bIns="0" rtlCol="0" anchor="ctr"/>
          <a:lstStyle/>
          <a:p>
            <a:pPr marL="0" indent="0">
              <a:buNone/>
            </a:pPr>
            <a:r>
              <a:rPr lang="en-US" sz="1000" dirty="0">
                <a:solidFill>
                  <a:srgbClr val="374151"/>
                </a:solidFill>
              </a:rPr>
              <a:t>.191</a:t>
            </a:r>
            <a:endParaRPr lang="en-US" sz="1000" dirty="0"/>
          </a:p>
        </p:txBody>
      </p:sp>
      <p:sp>
        <p:nvSpPr>
          <p:cNvPr id="33" name="Text 31"/>
          <p:cNvSpPr/>
          <p:nvPr/>
        </p:nvSpPr>
        <p:spPr>
          <a:xfrm>
            <a:off x="6903720" y="2651760"/>
            <a:ext cx="1143000" cy="438912"/>
          </a:xfrm>
          <a:prstGeom prst="rect">
            <a:avLst/>
          </a:prstGeom>
          <a:noFill/>
          <a:ln/>
        </p:spPr>
        <p:txBody>
          <a:bodyPr wrap="square" lIns="0" tIns="0" rIns="0" bIns="0" rtlCol="0" anchor="ctr"/>
          <a:lstStyle/>
          <a:p>
            <a:pPr marL="0" indent="0">
              <a:buNone/>
            </a:pPr>
            <a:r>
              <a:rPr lang="en-US" sz="1000" dirty="0">
                <a:solidFill>
                  <a:srgbClr val="374151"/>
                </a:solidFill>
              </a:rPr>
              <a:t>.129</a:t>
            </a:r>
            <a:endParaRPr lang="en-US" sz="1000" dirty="0"/>
          </a:p>
        </p:txBody>
      </p:sp>
      <p:sp>
        <p:nvSpPr>
          <p:cNvPr id="34" name="Text 32"/>
          <p:cNvSpPr/>
          <p:nvPr/>
        </p:nvSpPr>
        <p:spPr>
          <a:xfrm>
            <a:off x="8046720" y="2651760"/>
            <a:ext cx="640080" cy="438912"/>
          </a:xfrm>
          <a:prstGeom prst="rect">
            <a:avLst/>
          </a:prstGeom>
          <a:noFill/>
          <a:ln/>
        </p:spPr>
        <p:txBody>
          <a:bodyPr wrap="square" lIns="0" tIns="0" rIns="0" bIns="0" rtlCol="0" anchor="ctr"/>
          <a:lstStyle/>
          <a:p>
            <a:pPr marL="0" indent="0">
              <a:buNone/>
            </a:pPr>
            <a:r>
              <a:rPr lang="en-US" sz="1000" dirty="0">
                <a:solidFill>
                  <a:srgbClr val="374151"/>
                </a:solidFill>
              </a:rPr>
              <a:t>26</a:t>
            </a:r>
            <a:endParaRPr lang="en-US" sz="1000" dirty="0"/>
          </a:p>
        </p:txBody>
      </p:sp>
      <p:sp>
        <p:nvSpPr>
          <p:cNvPr id="35" name="Shape 33"/>
          <p:cNvSpPr/>
          <p:nvPr/>
        </p:nvSpPr>
        <p:spPr>
          <a:xfrm>
            <a:off x="457200" y="3090672"/>
            <a:ext cx="8229600" cy="438912"/>
          </a:xfrm>
          <a:prstGeom prst="rect">
            <a:avLst/>
          </a:prstGeom>
          <a:solidFill>
            <a:srgbClr val="FFFFFF"/>
          </a:solidFill>
          <a:ln/>
        </p:spPr>
        <p:txBody>
          <a:bodyPr/>
          <a:lstStyle/>
          <a:p>
            <a:endParaRPr lang="es-CO"/>
          </a:p>
        </p:txBody>
      </p:sp>
      <p:sp>
        <p:nvSpPr>
          <p:cNvPr id="36" name="Shape 34"/>
          <p:cNvSpPr/>
          <p:nvPr/>
        </p:nvSpPr>
        <p:spPr>
          <a:xfrm>
            <a:off x="457200" y="3090672"/>
            <a:ext cx="54864" cy="438912"/>
          </a:xfrm>
          <a:prstGeom prst="rect">
            <a:avLst/>
          </a:prstGeom>
          <a:solidFill>
            <a:srgbClr val="39A900"/>
          </a:solidFill>
          <a:ln/>
        </p:spPr>
        <p:txBody>
          <a:bodyPr/>
          <a:lstStyle/>
          <a:p>
            <a:endParaRPr lang="es-CO"/>
          </a:p>
        </p:txBody>
      </p:sp>
      <p:sp>
        <p:nvSpPr>
          <p:cNvPr id="37" name="Text 35"/>
          <p:cNvSpPr/>
          <p:nvPr/>
        </p:nvSpPr>
        <p:spPr>
          <a:xfrm>
            <a:off x="548640" y="3090672"/>
            <a:ext cx="1143000" cy="438912"/>
          </a:xfrm>
          <a:prstGeom prst="rect">
            <a:avLst/>
          </a:prstGeom>
          <a:noFill/>
          <a:ln/>
        </p:spPr>
        <p:txBody>
          <a:bodyPr wrap="square" lIns="0" tIns="0" rIns="0" bIns="0" rtlCol="0" anchor="ctr"/>
          <a:lstStyle/>
          <a:p>
            <a:pPr marL="0" indent="0">
              <a:buNone/>
            </a:pPr>
            <a:r>
              <a:rPr lang="en-US" sz="1000" dirty="0">
                <a:solidFill>
                  <a:srgbClr val="374151"/>
                </a:solidFill>
              </a:rPr>
              <a:t>10 Administrativa</a:t>
            </a:r>
            <a:endParaRPr lang="en-US" sz="1000" dirty="0"/>
          </a:p>
        </p:txBody>
      </p:sp>
      <p:sp>
        <p:nvSpPr>
          <p:cNvPr id="38" name="Text 36"/>
          <p:cNvSpPr/>
          <p:nvPr/>
        </p:nvSpPr>
        <p:spPr>
          <a:xfrm>
            <a:off x="1691640" y="3090672"/>
            <a:ext cx="1143000" cy="438912"/>
          </a:xfrm>
          <a:prstGeom prst="rect">
            <a:avLst/>
          </a:prstGeom>
          <a:noFill/>
          <a:ln/>
        </p:spPr>
        <p:txBody>
          <a:bodyPr wrap="square" lIns="0" tIns="0" rIns="0" bIns="0" rtlCol="0" anchor="ctr"/>
          <a:lstStyle/>
          <a:p>
            <a:pPr marL="0" indent="0">
              <a:buNone/>
            </a:pPr>
            <a:r>
              <a:rPr lang="en-US" sz="1000" dirty="0">
                <a:solidFill>
                  <a:srgbClr val="374151"/>
                </a:solidFill>
              </a:rPr>
              <a:t>/27</a:t>
            </a:r>
            <a:endParaRPr lang="en-US" sz="1000" dirty="0"/>
          </a:p>
        </p:txBody>
      </p:sp>
      <p:sp>
        <p:nvSpPr>
          <p:cNvPr id="39" name="Text 37"/>
          <p:cNvSpPr/>
          <p:nvPr/>
        </p:nvSpPr>
        <p:spPr>
          <a:xfrm>
            <a:off x="2834640" y="3090672"/>
            <a:ext cx="1371600" cy="438912"/>
          </a:xfrm>
          <a:prstGeom prst="rect">
            <a:avLst/>
          </a:prstGeom>
          <a:noFill/>
          <a:ln/>
        </p:spPr>
        <p:txBody>
          <a:bodyPr wrap="square" lIns="0" tIns="0" rIns="0" bIns="0" rtlCol="0" anchor="ctr"/>
          <a:lstStyle/>
          <a:p>
            <a:pPr marL="0" indent="0">
              <a:buNone/>
            </a:pPr>
            <a:r>
              <a:rPr lang="en-US" sz="1000" dirty="0">
                <a:solidFill>
                  <a:srgbClr val="374151"/>
                </a:solidFill>
              </a:rPr>
              <a:t>192.168.1.192</a:t>
            </a:r>
            <a:endParaRPr lang="en-US" sz="1000" dirty="0"/>
          </a:p>
        </p:txBody>
      </p:sp>
      <p:sp>
        <p:nvSpPr>
          <p:cNvPr id="40" name="Text 38"/>
          <p:cNvSpPr/>
          <p:nvPr/>
        </p:nvSpPr>
        <p:spPr>
          <a:xfrm>
            <a:off x="4206240" y="3090672"/>
            <a:ext cx="1371600" cy="438912"/>
          </a:xfrm>
          <a:prstGeom prst="rect">
            <a:avLst/>
          </a:prstGeom>
          <a:noFill/>
          <a:ln/>
        </p:spPr>
        <p:txBody>
          <a:bodyPr wrap="square" lIns="0" tIns="0" rIns="0" bIns="0" rtlCol="0" anchor="ctr"/>
          <a:lstStyle/>
          <a:p>
            <a:pPr marL="0" indent="0">
              <a:buNone/>
            </a:pPr>
            <a:r>
              <a:rPr lang="en-US" sz="1000" dirty="0">
                <a:solidFill>
                  <a:srgbClr val="374151"/>
                </a:solidFill>
              </a:rPr>
              <a:t>.193 - .222</a:t>
            </a:r>
            <a:endParaRPr lang="en-US" sz="1000" dirty="0"/>
          </a:p>
        </p:txBody>
      </p:sp>
      <p:sp>
        <p:nvSpPr>
          <p:cNvPr id="41" name="Text 39"/>
          <p:cNvSpPr/>
          <p:nvPr/>
        </p:nvSpPr>
        <p:spPr>
          <a:xfrm>
            <a:off x="5577840" y="3090672"/>
            <a:ext cx="1325880" cy="438912"/>
          </a:xfrm>
          <a:prstGeom prst="rect">
            <a:avLst/>
          </a:prstGeom>
          <a:noFill/>
          <a:ln/>
        </p:spPr>
        <p:txBody>
          <a:bodyPr wrap="square" lIns="0" tIns="0" rIns="0" bIns="0" rtlCol="0" anchor="ctr"/>
          <a:lstStyle/>
          <a:p>
            <a:pPr marL="0" indent="0">
              <a:buNone/>
            </a:pPr>
            <a:r>
              <a:rPr lang="en-US" sz="1000" dirty="0">
                <a:solidFill>
                  <a:srgbClr val="374151"/>
                </a:solidFill>
              </a:rPr>
              <a:t>.223</a:t>
            </a:r>
            <a:endParaRPr lang="en-US" sz="1000" dirty="0"/>
          </a:p>
        </p:txBody>
      </p:sp>
      <p:sp>
        <p:nvSpPr>
          <p:cNvPr id="42" name="Text 40"/>
          <p:cNvSpPr/>
          <p:nvPr/>
        </p:nvSpPr>
        <p:spPr>
          <a:xfrm>
            <a:off x="6903720" y="3090672"/>
            <a:ext cx="1143000" cy="438912"/>
          </a:xfrm>
          <a:prstGeom prst="rect">
            <a:avLst/>
          </a:prstGeom>
          <a:noFill/>
          <a:ln/>
        </p:spPr>
        <p:txBody>
          <a:bodyPr wrap="square" lIns="0" tIns="0" rIns="0" bIns="0" rtlCol="0" anchor="ctr"/>
          <a:lstStyle/>
          <a:p>
            <a:pPr marL="0" indent="0">
              <a:buNone/>
            </a:pPr>
            <a:r>
              <a:rPr lang="en-US" sz="1000" dirty="0">
                <a:solidFill>
                  <a:srgbClr val="374151"/>
                </a:solidFill>
              </a:rPr>
              <a:t>.193</a:t>
            </a:r>
            <a:endParaRPr lang="en-US" sz="1000" dirty="0"/>
          </a:p>
        </p:txBody>
      </p:sp>
      <p:sp>
        <p:nvSpPr>
          <p:cNvPr id="43" name="Text 41"/>
          <p:cNvSpPr/>
          <p:nvPr/>
        </p:nvSpPr>
        <p:spPr>
          <a:xfrm>
            <a:off x="8046720" y="3090672"/>
            <a:ext cx="640080" cy="438912"/>
          </a:xfrm>
          <a:prstGeom prst="rect">
            <a:avLst/>
          </a:prstGeom>
          <a:noFill/>
          <a:ln/>
        </p:spPr>
        <p:txBody>
          <a:bodyPr wrap="square" lIns="0" tIns="0" rIns="0" bIns="0" rtlCol="0" anchor="ctr"/>
          <a:lstStyle/>
          <a:p>
            <a:pPr marL="0" indent="0">
              <a:buNone/>
            </a:pPr>
            <a:r>
              <a:rPr lang="en-US" sz="1000" dirty="0">
                <a:solidFill>
                  <a:srgbClr val="374151"/>
                </a:solidFill>
              </a:rPr>
              <a:t>27</a:t>
            </a:r>
            <a:endParaRPr lang="en-US" sz="1000" dirty="0"/>
          </a:p>
        </p:txBody>
      </p:sp>
      <p:sp>
        <p:nvSpPr>
          <p:cNvPr id="44" name="Shape 42"/>
          <p:cNvSpPr/>
          <p:nvPr/>
        </p:nvSpPr>
        <p:spPr>
          <a:xfrm>
            <a:off x="457200" y="3529584"/>
            <a:ext cx="8229600" cy="438912"/>
          </a:xfrm>
          <a:prstGeom prst="rect">
            <a:avLst/>
          </a:prstGeom>
          <a:solidFill>
            <a:srgbClr val="FAFBFC"/>
          </a:solidFill>
          <a:ln/>
        </p:spPr>
        <p:txBody>
          <a:bodyPr/>
          <a:lstStyle/>
          <a:p>
            <a:endParaRPr lang="es-CO"/>
          </a:p>
        </p:txBody>
      </p:sp>
      <p:sp>
        <p:nvSpPr>
          <p:cNvPr id="45" name="Shape 43"/>
          <p:cNvSpPr/>
          <p:nvPr/>
        </p:nvSpPr>
        <p:spPr>
          <a:xfrm>
            <a:off x="457200" y="3529584"/>
            <a:ext cx="54864" cy="438912"/>
          </a:xfrm>
          <a:prstGeom prst="rect">
            <a:avLst/>
          </a:prstGeom>
          <a:solidFill>
            <a:srgbClr val="1A4D7A"/>
          </a:solidFill>
          <a:ln/>
        </p:spPr>
        <p:txBody>
          <a:bodyPr/>
          <a:lstStyle/>
          <a:p>
            <a:endParaRPr lang="es-CO"/>
          </a:p>
        </p:txBody>
      </p:sp>
      <p:sp>
        <p:nvSpPr>
          <p:cNvPr id="46" name="Text 44"/>
          <p:cNvSpPr/>
          <p:nvPr/>
        </p:nvSpPr>
        <p:spPr>
          <a:xfrm>
            <a:off x="548640" y="3529584"/>
            <a:ext cx="1143000" cy="438912"/>
          </a:xfrm>
          <a:prstGeom prst="rect">
            <a:avLst/>
          </a:prstGeom>
          <a:noFill/>
          <a:ln/>
        </p:spPr>
        <p:txBody>
          <a:bodyPr wrap="square" lIns="0" tIns="0" rIns="0" bIns="0" rtlCol="0" anchor="ctr"/>
          <a:lstStyle/>
          <a:p>
            <a:pPr marL="0" indent="0">
              <a:buNone/>
            </a:pPr>
            <a:r>
              <a:rPr lang="en-US" sz="1000" dirty="0">
                <a:solidFill>
                  <a:srgbClr val="374151"/>
                </a:solidFill>
              </a:rPr>
              <a:t>30 Tecnicos</a:t>
            </a:r>
            <a:endParaRPr lang="en-US" sz="1000" dirty="0"/>
          </a:p>
        </p:txBody>
      </p:sp>
      <p:sp>
        <p:nvSpPr>
          <p:cNvPr id="47" name="Text 45"/>
          <p:cNvSpPr/>
          <p:nvPr/>
        </p:nvSpPr>
        <p:spPr>
          <a:xfrm>
            <a:off x="1691640" y="3529584"/>
            <a:ext cx="1143000" cy="438912"/>
          </a:xfrm>
          <a:prstGeom prst="rect">
            <a:avLst/>
          </a:prstGeom>
          <a:noFill/>
          <a:ln/>
        </p:spPr>
        <p:txBody>
          <a:bodyPr wrap="square" lIns="0" tIns="0" rIns="0" bIns="0" rtlCol="0" anchor="ctr"/>
          <a:lstStyle/>
          <a:p>
            <a:pPr marL="0" indent="0">
              <a:buNone/>
            </a:pPr>
            <a:r>
              <a:rPr lang="en-US" sz="1000" dirty="0">
                <a:solidFill>
                  <a:srgbClr val="374151"/>
                </a:solidFill>
              </a:rPr>
              <a:t>/27</a:t>
            </a:r>
            <a:endParaRPr lang="en-US" sz="1000" dirty="0"/>
          </a:p>
        </p:txBody>
      </p:sp>
      <p:sp>
        <p:nvSpPr>
          <p:cNvPr id="48" name="Text 46"/>
          <p:cNvSpPr/>
          <p:nvPr/>
        </p:nvSpPr>
        <p:spPr>
          <a:xfrm>
            <a:off x="2834640" y="3529584"/>
            <a:ext cx="1371600" cy="438912"/>
          </a:xfrm>
          <a:prstGeom prst="rect">
            <a:avLst/>
          </a:prstGeom>
          <a:noFill/>
          <a:ln/>
        </p:spPr>
        <p:txBody>
          <a:bodyPr wrap="square" lIns="0" tIns="0" rIns="0" bIns="0" rtlCol="0" anchor="ctr"/>
          <a:lstStyle/>
          <a:p>
            <a:pPr marL="0" indent="0">
              <a:buNone/>
            </a:pPr>
            <a:r>
              <a:rPr lang="en-US" sz="1000" dirty="0">
                <a:solidFill>
                  <a:srgbClr val="374151"/>
                </a:solidFill>
              </a:rPr>
              <a:t>192.168.1.224</a:t>
            </a:r>
            <a:endParaRPr lang="en-US" sz="1000" dirty="0"/>
          </a:p>
        </p:txBody>
      </p:sp>
      <p:sp>
        <p:nvSpPr>
          <p:cNvPr id="49" name="Text 47"/>
          <p:cNvSpPr/>
          <p:nvPr/>
        </p:nvSpPr>
        <p:spPr>
          <a:xfrm>
            <a:off x="4206240" y="3529584"/>
            <a:ext cx="1371600" cy="438912"/>
          </a:xfrm>
          <a:prstGeom prst="rect">
            <a:avLst/>
          </a:prstGeom>
          <a:noFill/>
          <a:ln/>
        </p:spPr>
        <p:txBody>
          <a:bodyPr wrap="square" lIns="0" tIns="0" rIns="0" bIns="0" rtlCol="0" anchor="ctr"/>
          <a:lstStyle/>
          <a:p>
            <a:pPr marL="0" indent="0">
              <a:buNone/>
            </a:pPr>
            <a:r>
              <a:rPr lang="en-US" sz="1000" dirty="0">
                <a:solidFill>
                  <a:srgbClr val="374151"/>
                </a:solidFill>
              </a:rPr>
              <a:t>.225 - .254</a:t>
            </a:r>
            <a:endParaRPr lang="en-US" sz="1000" dirty="0"/>
          </a:p>
        </p:txBody>
      </p:sp>
      <p:sp>
        <p:nvSpPr>
          <p:cNvPr id="50" name="Text 48"/>
          <p:cNvSpPr/>
          <p:nvPr/>
        </p:nvSpPr>
        <p:spPr>
          <a:xfrm>
            <a:off x="5577840" y="3529584"/>
            <a:ext cx="1325880" cy="438912"/>
          </a:xfrm>
          <a:prstGeom prst="rect">
            <a:avLst/>
          </a:prstGeom>
          <a:noFill/>
          <a:ln/>
        </p:spPr>
        <p:txBody>
          <a:bodyPr wrap="square" lIns="0" tIns="0" rIns="0" bIns="0" rtlCol="0" anchor="ctr"/>
          <a:lstStyle/>
          <a:p>
            <a:pPr marL="0" indent="0">
              <a:buNone/>
            </a:pPr>
            <a:r>
              <a:rPr lang="en-US" sz="1000" dirty="0">
                <a:solidFill>
                  <a:srgbClr val="374151"/>
                </a:solidFill>
              </a:rPr>
              <a:t>.255</a:t>
            </a:r>
            <a:endParaRPr lang="en-US" sz="1000" dirty="0"/>
          </a:p>
        </p:txBody>
      </p:sp>
      <p:sp>
        <p:nvSpPr>
          <p:cNvPr id="51" name="Text 49"/>
          <p:cNvSpPr/>
          <p:nvPr/>
        </p:nvSpPr>
        <p:spPr>
          <a:xfrm>
            <a:off x="6903720" y="3529584"/>
            <a:ext cx="1143000" cy="438912"/>
          </a:xfrm>
          <a:prstGeom prst="rect">
            <a:avLst/>
          </a:prstGeom>
          <a:noFill/>
          <a:ln/>
        </p:spPr>
        <p:txBody>
          <a:bodyPr wrap="square" lIns="0" tIns="0" rIns="0" bIns="0" rtlCol="0" anchor="ctr"/>
          <a:lstStyle/>
          <a:p>
            <a:pPr marL="0" indent="0">
              <a:buNone/>
            </a:pPr>
            <a:r>
              <a:rPr lang="en-US" sz="1000" dirty="0">
                <a:solidFill>
                  <a:srgbClr val="374151"/>
                </a:solidFill>
              </a:rPr>
              <a:t>.225</a:t>
            </a:r>
            <a:endParaRPr lang="en-US" sz="1000" dirty="0"/>
          </a:p>
        </p:txBody>
      </p:sp>
      <p:sp>
        <p:nvSpPr>
          <p:cNvPr id="52" name="Text 50"/>
          <p:cNvSpPr/>
          <p:nvPr/>
        </p:nvSpPr>
        <p:spPr>
          <a:xfrm>
            <a:off x="8046720" y="3529584"/>
            <a:ext cx="640080" cy="438912"/>
          </a:xfrm>
          <a:prstGeom prst="rect">
            <a:avLst/>
          </a:prstGeom>
          <a:noFill/>
          <a:ln/>
        </p:spPr>
        <p:txBody>
          <a:bodyPr wrap="square" lIns="0" tIns="0" rIns="0" bIns="0" rtlCol="0" anchor="ctr"/>
          <a:lstStyle/>
          <a:p>
            <a:pPr marL="0" indent="0">
              <a:buNone/>
            </a:pPr>
            <a:r>
              <a:rPr lang="en-US" sz="1000" dirty="0">
                <a:solidFill>
                  <a:srgbClr val="374151"/>
                </a:solidFill>
              </a:rPr>
              <a:t>27</a:t>
            </a:r>
            <a:endParaRPr lang="en-US" sz="1000" dirty="0"/>
          </a:p>
        </p:txBody>
      </p:sp>
      <p:sp>
        <p:nvSpPr>
          <p:cNvPr id="53" name="Shape 51"/>
          <p:cNvSpPr/>
          <p:nvPr/>
        </p:nvSpPr>
        <p:spPr>
          <a:xfrm>
            <a:off x="457200" y="4041648"/>
            <a:ext cx="8229600" cy="685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54" name="Shape 52"/>
          <p:cNvSpPr/>
          <p:nvPr/>
        </p:nvSpPr>
        <p:spPr>
          <a:xfrm>
            <a:off x="457200" y="4041648"/>
            <a:ext cx="64008" cy="685800"/>
          </a:xfrm>
          <a:prstGeom prst="rect">
            <a:avLst/>
          </a:prstGeom>
          <a:solidFill>
            <a:srgbClr val="E85D04"/>
          </a:solidFill>
          <a:ln/>
        </p:spPr>
        <p:txBody>
          <a:bodyPr/>
          <a:lstStyle/>
          <a:p>
            <a:endParaRPr lang="es-CO"/>
          </a:p>
        </p:txBody>
      </p:sp>
      <p:pic>
        <p:nvPicPr>
          <p:cNvPr id="55" name="Image 0" descr="preencoded.png"/>
          <p:cNvPicPr>
            <a:picLocks noChangeAspect="1"/>
          </p:cNvPicPr>
          <p:nvPr/>
        </p:nvPicPr>
        <p:blipFill>
          <a:blip r:embed="rId3"/>
          <a:stretch>
            <a:fillRect/>
          </a:stretch>
        </p:blipFill>
        <p:spPr>
          <a:xfrm>
            <a:off x="640080" y="4160520"/>
            <a:ext cx="411480" cy="411480"/>
          </a:xfrm>
          <a:prstGeom prst="rect">
            <a:avLst/>
          </a:prstGeom>
        </p:spPr>
      </p:pic>
      <p:sp>
        <p:nvSpPr>
          <p:cNvPr id="56" name="Text 53"/>
          <p:cNvSpPr/>
          <p:nvPr/>
        </p:nvSpPr>
        <p:spPr>
          <a:xfrm>
            <a:off x="1143000" y="4087368"/>
            <a:ext cx="7406640" cy="594360"/>
          </a:xfrm>
          <a:prstGeom prst="rect">
            <a:avLst/>
          </a:prstGeom>
          <a:noFill/>
          <a:ln/>
        </p:spPr>
        <p:txBody>
          <a:bodyPr wrap="square" lIns="0" tIns="0" rIns="0" bIns="0" rtlCol="0" anchor="ctr"/>
          <a:lstStyle/>
          <a:p>
            <a:pPr marL="0" indent="0">
              <a:buNone/>
            </a:pPr>
            <a:r>
              <a:rPr lang="en-US" sz="1050" dirty="0">
                <a:solidFill>
                  <a:srgbClr val="374151"/>
                </a:solidFill>
              </a:rPr>
              <a:t>Asignacion por tamano: primero Visitantes (/25), luego Financiera (/26) y finalmente las VLAN de 20 hosts (/27). Cada subred no se solapa con la siguiente.</a:t>
            </a:r>
            <a:endParaRPr lang="en-US" sz="1050" dirty="0"/>
          </a:p>
        </p:txBody>
      </p:sp>
      <p:sp>
        <p:nvSpPr>
          <p:cNvPr id="57" name="Shape 54"/>
          <p:cNvSpPr/>
          <p:nvPr/>
        </p:nvSpPr>
        <p:spPr>
          <a:xfrm>
            <a:off x="0" y="4892040"/>
            <a:ext cx="9144000" cy="256032"/>
          </a:xfrm>
          <a:prstGeom prst="rect">
            <a:avLst/>
          </a:prstGeom>
          <a:solidFill>
            <a:srgbClr val="003057"/>
          </a:solidFill>
          <a:ln/>
        </p:spPr>
        <p:txBody>
          <a:bodyPr/>
          <a:lstStyle/>
          <a:p>
            <a:endParaRPr lang="es-CO"/>
          </a:p>
        </p:txBody>
      </p:sp>
      <p:sp>
        <p:nvSpPr>
          <p:cNvPr id="58" name="Text 55"/>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59" name="Text 56"/>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10 / 20</a:t>
            </a:r>
            <a:endParaRPr lang="en-US" sz="800" dirty="0"/>
          </a:p>
        </p:txBody>
      </p:sp>
      <p:sp>
        <p:nvSpPr>
          <p:cNvPr id="60" name="Shape 57"/>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10 - IPv6 /64 POR VLAN</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3 - Diseno del direccionamiento IPv6</a:t>
            </a:r>
            <a:endParaRPr lang="en-US" sz="2400" dirty="0"/>
          </a:p>
        </p:txBody>
      </p:sp>
      <p:sp>
        <p:nvSpPr>
          <p:cNvPr id="6" name="Shape 4"/>
          <p:cNvSpPr/>
          <p:nvPr/>
        </p:nvSpPr>
        <p:spPr>
          <a:xfrm>
            <a:off x="457200" y="1143000"/>
            <a:ext cx="8229600" cy="594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43000"/>
            <a:ext cx="64008" cy="594360"/>
          </a:xfrm>
          <a:prstGeom prst="rect">
            <a:avLst/>
          </a:prstGeom>
          <a:solidFill>
            <a:srgbClr val="1A4D7A"/>
          </a:solidFill>
          <a:ln/>
        </p:spPr>
        <p:txBody>
          <a:bodyPr/>
          <a:lstStyle/>
          <a:p>
            <a:endParaRPr lang="es-CO"/>
          </a:p>
        </p:txBody>
      </p:sp>
      <p:sp>
        <p:nvSpPr>
          <p:cNvPr id="8" name="Text 6"/>
          <p:cNvSpPr/>
          <p:nvPr/>
        </p:nvSpPr>
        <p:spPr>
          <a:xfrm>
            <a:off x="685800" y="1188720"/>
            <a:ext cx="7863840" cy="502920"/>
          </a:xfrm>
          <a:prstGeom prst="rect">
            <a:avLst/>
          </a:prstGeom>
          <a:noFill/>
          <a:ln/>
        </p:spPr>
        <p:txBody>
          <a:bodyPr wrap="square" lIns="0" tIns="0" rIns="0" bIns="0" rtlCol="0" anchor="ctr"/>
          <a:lstStyle/>
          <a:p>
            <a:pPr marL="0" indent="0">
              <a:buNone/>
            </a:pPr>
            <a:r>
              <a:rPr lang="en-US" sz="1200" b="1" dirty="0">
                <a:solidFill>
                  <a:srgbClr val="003057"/>
                </a:solidFill>
              </a:rPr>
              <a:t>Prefijo base sugerido: </a:t>
            </a:r>
            <a:r>
              <a:rPr lang="en-US" sz="1200" b="1" dirty="0">
                <a:solidFill>
                  <a:srgbClr val="1A4D7A"/>
                </a:solidFill>
              </a:rPr>
              <a:t>2001:DB8:ACAD::/48</a:t>
            </a:r>
            <a:r>
              <a:rPr lang="en-US" sz="1200" dirty="0">
                <a:solidFill>
                  <a:srgbClr val="374151"/>
                </a:solidFill>
              </a:rPr>
              <a:t>  -  cada VLAN usa un /64 (estandar recomendado para subredes IPv6)</a:t>
            </a:r>
            <a:endParaRPr lang="en-US" sz="1200" dirty="0"/>
          </a:p>
        </p:txBody>
      </p:sp>
      <p:sp>
        <p:nvSpPr>
          <p:cNvPr id="9" name="Shape 7"/>
          <p:cNvSpPr/>
          <p:nvPr/>
        </p:nvSpPr>
        <p:spPr>
          <a:xfrm>
            <a:off x="457200" y="1828800"/>
            <a:ext cx="8229600" cy="384048"/>
          </a:xfrm>
          <a:prstGeom prst="rect">
            <a:avLst/>
          </a:prstGeom>
          <a:solidFill>
            <a:srgbClr val="003057"/>
          </a:solidFill>
          <a:ln/>
        </p:spPr>
        <p:txBody>
          <a:bodyPr/>
          <a:lstStyle/>
          <a:p>
            <a:endParaRPr lang="es-CO"/>
          </a:p>
        </p:txBody>
      </p:sp>
      <p:sp>
        <p:nvSpPr>
          <p:cNvPr id="10" name="Text 8"/>
          <p:cNvSpPr/>
          <p:nvPr/>
        </p:nvSpPr>
        <p:spPr>
          <a:xfrm>
            <a:off x="548640" y="1828800"/>
            <a:ext cx="1463040" cy="384048"/>
          </a:xfrm>
          <a:prstGeom prst="rect">
            <a:avLst/>
          </a:prstGeom>
          <a:noFill/>
          <a:ln/>
        </p:spPr>
        <p:txBody>
          <a:bodyPr wrap="square" lIns="0" tIns="0" rIns="0" bIns="0" rtlCol="0" anchor="ctr"/>
          <a:lstStyle/>
          <a:p>
            <a:pPr marL="0" indent="0">
              <a:buNone/>
            </a:pPr>
            <a:r>
              <a:rPr lang="en-US" sz="1100" b="1" dirty="0">
                <a:solidFill>
                  <a:srgbClr val="FFFFFF"/>
                </a:solidFill>
              </a:rPr>
              <a:t>VLAN</a:t>
            </a:r>
            <a:endParaRPr lang="en-US" sz="1100" dirty="0"/>
          </a:p>
        </p:txBody>
      </p:sp>
      <p:sp>
        <p:nvSpPr>
          <p:cNvPr id="11" name="Text 9"/>
          <p:cNvSpPr/>
          <p:nvPr/>
        </p:nvSpPr>
        <p:spPr>
          <a:xfrm>
            <a:off x="2011680" y="1828800"/>
            <a:ext cx="2514600" cy="384048"/>
          </a:xfrm>
          <a:prstGeom prst="rect">
            <a:avLst/>
          </a:prstGeom>
          <a:noFill/>
          <a:ln/>
        </p:spPr>
        <p:txBody>
          <a:bodyPr wrap="square" lIns="0" tIns="0" rIns="0" bIns="0" rtlCol="0" anchor="ctr"/>
          <a:lstStyle/>
          <a:p>
            <a:pPr marL="0" indent="0">
              <a:buNone/>
            </a:pPr>
            <a:r>
              <a:rPr lang="en-US" sz="1100" b="1" dirty="0">
                <a:solidFill>
                  <a:srgbClr val="FFFFFF"/>
                </a:solidFill>
              </a:rPr>
              <a:t>Prefijo de subred</a:t>
            </a:r>
            <a:endParaRPr lang="en-US" sz="1100" dirty="0"/>
          </a:p>
        </p:txBody>
      </p:sp>
      <p:sp>
        <p:nvSpPr>
          <p:cNvPr id="12" name="Text 10"/>
          <p:cNvSpPr/>
          <p:nvPr/>
        </p:nvSpPr>
        <p:spPr>
          <a:xfrm>
            <a:off x="4526280" y="1828800"/>
            <a:ext cx="2377440" cy="384048"/>
          </a:xfrm>
          <a:prstGeom prst="rect">
            <a:avLst/>
          </a:prstGeom>
          <a:noFill/>
          <a:ln/>
        </p:spPr>
        <p:txBody>
          <a:bodyPr wrap="square" lIns="0" tIns="0" rIns="0" bIns="0" rtlCol="0" anchor="ctr"/>
          <a:lstStyle/>
          <a:p>
            <a:pPr marL="0" indent="0">
              <a:buNone/>
            </a:pPr>
            <a:r>
              <a:rPr lang="en-US" sz="1100" b="1" dirty="0">
                <a:solidFill>
                  <a:srgbClr val="FFFFFF"/>
                </a:solidFill>
              </a:rPr>
              <a:t>Gateway (router)</a:t>
            </a:r>
            <a:endParaRPr lang="en-US" sz="1100" dirty="0"/>
          </a:p>
        </p:txBody>
      </p:sp>
      <p:sp>
        <p:nvSpPr>
          <p:cNvPr id="13" name="Text 11"/>
          <p:cNvSpPr/>
          <p:nvPr/>
        </p:nvSpPr>
        <p:spPr>
          <a:xfrm>
            <a:off x="6903720" y="1828800"/>
            <a:ext cx="1645920" cy="384048"/>
          </a:xfrm>
          <a:prstGeom prst="rect">
            <a:avLst/>
          </a:prstGeom>
          <a:noFill/>
          <a:ln/>
        </p:spPr>
        <p:txBody>
          <a:bodyPr wrap="square" lIns="0" tIns="0" rIns="0" bIns="0" rtlCol="0" anchor="ctr"/>
          <a:lstStyle/>
          <a:p>
            <a:pPr marL="0" indent="0">
              <a:buNone/>
            </a:pPr>
            <a:r>
              <a:rPr lang="en-US" sz="1100" b="1" dirty="0">
                <a:solidFill>
                  <a:srgbClr val="FFFFFF"/>
                </a:solidFill>
              </a:rPr>
              <a:t>Prefijo</a:t>
            </a:r>
            <a:endParaRPr lang="en-US" sz="1100" dirty="0"/>
          </a:p>
        </p:txBody>
      </p:sp>
      <p:sp>
        <p:nvSpPr>
          <p:cNvPr id="14" name="Shape 12"/>
          <p:cNvSpPr/>
          <p:nvPr/>
        </p:nvSpPr>
        <p:spPr>
          <a:xfrm>
            <a:off x="457200" y="2212848"/>
            <a:ext cx="8229600" cy="457200"/>
          </a:xfrm>
          <a:prstGeom prst="rect">
            <a:avLst/>
          </a:prstGeom>
          <a:solidFill>
            <a:srgbClr val="FFFFFF"/>
          </a:solidFill>
          <a:ln/>
        </p:spPr>
        <p:txBody>
          <a:bodyPr/>
          <a:lstStyle/>
          <a:p>
            <a:endParaRPr lang="es-CO"/>
          </a:p>
        </p:txBody>
      </p:sp>
      <p:sp>
        <p:nvSpPr>
          <p:cNvPr id="15" name="Shape 13"/>
          <p:cNvSpPr/>
          <p:nvPr/>
        </p:nvSpPr>
        <p:spPr>
          <a:xfrm>
            <a:off x="457200" y="2212848"/>
            <a:ext cx="54864" cy="457200"/>
          </a:xfrm>
          <a:prstGeom prst="rect">
            <a:avLst/>
          </a:prstGeom>
          <a:solidFill>
            <a:srgbClr val="39A900"/>
          </a:solidFill>
          <a:ln/>
        </p:spPr>
        <p:txBody>
          <a:bodyPr/>
          <a:lstStyle/>
          <a:p>
            <a:endParaRPr lang="es-CO"/>
          </a:p>
        </p:txBody>
      </p:sp>
      <p:sp>
        <p:nvSpPr>
          <p:cNvPr id="16" name="Text 14"/>
          <p:cNvSpPr/>
          <p:nvPr/>
        </p:nvSpPr>
        <p:spPr>
          <a:xfrm>
            <a:off x="548640" y="2212848"/>
            <a:ext cx="1463040" cy="457200"/>
          </a:xfrm>
          <a:prstGeom prst="rect">
            <a:avLst/>
          </a:prstGeom>
          <a:noFill/>
          <a:ln/>
        </p:spPr>
        <p:txBody>
          <a:bodyPr wrap="square" lIns="0" tIns="0" rIns="0" bIns="0" rtlCol="0" anchor="ctr"/>
          <a:lstStyle/>
          <a:p>
            <a:pPr marL="0" indent="0">
              <a:buNone/>
            </a:pPr>
            <a:r>
              <a:rPr lang="en-US" sz="1100" b="1" dirty="0">
                <a:solidFill>
                  <a:srgbClr val="003057"/>
                </a:solidFill>
                <a:latin typeface="Calibri" pitchFamily="34" charset="0"/>
                <a:ea typeface="Calibri" pitchFamily="34" charset="-122"/>
                <a:cs typeface="Calibri" pitchFamily="34" charset="-120"/>
              </a:rPr>
              <a:t>VLAN 10 Administrativa</a:t>
            </a:r>
            <a:endParaRPr lang="en-US" sz="1100" dirty="0"/>
          </a:p>
        </p:txBody>
      </p:sp>
      <p:sp>
        <p:nvSpPr>
          <p:cNvPr id="17" name="Text 15"/>
          <p:cNvSpPr/>
          <p:nvPr/>
        </p:nvSpPr>
        <p:spPr>
          <a:xfrm>
            <a:off x="2011680" y="2212848"/>
            <a:ext cx="251460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2001:DB8:ACAD:10::/64</a:t>
            </a:r>
            <a:endParaRPr lang="en-US" sz="1100" dirty="0"/>
          </a:p>
        </p:txBody>
      </p:sp>
      <p:sp>
        <p:nvSpPr>
          <p:cNvPr id="18" name="Text 16"/>
          <p:cNvSpPr/>
          <p:nvPr/>
        </p:nvSpPr>
        <p:spPr>
          <a:xfrm>
            <a:off x="4526280" y="2212848"/>
            <a:ext cx="237744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2001:DB8:ACAD:10::1</a:t>
            </a:r>
            <a:endParaRPr lang="en-US" sz="1100" dirty="0"/>
          </a:p>
        </p:txBody>
      </p:sp>
      <p:sp>
        <p:nvSpPr>
          <p:cNvPr id="19" name="Text 17"/>
          <p:cNvSpPr/>
          <p:nvPr/>
        </p:nvSpPr>
        <p:spPr>
          <a:xfrm>
            <a:off x="6903720" y="2212848"/>
            <a:ext cx="164592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/64</a:t>
            </a:r>
            <a:endParaRPr lang="en-US" sz="1100" dirty="0"/>
          </a:p>
        </p:txBody>
      </p:sp>
      <p:sp>
        <p:nvSpPr>
          <p:cNvPr id="20" name="Shape 18"/>
          <p:cNvSpPr/>
          <p:nvPr/>
        </p:nvSpPr>
        <p:spPr>
          <a:xfrm>
            <a:off x="457200" y="2670048"/>
            <a:ext cx="8229600" cy="457200"/>
          </a:xfrm>
          <a:prstGeom prst="rect">
            <a:avLst/>
          </a:prstGeom>
          <a:solidFill>
            <a:srgbClr val="FAFBFC"/>
          </a:solidFill>
          <a:ln/>
        </p:spPr>
        <p:txBody>
          <a:bodyPr/>
          <a:lstStyle/>
          <a:p>
            <a:endParaRPr lang="es-CO"/>
          </a:p>
        </p:txBody>
      </p:sp>
      <p:sp>
        <p:nvSpPr>
          <p:cNvPr id="21" name="Shape 19"/>
          <p:cNvSpPr/>
          <p:nvPr/>
        </p:nvSpPr>
        <p:spPr>
          <a:xfrm>
            <a:off x="457200" y="2670048"/>
            <a:ext cx="54864" cy="457200"/>
          </a:xfrm>
          <a:prstGeom prst="rect">
            <a:avLst/>
          </a:prstGeom>
          <a:solidFill>
            <a:srgbClr val="E85D04"/>
          </a:solidFill>
          <a:ln/>
        </p:spPr>
        <p:txBody>
          <a:bodyPr/>
          <a:lstStyle/>
          <a:p>
            <a:endParaRPr lang="es-CO"/>
          </a:p>
        </p:txBody>
      </p:sp>
      <p:sp>
        <p:nvSpPr>
          <p:cNvPr id="22" name="Text 20"/>
          <p:cNvSpPr/>
          <p:nvPr/>
        </p:nvSpPr>
        <p:spPr>
          <a:xfrm>
            <a:off x="548640" y="2670048"/>
            <a:ext cx="1463040" cy="457200"/>
          </a:xfrm>
          <a:prstGeom prst="rect">
            <a:avLst/>
          </a:prstGeom>
          <a:noFill/>
          <a:ln/>
        </p:spPr>
        <p:txBody>
          <a:bodyPr wrap="square" lIns="0" tIns="0" rIns="0" bIns="0" rtlCol="0" anchor="ctr"/>
          <a:lstStyle/>
          <a:p>
            <a:pPr marL="0" indent="0">
              <a:buNone/>
            </a:pPr>
            <a:r>
              <a:rPr lang="en-US" sz="1100" b="1" dirty="0">
                <a:solidFill>
                  <a:srgbClr val="003057"/>
                </a:solidFill>
                <a:latin typeface="Calibri" pitchFamily="34" charset="0"/>
                <a:ea typeface="Calibri" pitchFamily="34" charset="-122"/>
                <a:cs typeface="Calibri" pitchFamily="34" charset="-120"/>
              </a:rPr>
              <a:t>VLAN 20 Financiera</a:t>
            </a:r>
            <a:endParaRPr lang="en-US" sz="1100" dirty="0"/>
          </a:p>
        </p:txBody>
      </p:sp>
      <p:sp>
        <p:nvSpPr>
          <p:cNvPr id="23" name="Text 21"/>
          <p:cNvSpPr/>
          <p:nvPr/>
        </p:nvSpPr>
        <p:spPr>
          <a:xfrm>
            <a:off x="2011680" y="2670048"/>
            <a:ext cx="251460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2001:DB8:ACAD:20::/64</a:t>
            </a:r>
            <a:endParaRPr lang="en-US" sz="1100" dirty="0"/>
          </a:p>
        </p:txBody>
      </p:sp>
      <p:sp>
        <p:nvSpPr>
          <p:cNvPr id="24" name="Text 22"/>
          <p:cNvSpPr/>
          <p:nvPr/>
        </p:nvSpPr>
        <p:spPr>
          <a:xfrm>
            <a:off x="4526280" y="2670048"/>
            <a:ext cx="237744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2001:DB8:ACAD:20::1</a:t>
            </a:r>
            <a:endParaRPr lang="en-US" sz="1100" dirty="0"/>
          </a:p>
        </p:txBody>
      </p:sp>
      <p:sp>
        <p:nvSpPr>
          <p:cNvPr id="25" name="Text 23"/>
          <p:cNvSpPr/>
          <p:nvPr/>
        </p:nvSpPr>
        <p:spPr>
          <a:xfrm>
            <a:off x="6903720" y="2670048"/>
            <a:ext cx="164592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/64</a:t>
            </a:r>
            <a:endParaRPr lang="en-US" sz="1100" dirty="0"/>
          </a:p>
        </p:txBody>
      </p:sp>
      <p:sp>
        <p:nvSpPr>
          <p:cNvPr id="26" name="Shape 24"/>
          <p:cNvSpPr/>
          <p:nvPr/>
        </p:nvSpPr>
        <p:spPr>
          <a:xfrm>
            <a:off x="457200" y="3127248"/>
            <a:ext cx="8229600" cy="457200"/>
          </a:xfrm>
          <a:prstGeom prst="rect">
            <a:avLst/>
          </a:prstGeom>
          <a:solidFill>
            <a:srgbClr val="FFFFFF"/>
          </a:solidFill>
          <a:ln/>
        </p:spPr>
        <p:txBody>
          <a:bodyPr/>
          <a:lstStyle/>
          <a:p>
            <a:endParaRPr lang="es-CO"/>
          </a:p>
        </p:txBody>
      </p:sp>
      <p:sp>
        <p:nvSpPr>
          <p:cNvPr id="27" name="Shape 25"/>
          <p:cNvSpPr/>
          <p:nvPr/>
        </p:nvSpPr>
        <p:spPr>
          <a:xfrm>
            <a:off x="457200" y="3127248"/>
            <a:ext cx="54864" cy="457200"/>
          </a:xfrm>
          <a:prstGeom prst="rect">
            <a:avLst/>
          </a:prstGeom>
          <a:solidFill>
            <a:srgbClr val="1A4D7A"/>
          </a:solidFill>
          <a:ln/>
        </p:spPr>
        <p:txBody>
          <a:bodyPr/>
          <a:lstStyle/>
          <a:p>
            <a:endParaRPr lang="es-CO"/>
          </a:p>
        </p:txBody>
      </p:sp>
      <p:sp>
        <p:nvSpPr>
          <p:cNvPr id="28" name="Text 26"/>
          <p:cNvSpPr/>
          <p:nvPr/>
        </p:nvSpPr>
        <p:spPr>
          <a:xfrm>
            <a:off x="548640" y="3127248"/>
            <a:ext cx="1463040" cy="457200"/>
          </a:xfrm>
          <a:prstGeom prst="rect">
            <a:avLst/>
          </a:prstGeom>
          <a:noFill/>
          <a:ln/>
        </p:spPr>
        <p:txBody>
          <a:bodyPr wrap="square" lIns="0" tIns="0" rIns="0" bIns="0" rtlCol="0" anchor="ctr"/>
          <a:lstStyle/>
          <a:p>
            <a:pPr marL="0" indent="0">
              <a:buNone/>
            </a:pPr>
            <a:r>
              <a:rPr lang="en-US" sz="1100" b="1" dirty="0">
                <a:solidFill>
                  <a:srgbClr val="003057"/>
                </a:solidFill>
                <a:latin typeface="Calibri" pitchFamily="34" charset="0"/>
                <a:ea typeface="Calibri" pitchFamily="34" charset="-122"/>
                <a:cs typeface="Calibri" pitchFamily="34" charset="-120"/>
              </a:rPr>
              <a:t>VLAN 30 Tecnicos</a:t>
            </a:r>
            <a:endParaRPr lang="en-US" sz="1100" dirty="0"/>
          </a:p>
        </p:txBody>
      </p:sp>
      <p:sp>
        <p:nvSpPr>
          <p:cNvPr id="29" name="Text 27"/>
          <p:cNvSpPr/>
          <p:nvPr/>
        </p:nvSpPr>
        <p:spPr>
          <a:xfrm>
            <a:off x="2011680" y="3127248"/>
            <a:ext cx="251460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2001:DB8:ACAD:30::/64</a:t>
            </a:r>
            <a:endParaRPr lang="en-US" sz="1100" dirty="0"/>
          </a:p>
        </p:txBody>
      </p:sp>
      <p:sp>
        <p:nvSpPr>
          <p:cNvPr id="30" name="Text 28"/>
          <p:cNvSpPr/>
          <p:nvPr/>
        </p:nvSpPr>
        <p:spPr>
          <a:xfrm>
            <a:off x="4526280" y="3127248"/>
            <a:ext cx="237744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2001:DB8:ACAD:30::1</a:t>
            </a:r>
            <a:endParaRPr lang="en-US" sz="1100" dirty="0"/>
          </a:p>
        </p:txBody>
      </p:sp>
      <p:sp>
        <p:nvSpPr>
          <p:cNvPr id="31" name="Text 29"/>
          <p:cNvSpPr/>
          <p:nvPr/>
        </p:nvSpPr>
        <p:spPr>
          <a:xfrm>
            <a:off x="6903720" y="3127248"/>
            <a:ext cx="164592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/64</a:t>
            </a:r>
            <a:endParaRPr lang="en-US" sz="1100" dirty="0"/>
          </a:p>
        </p:txBody>
      </p:sp>
      <p:sp>
        <p:nvSpPr>
          <p:cNvPr id="32" name="Shape 30"/>
          <p:cNvSpPr/>
          <p:nvPr/>
        </p:nvSpPr>
        <p:spPr>
          <a:xfrm>
            <a:off x="457200" y="3584448"/>
            <a:ext cx="8229600" cy="457200"/>
          </a:xfrm>
          <a:prstGeom prst="rect">
            <a:avLst/>
          </a:prstGeom>
          <a:solidFill>
            <a:srgbClr val="FAFBFC"/>
          </a:solidFill>
          <a:ln/>
        </p:spPr>
        <p:txBody>
          <a:bodyPr/>
          <a:lstStyle/>
          <a:p>
            <a:endParaRPr lang="es-CO"/>
          </a:p>
        </p:txBody>
      </p:sp>
      <p:sp>
        <p:nvSpPr>
          <p:cNvPr id="33" name="Shape 31"/>
          <p:cNvSpPr/>
          <p:nvPr/>
        </p:nvSpPr>
        <p:spPr>
          <a:xfrm>
            <a:off x="457200" y="3584448"/>
            <a:ext cx="54864" cy="457200"/>
          </a:xfrm>
          <a:prstGeom prst="rect">
            <a:avLst/>
          </a:prstGeom>
          <a:solidFill>
            <a:srgbClr val="F59E0B"/>
          </a:solidFill>
          <a:ln/>
        </p:spPr>
        <p:txBody>
          <a:bodyPr/>
          <a:lstStyle/>
          <a:p>
            <a:endParaRPr lang="es-CO"/>
          </a:p>
        </p:txBody>
      </p:sp>
      <p:sp>
        <p:nvSpPr>
          <p:cNvPr id="34" name="Text 32"/>
          <p:cNvSpPr/>
          <p:nvPr/>
        </p:nvSpPr>
        <p:spPr>
          <a:xfrm>
            <a:off x="548640" y="3584448"/>
            <a:ext cx="1463040" cy="457200"/>
          </a:xfrm>
          <a:prstGeom prst="rect">
            <a:avLst/>
          </a:prstGeom>
          <a:noFill/>
          <a:ln/>
        </p:spPr>
        <p:txBody>
          <a:bodyPr wrap="square" lIns="0" tIns="0" rIns="0" bIns="0" rtlCol="0" anchor="ctr"/>
          <a:lstStyle/>
          <a:p>
            <a:pPr marL="0" indent="0">
              <a:buNone/>
            </a:pPr>
            <a:r>
              <a:rPr lang="en-US" sz="1100" b="1" dirty="0">
                <a:solidFill>
                  <a:srgbClr val="003057"/>
                </a:solidFill>
                <a:latin typeface="Calibri" pitchFamily="34" charset="0"/>
                <a:ea typeface="Calibri" pitchFamily="34" charset="-122"/>
                <a:cs typeface="Calibri" pitchFamily="34" charset="-120"/>
              </a:rPr>
              <a:t>VLAN 40 Visitantes</a:t>
            </a:r>
            <a:endParaRPr lang="en-US" sz="1100" dirty="0"/>
          </a:p>
        </p:txBody>
      </p:sp>
      <p:sp>
        <p:nvSpPr>
          <p:cNvPr id="35" name="Text 33"/>
          <p:cNvSpPr/>
          <p:nvPr/>
        </p:nvSpPr>
        <p:spPr>
          <a:xfrm>
            <a:off x="2011680" y="3584448"/>
            <a:ext cx="251460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2001:DB8:ACAD:40::/64</a:t>
            </a:r>
            <a:endParaRPr lang="en-US" sz="1100" dirty="0"/>
          </a:p>
        </p:txBody>
      </p:sp>
      <p:sp>
        <p:nvSpPr>
          <p:cNvPr id="36" name="Text 34"/>
          <p:cNvSpPr/>
          <p:nvPr/>
        </p:nvSpPr>
        <p:spPr>
          <a:xfrm>
            <a:off x="4526280" y="3584448"/>
            <a:ext cx="2377440" cy="457200"/>
          </a:xfrm>
          <a:prstGeom prst="rect">
            <a:avLst/>
          </a:prstGeom>
          <a:noFill/>
          <a:ln/>
        </p:spPr>
        <p:txBody>
          <a:bodyPr wrap="square" lIns="0" tIns="0" rIns="0" bIns="0" rtlCol="0" anchor="ctr"/>
          <a:lstStyle/>
          <a:p>
            <a:pPr marL="0" indent="0">
              <a:buNone/>
            </a:pPr>
            <a:r>
              <a:rPr lang="en-US" sz="1100" dirty="0">
                <a:solidFill>
                  <a:srgbClr val="374151"/>
                </a:solidFill>
                <a:latin typeface="Consolas" pitchFamily="34" charset="0"/>
                <a:ea typeface="Consolas" pitchFamily="34" charset="-122"/>
                <a:cs typeface="Consolas" pitchFamily="34" charset="-120"/>
              </a:rPr>
              <a:t>2001:DB8:ACAD:40::1</a:t>
            </a:r>
            <a:endParaRPr lang="en-US" sz="1100" dirty="0"/>
          </a:p>
        </p:txBody>
      </p:sp>
      <p:sp>
        <p:nvSpPr>
          <p:cNvPr id="37" name="Text 35"/>
          <p:cNvSpPr/>
          <p:nvPr/>
        </p:nvSpPr>
        <p:spPr>
          <a:xfrm>
            <a:off x="6903720" y="3584448"/>
            <a:ext cx="1645920" cy="4572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/64</a:t>
            </a:r>
            <a:endParaRPr lang="en-US" sz="1100" dirty="0"/>
          </a:p>
        </p:txBody>
      </p:sp>
      <p:sp>
        <p:nvSpPr>
          <p:cNvPr id="38" name="Shape 36"/>
          <p:cNvSpPr/>
          <p:nvPr/>
        </p:nvSpPr>
        <p:spPr>
          <a:xfrm>
            <a:off x="457200" y="411480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9" name="Shape 37"/>
          <p:cNvSpPr/>
          <p:nvPr/>
        </p:nvSpPr>
        <p:spPr>
          <a:xfrm>
            <a:off x="457200" y="4114800"/>
            <a:ext cx="64008" cy="640080"/>
          </a:xfrm>
          <a:prstGeom prst="rect">
            <a:avLst/>
          </a:prstGeom>
          <a:solidFill>
            <a:srgbClr val="39A900"/>
          </a:solidFill>
          <a:ln/>
        </p:spPr>
        <p:txBody>
          <a:bodyPr/>
          <a:lstStyle/>
          <a:p>
            <a:endParaRPr lang="es-CO"/>
          </a:p>
        </p:txBody>
      </p:sp>
      <p:pic>
        <p:nvPicPr>
          <p:cNvPr id="40" name="Image 0" descr="preencoded.png"/>
          <p:cNvPicPr>
            <a:picLocks noChangeAspect="1"/>
          </p:cNvPicPr>
          <p:nvPr/>
        </p:nvPicPr>
        <p:blipFill>
          <a:blip r:embed="rId3"/>
          <a:stretch>
            <a:fillRect/>
          </a:stretch>
        </p:blipFill>
        <p:spPr>
          <a:xfrm>
            <a:off x="640080" y="4206240"/>
            <a:ext cx="411480" cy="411480"/>
          </a:xfrm>
          <a:prstGeom prst="rect">
            <a:avLst/>
          </a:prstGeom>
        </p:spPr>
      </p:pic>
      <p:sp>
        <p:nvSpPr>
          <p:cNvPr id="41" name="Text 38"/>
          <p:cNvSpPr/>
          <p:nvPr/>
        </p:nvSpPr>
        <p:spPr>
          <a:xfrm>
            <a:off x="1143000" y="4160520"/>
            <a:ext cx="7406640" cy="548640"/>
          </a:xfrm>
          <a:prstGeom prst="rect">
            <a:avLst/>
          </a:prstGeom>
          <a:noFill/>
          <a:ln/>
        </p:spPr>
        <p:txBody>
          <a:bodyPr wrap="square" lIns="0" tIns="0" rIns="0" bIns="0" rtlCol="0" anchor="ctr"/>
          <a:lstStyle/>
          <a:p>
            <a:pPr marL="0" indent="0">
              <a:buNone/>
            </a:pPr>
            <a:r>
              <a:rPr lang="en-US" sz="1050" dirty="0">
                <a:solidFill>
                  <a:srgbClr val="374151"/>
                </a:solidFill>
              </a:rPr>
              <a:t>Buena practica: codifique el numero de VLAN en el cuarto grupo (10, 20, 30, 40) para recordar rapidamente a que red pertenece cada prefijo.</a:t>
            </a:r>
            <a:endParaRPr lang="en-US" sz="1050" dirty="0"/>
          </a:p>
        </p:txBody>
      </p:sp>
      <p:sp>
        <p:nvSpPr>
          <p:cNvPr id="42" name="Shape 39"/>
          <p:cNvSpPr/>
          <p:nvPr/>
        </p:nvSpPr>
        <p:spPr>
          <a:xfrm>
            <a:off x="0" y="4892040"/>
            <a:ext cx="9144000" cy="256032"/>
          </a:xfrm>
          <a:prstGeom prst="rect">
            <a:avLst/>
          </a:prstGeom>
          <a:solidFill>
            <a:srgbClr val="003057"/>
          </a:solidFill>
          <a:ln/>
        </p:spPr>
        <p:txBody>
          <a:bodyPr/>
          <a:lstStyle/>
          <a:p>
            <a:endParaRPr lang="es-CO"/>
          </a:p>
        </p:txBody>
      </p:sp>
      <p:sp>
        <p:nvSpPr>
          <p:cNvPr id="43" name="Text 40"/>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44" name="Text 41"/>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11 / 20</a:t>
            </a:r>
            <a:endParaRPr lang="en-US" sz="800" dirty="0"/>
          </a:p>
        </p:txBody>
      </p:sp>
      <p:sp>
        <p:nvSpPr>
          <p:cNvPr id="45" name="Shape 42"/>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11 - ROUTER-ON-A-STICK</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4 - Topologia en Packet Tracer</a:t>
            </a:r>
            <a:endParaRPr lang="en-US" sz="2400" dirty="0"/>
          </a:p>
        </p:txBody>
      </p:sp>
      <p:sp>
        <p:nvSpPr>
          <p:cNvPr id="6" name="Shape 4"/>
          <p:cNvSpPr/>
          <p:nvPr/>
        </p:nvSpPr>
        <p:spPr>
          <a:xfrm>
            <a:off x="457200" y="1143000"/>
            <a:ext cx="8229600" cy="24688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43000"/>
            <a:ext cx="64008" cy="2468880"/>
          </a:xfrm>
          <a:prstGeom prst="rect">
            <a:avLst/>
          </a:prstGeom>
          <a:solidFill>
            <a:srgbClr val="003057"/>
          </a:solidFill>
          <a:ln/>
        </p:spPr>
        <p:txBody>
          <a:bodyPr/>
          <a:lstStyle/>
          <a:p>
            <a:endParaRPr lang="es-CO"/>
          </a:p>
        </p:txBody>
      </p:sp>
      <p:sp>
        <p:nvSpPr>
          <p:cNvPr id="8" name="Shape 6"/>
          <p:cNvSpPr/>
          <p:nvPr/>
        </p:nvSpPr>
        <p:spPr>
          <a:xfrm>
            <a:off x="3931920" y="1325880"/>
            <a:ext cx="1280160" cy="640080"/>
          </a:xfrm>
          <a:prstGeom prst="ellipse">
            <a:avLst/>
          </a:prstGeom>
          <a:solidFill>
            <a:srgbClr val="003057"/>
          </a:solidFill>
          <a:ln/>
        </p:spPr>
        <p:txBody>
          <a:bodyPr/>
          <a:lstStyle/>
          <a:p>
            <a:endParaRPr lang="es-CO"/>
          </a:p>
        </p:txBody>
      </p:sp>
      <p:sp>
        <p:nvSpPr>
          <p:cNvPr id="9" name="Text 7"/>
          <p:cNvSpPr/>
          <p:nvPr/>
        </p:nvSpPr>
        <p:spPr>
          <a:xfrm>
            <a:off x="3931920" y="1325880"/>
            <a:ext cx="1280160" cy="640080"/>
          </a:xfrm>
          <a:prstGeom prst="rect">
            <a:avLst/>
          </a:prstGeom>
          <a:noFill/>
          <a:ln/>
        </p:spPr>
        <p:txBody>
          <a:bodyPr wrap="square" lIns="0" tIns="0" rIns="0" bIns="0" rtlCol="0" anchor="ctr"/>
          <a:lstStyle/>
          <a:p>
            <a:pPr marL="0" indent="0" algn="ctr">
              <a:buNone/>
            </a:pPr>
            <a:r>
              <a:rPr lang="en-US" sz="1100" b="1" dirty="0">
                <a:solidFill>
                  <a:srgbClr val="FFFFFF"/>
                </a:solidFill>
              </a:rPr>
              <a:t>R1 Router</a:t>
            </a:r>
            <a:endParaRPr lang="en-US" sz="1100" dirty="0"/>
          </a:p>
        </p:txBody>
      </p:sp>
      <p:sp>
        <p:nvSpPr>
          <p:cNvPr id="10" name="Shape 8"/>
          <p:cNvSpPr/>
          <p:nvPr/>
        </p:nvSpPr>
        <p:spPr>
          <a:xfrm>
            <a:off x="4544568" y="1965960"/>
            <a:ext cx="54864" cy="502920"/>
          </a:xfrm>
          <a:prstGeom prst="rect">
            <a:avLst/>
          </a:prstGeom>
          <a:solidFill>
            <a:srgbClr val="39A900"/>
          </a:solidFill>
          <a:ln/>
        </p:spPr>
        <p:txBody>
          <a:bodyPr/>
          <a:lstStyle/>
          <a:p>
            <a:endParaRPr lang="es-CO"/>
          </a:p>
        </p:txBody>
      </p:sp>
      <p:sp>
        <p:nvSpPr>
          <p:cNvPr id="11" name="Text 9"/>
          <p:cNvSpPr/>
          <p:nvPr/>
        </p:nvSpPr>
        <p:spPr>
          <a:xfrm>
            <a:off x="4663440" y="2057400"/>
            <a:ext cx="2286000" cy="228600"/>
          </a:xfrm>
          <a:prstGeom prst="rect">
            <a:avLst/>
          </a:prstGeom>
          <a:noFill/>
          <a:ln/>
        </p:spPr>
        <p:txBody>
          <a:bodyPr wrap="square" lIns="0" tIns="0" rIns="0" bIns="0" rtlCol="0" anchor="ctr"/>
          <a:lstStyle/>
          <a:p>
            <a:pPr marL="0" indent="0">
              <a:buNone/>
            </a:pPr>
            <a:r>
              <a:rPr lang="en-US" sz="800" i="1" dirty="0">
                <a:solidFill>
                  <a:srgbClr val="39A900"/>
                </a:solidFill>
              </a:rPr>
              <a:t>G0/0 TRUNK 802.1Q</a:t>
            </a:r>
            <a:endParaRPr lang="en-US" sz="800" dirty="0"/>
          </a:p>
        </p:txBody>
      </p:sp>
      <p:sp>
        <p:nvSpPr>
          <p:cNvPr id="12" name="Shape 10"/>
          <p:cNvSpPr/>
          <p:nvPr/>
        </p:nvSpPr>
        <p:spPr>
          <a:xfrm>
            <a:off x="3657600" y="2468880"/>
            <a:ext cx="1828800" cy="457200"/>
          </a:xfrm>
          <a:prstGeom prst="rect">
            <a:avLst/>
          </a:prstGeom>
          <a:solidFill>
            <a:srgbClr val="1A4D7A"/>
          </a:solidFill>
          <a:ln/>
        </p:spPr>
        <p:txBody>
          <a:bodyPr/>
          <a:lstStyle/>
          <a:p>
            <a:endParaRPr lang="es-CO"/>
          </a:p>
        </p:txBody>
      </p:sp>
      <p:sp>
        <p:nvSpPr>
          <p:cNvPr id="13" name="Text 11"/>
          <p:cNvSpPr/>
          <p:nvPr/>
        </p:nvSpPr>
        <p:spPr>
          <a:xfrm>
            <a:off x="3657600" y="246888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rPr>
              <a:t>SW1 Switch L2</a:t>
            </a:r>
            <a:endParaRPr lang="en-US" sz="1000" dirty="0"/>
          </a:p>
        </p:txBody>
      </p:sp>
      <p:sp>
        <p:nvSpPr>
          <p:cNvPr id="14" name="Shape 12"/>
          <p:cNvSpPr/>
          <p:nvPr/>
        </p:nvSpPr>
        <p:spPr>
          <a:xfrm>
            <a:off x="1463040" y="2971800"/>
            <a:ext cx="6217920" cy="27432"/>
          </a:xfrm>
          <a:prstGeom prst="rect">
            <a:avLst/>
          </a:prstGeom>
          <a:solidFill>
            <a:srgbClr val="39A900"/>
          </a:solidFill>
          <a:ln/>
        </p:spPr>
        <p:txBody>
          <a:bodyPr/>
          <a:lstStyle/>
          <a:p>
            <a:endParaRPr lang="es-CO"/>
          </a:p>
        </p:txBody>
      </p:sp>
      <p:sp>
        <p:nvSpPr>
          <p:cNvPr id="15" name="Shape 13"/>
          <p:cNvSpPr/>
          <p:nvPr/>
        </p:nvSpPr>
        <p:spPr>
          <a:xfrm>
            <a:off x="1435608" y="2999232"/>
            <a:ext cx="36576" cy="201168"/>
          </a:xfrm>
          <a:prstGeom prst="rect">
            <a:avLst/>
          </a:prstGeom>
          <a:solidFill>
            <a:srgbClr val="39A900"/>
          </a:solidFill>
          <a:ln/>
        </p:spPr>
        <p:txBody>
          <a:bodyPr/>
          <a:lstStyle/>
          <a:p>
            <a:endParaRPr lang="es-CO"/>
          </a:p>
        </p:txBody>
      </p:sp>
      <p:sp>
        <p:nvSpPr>
          <p:cNvPr id="16" name="Shape 14"/>
          <p:cNvSpPr/>
          <p:nvPr/>
        </p:nvSpPr>
        <p:spPr>
          <a:xfrm>
            <a:off x="914400" y="3200400"/>
            <a:ext cx="1097280" cy="365760"/>
          </a:xfrm>
          <a:prstGeom prst="rect">
            <a:avLst/>
          </a:prstGeom>
          <a:solidFill>
            <a:srgbClr val="39A900"/>
          </a:solidFill>
          <a:ln/>
        </p:spPr>
        <p:txBody>
          <a:bodyPr/>
          <a:lstStyle/>
          <a:p>
            <a:endParaRPr lang="es-CO"/>
          </a:p>
        </p:txBody>
      </p:sp>
      <p:sp>
        <p:nvSpPr>
          <p:cNvPr id="17" name="Text 15"/>
          <p:cNvSpPr/>
          <p:nvPr/>
        </p:nvSpPr>
        <p:spPr>
          <a:xfrm>
            <a:off x="914400" y="3200400"/>
            <a:ext cx="1097280" cy="365760"/>
          </a:xfrm>
          <a:prstGeom prst="rect">
            <a:avLst/>
          </a:prstGeom>
          <a:noFill/>
          <a:ln/>
        </p:spPr>
        <p:txBody>
          <a:bodyPr wrap="square" lIns="0" tIns="0" rIns="0" bIns="0" rtlCol="0" anchor="ctr"/>
          <a:lstStyle/>
          <a:p>
            <a:pPr marL="0" indent="0" algn="ctr">
              <a:buNone/>
            </a:pPr>
            <a:r>
              <a:rPr lang="en-US" sz="900" b="1" dirty="0">
                <a:solidFill>
                  <a:srgbClr val="FFFFFF"/>
                </a:solidFill>
              </a:rPr>
              <a:t>VLAN 10 Admin</a:t>
            </a:r>
            <a:endParaRPr lang="en-US" sz="900" dirty="0"/>
          </a:p>
        </p:txBody>
      </p:sp>
      <p:sp>
        <p:nvSpPr>
          <p:cNvPr id="18" name="Shape 16"/>
          <p:cNvSpPr/>
          <p:nvPr/>
        </p:nvSpPr>
        <p:spPr>
          <a:xfrm>
            <a:off x="3264408" y="2999232"/>
            <a:ext cx="36576" cy="201168"/>
          </a:xfrm>
          <a:prstGeom prst="rect">
            <a:avLst/>
          </a:prstGeom>
          <a:solidFill>
            <a:srgbClr val="39A900"/>
          </a:solidFill>
          <a:ln/>
        </p:spPr>
        <p:txBody>
          <a:bodyPr/>
          <a:lstStyle/>
          <a:p>
            <a:endParaRPr lang="es-CO"/>
          </a:p>
        </p:txBody>
      </p:sp>
      <p:sp>
        <p:nvSpPr>
          <p:cNvPr id="19" name="Shape 17"/>
          <p:cNvSpPr/>
          <p:nvPr/>
        </p:nvSpPr>
        <p:spPr>
          <a:xfrm>
            <a:off x="2743200" y="3200400"/>
            <a:ext cx="1097280" cy="365760"/>
          </a:xfrm>
          <a:prstGeom prst="rect">
            <a:avLst/>
          </a:prstGeom>
          <a:solidFill>
            <a:srgbClr val="E85D04"/>
          </a:solidFill>
          <a:ln/>
        </p:spPr>
        <p:txBody>
          <a:bodyPr/>
          <a:lstStyle/>
          <a:p>
            <a:endParaRPr lang="es-CO"/>
          </a:p>
        </p:txBody>
      </p:sp>
      <p:sp>
        <p:nvSpPr>
          <p:cNvPr id="20" name="Text 18"/>
          <p:cNvSpPr/>
          <p:nvPr/>
        </p:nvSpPr>
        <p:spPr>
          <a:xfrm>
            <a:off x="2743200" y="3200400"/>
            <a:ext cx="1097280" cy="365760"/>
          </a:xfrm>
          <a:prstGeom prst="rect">
            <a:avLst/>
          </a:prstGeom>
          <a:noFill/>
          <a:ln/>
        </p:spPr>
        <p:txBody>
          <a:bodyPr wrap="square" lIns="0" tIns="0" rIns="0" bIns="0" rtlCol="0" anchor="ctr"/>
          <a:lstStyle/>
          <a:p>
            <a:pPr marL="0" indent="0" algn="ctr">
              <a:buNone/>
            </a:pPr>
            <a:r>
              <a:rPr lang="en-US" sz="900" b="1" dirty="0">
                <a:solidFill>
                  <a:srgbClr val="FFFFFF"/>
                </a:solidFill>
              </a:rPr>
              <a:t>VLAN 20 Finan</a:t>
            </a:r>
            <a:endParaRPr lang="en-US" sz="900" dirty="0"/>
          </a:p>
        </p:txBody>
      </p:sp>
      <p:sp>
        <p:nvSpPr>
          <p:cNvPr id="21" name="Shape 19"/>
          <p:cNvSpPr/>
          <p:nvPr/>
        </p:nvSpPr>
        <p:spPr>
          <a:xfrm>
            <a:off x="5093208" y="2999232"/>
            <a:ext cx="36576" cy="201168"/>
          </a:xfrm>
          <a:prstGeom prst="rect">
            <a:avLst/>
          </a:prstGeom>
          <a:solidFill>
            <a:srgbClr val="39A900"/>
          </a:solidFill>
          <a:ln/>
        </p:spPr>
        <p:txBody>
          <a:bodyPr/>
          <a:lstStyle/>
          <a:p>
            <a:endParaRPr lang="es-CO"/>
          </a:p>
        </p:txBody>
      </p:sp>
      <p:sp>
        <p:nvSpPr>
          <p:cNvPr id="22" name="Shape 20"/>
          <p:cNvSpPr/>
          <p:nvPr/>
        </p:nvSpPr>
        <p:spPr>
          <a:xfrm>
            <a:off x="4572000" y="3200400"/>
            <a:ext cx="1097280" cy="365760"/>
          </a:xfrm>
          <a:prstGeom prst="rect">
            <a:avLst/>
          </a:prstGeom>
          <a:solidFill>
            <a:srgbClr val="1A4D7A"/>
          </a:solidFill>
          <a:ln/>
        </p:spPr>
        <p:txBody>
          <a:bodyPr/>
          <a:lstStyle/>
          <a:p>
            <a:endParaRPr lang="es-CO"/>
          </a:p>
        </p:txBody>
      </p:sp>
      <p:sp>
        <p:nvSpPr>
          <p:cNvPr id="23" name="Text 21"/>
          <p:cNvSpPr/>
          <p:nvPr/>
        </p:nvSpPr>
        <p:spPr>
          <a:xfrm>
            <a:off x="4572000" y="3200400"/>
            <a:ext cx="1097280" cy="365760"/>
          </a:xfrm>
          <a:prstGeom prst="rect">
            <a:avLst/>
          </a:prstGeom>
          <a:noFill/>
          <a:ln/>
        </p:spPr>
        <p:txBody>
          <a:bodyPr wrap="square" lIns="0" tIns="0" rIns="0" bIns="0" rtlCol="0" anchor="ctr"/>
          <a:lstStyle/>
          <a:p>
            <a:pPr marL="0" indent="0" algn="ctr">
              <a:buNone/>
            </a:pPr>
            <a:r>
              <a:rPr lang="en-US" sz="900" b="1" dirty="0">
                <a:solidFill>
                  <a:srgbClr val="FFFFFF"/>
                </a:solidFill>
              </a:rPr>
              <a:t>VLAN 30 Tecn</a:t>
            </a:r>
            <a:endParaRPr lang="en-US" sz="900" dirty="0"/>
          </a:p>
        </p:txBody>
      </p:sp>
      <p:sp>
        <p:nvSpPr>
          <p:cNvPr id="24" name="Shape 22"/>
          <p:cNvSpPr/>
          <p:nvPr/>
        </p:nvSpPr>
        <p:spPr>
          <a:xfrm>
            <a:off x="6922008" y="2999232"/>
            <a:ext cx="36576" cy="201168"/>
          </a:xfrm>
          <a:prstGeom prst="rect">
            <a:avLst/>
          </a:prstGeom>
          <a:solidFill>
            <a:srgbClr val="39A900"/>
          </a:solidFill>
          <a:ln/>
        </p:spPr>
        <p:txBody>
          <a:bodyPr/>
          <a:lstStyle/>
          <a:p>
            <a:endParaRPr lang="es-CO"/>
          </a:p>
        </p:txBody>
      </p:sp>
      <p:sp>
        <p:nvSpPr>
          <p:cNvPr id="25" name="Shape 23"/>
          <p:cNvSpPr/>
          <p:nvPr/>
        </p:nvSpPr>
        <p:spPr>
          <a:xfrm>
            <a:off x="6400800" y="3200400"/>
            <a:ext cx="1097280" cy="365760"/>
          </a:xfrm>
          <a:prstGeom prst="rect">
            <a:avLst/>
          </a:prstGeom>
          <a:solidFill>
            <a:srgbClr val="F59E0B"/>
          </a:solidFill>
          <a:ln/>
        </p:spPr>
        <p:txBody>
          <a:bodyPr/>
          <a:lstStyle/>
          <a:p>
            <a:endParaRPr lang="es-CO"/>
          </a:p>
        </p:txBody>
      </p:sp>
      <p:sp>
        <p:nvSpPr>
          <p:cNvPr id="26" name="Text 24"/>
          <p:cNvSpPr/>
          <p:nvPr/>
        </p:nvSpPr>
        <p:spPr>
          <a:xfrm>
            <a:off x="6400800" y="3200400"/>
            <a:ext cx="1097280" cy="365760"/>
          </a:xfrm>
          <a:prstGeom prst="rect">
            <a:avLst/>
          </a:prstGeom>
          <a:noFill/>
          <a:ln/>
        </p:spPr>
        <p:txBody>
          <a:bodyPr wrap="square" lIns="0" tIns="0" rIns="0" bIns="0" rtlCol="0" anchor="ctr"/>
          <a:lstStyle/>
          <a:p>
            <a:pPr marL="0" indent="0" algn="ctr">
              <a:buNone/>
            </a:pPr>
            <a:r>
              <a:rPr lang="en-US" sz="900" b="1" dirty="0">
                <a:solidFill>
                  <a:srgbClr val="FFFFFF"/>
                </a:solidFill>
              </a:rPr>
              <a:t>VLAN 40 Visit</a:t>
            </a:r>
            <a:endParaRPr lang="en-US" sz="900" dirty="0"/>
          </a:p>
        </p:txBody>
      </p:sp>
      <p:sp>
        <p:nvSpPr>
          <p:cNvPr id="27" name="Shape 25"/>
          <p:cNvSpPr/>
          <p:nvPr/>
        </p:nvSpPr>
        <p:spPr>
          <a:xfrm>
            <a:off x="457200" y="3749040"/>
            <a:ext cx="402336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8" name="Shape 26"/>
          <p:cNvSpPr/>
          <p:nvPr/>
        </p:nvSpPr>
        <p:spPr>
          <a:xfrm>
            <a:off x="457200" y="3749040"/>
            <a:ext cx="64008" cy="1005840"/>
          </a:xfrm>
          <a:prstGeom prst="rect">
            <a:avLst/>
          </a:prstGeom>
          <a:solidFill>
            <a:srgbClr val="39A900"/>
          </a:solidFill>
          <a:ln/>
        </p:spPr>
        <p:txBody>
          <a:bodyPr/>
          <a:lstStyle/>
          <a:p>
            <a:endParaRPr lang="es-CO"/>
          </a:p>
        </p:txBody>
      </p:sp>
      <p:sp>
        <p:nvSpPr>
          <p:cNvPr id="29" name="Text 27"/>
          <p:cNvSpPr/>
          <p:nvPr/>
        </p:nvSpPr>
        <p:spPr>
          <a:xfrm>
            <a:off x="640080" y="3840480"/>
            <a:ext cx="3657600" cy="274320"/>
          </a:xfrm>
          <a:prstGeom prst="rect">
            <a:avLst/>
          </a:prstGeom>
          <a:noFill/>
          <a:ln/>
        </p:spPr>
        <p:txBody>
          <a:bodyPr wrap="square" lIns="0" tIns="0" rIns="0" bIns="0" rtlCol="0" anchor="ctr"/>
          <a:lstStyle/>
          <a:p>
            <a:pPr marL="0" indent="0">
              <a:buNone/>
            </a:pPr>
            <a:r>
              <a:rPr lang="en-US" sz="1200" b="1" dirty="0">
                <a:solidFill>
                  <a:srgbClr val="003057"/>
                </a:solidFill>
              </a:rPr>
              <a:t>Por que router-on-a-stick?</a:t>
            </a:r>
            <a:endParaRPr lang="en-US" sz="1200" dirty="0"/>
          </a:p>
        </p:txBody>
      </p:sp>
      <p:sp>
        <p:nvSpPr>
          <p:cNvPr id="30" name="Text 28"/>
          <p:cNvSpPr/>
          <p:nvPr/>
        </p:nvSpPr>
        <p:spPr>
          <a:xfrm>
            <a:off x="640080" y="4114800"/>
            <a:ext cx="3749040" cy="594360"/>
          </a:xfrm>
          <a:prstGeom prst="rect">
            <a:avLst/>
          </a:prstGeom>
          <a:noFill/>
          <a:ln/>
        </p:spPr>
        <p:txBody>
          <a:bodyPr wrap="square" lIns="0" tIns="0" rIns="0" bIns="0" rtlCol="0" anchor="t"/>
          <a:lstStyle/>
          <a:p>
            <a:pPr marL="0" indent="0">
              <a:buNone/>
            </a:pPr>
            <a:r>
              <a:rPr lang="en-US" sz="1000" dirty="0">
                <a:solidFill>
                  <a:srgbClr val="374151"/>
                </a:solidFill>
              </a:rPr>
              <a:t>Con un solo enlace fisico entre router y switch, el router crea una subinterfaz por VLAN y enruta entre ellas.</a:t>
            </a:r>
            <a:endParaRPr lang="en-US" sz="1000" dirty="0"/>
          </a:p>
        </p:txBody>
      </p:sp>
      <p:sp>
        <p:nvSpPr>
          <p:cNvPr id="31" name="Shape 29"/>
          <p:cNvSpPr/>
          <p:nvPr/>
        </p:nvSpPr>
        <p:spPr>
          <a:xfrm>
            <a:off x="4663440" y="3749040"/>
            <a:ext cx="402336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2" name="Shape 30"/>
          <p:cNvSpPr/>
          <p:nvPr/>
        </p:nvSpPr>
        <p:spPr>
          <a:xfrm>
            <a:off x="4663440" y="3749040"/>
            <a:ext cx="64008" cy="1005840"/>
          </a:xfrm>
          <a:prstGeom prst="rect">
            <a:avLst/>
          </a:prstGeom>
          <a:solidFill>
            <a:srgbClr val="E85D04"/>
          </a:solidFill>
          <a:ln/>
        </p:spPr>
        <p:txBody>
          <a:bodyPr/>
          <a:lstStyle/>
          <a:p>
            <a:endParaRPr lang="es-CO"/>
          </a:p>
        </p:txBody>
      </p:sp>
      <p:sp>
        <p:nvSpPr>
          <p:cNvPr id="33" name="Text 31"/>
          <p:cNvSpPr/>
          <p:nvPr/>
        </p:nvSpPr>
        <p:spPr>
          <a:xfrm>
            <a:off x="4846320" y="3840480"/>
            <a:ext cx="3657600" cy="274320"/>
          </a:xfrm>
          <a:prstGeom prst="rect">
            <a:avLst/>
          </a:prstGeom>
          <a:noFill/>
          <a:ln/>
        </p:spPr>
        <p:txBody>
          <a:bodyPr wrap="square" lIns="0" tIns="0" rIns="0" bIns="0" rtlCol="0" anchor="ctr"/>
          <a:lstStyle/>
          <a:p>
            <a:pPr marL="0" indent="0">
              <a:buNone/>
            </a:pPr>
            <a:r>
              <a:rPr lang="en-US" sz="1200" b="1" dirty="0">
                <a:solidFill>
                  <a:srgbClr val="003057"/>
                </a:solidFill>
              </a:rPr>
              <a:t>Equipos recomendados en Packet Tracer</a:t>
            </a:r>
            <a:endParaRPr lang="en-US" sz="1200" dirty="0"/>
          </a:p>
        </p:txBody>
      </p:sp>
      <p:sp>
        <p:nvSpPr>
          <p:cNvPr id="34" name="Text 32"/>
          <p:cNvSpPr/>
          <p:nvPr/>
        </p:nvSpPr>
        <p:spPr>
          <a:xfrm>
            <a:off x="4846320" y="4114800"/>
            <a:ext cx="3749040" cy="594360"/>
          </a:xfrm>
          <a:prstGeom prst="rect">
            <a:avLst/>
          </a:prstGeom>
          <a:noFill/>
          <a:ln/>
        </p:spPr>
        <p:txBody>
          <a:bodyPr wrap="square" lIns="0" tIns="0" rIns="0" bIns="0" rtlCol="0" anchor="t"/>
          <a:lstStyle/>
          <a:p>
            <a:pPr marL="0" indent="0">
              <a:buNone/>
            </a:pPr>
            <a:r>
              <a:rPr lang="en-US" sz="1000" dirty="0">
                <a:solidFill>
                  <a:srgbClr val="374151"/>
                </a:solidFill>
              </a:rPr>
              <a:t>Router 2911 (o ISR 4331), Switch 2960, PCs (al menos 1 por VLAN), Servidor opcional para pruebas.</a:t>
            </a:r>
            <a:endParaRPr lang="en-US" sz="1000" dirty="0"/>
          </a:p>
        </p:txBody>
      </p:sp>
      <p:sp>
        <p:nvSpPr>
          <p:cNvPr id="35" name="Shape 33"/>
          <p:cNvSpPr/>
          <p:nvPr/>
        </p:nvSpPr>
        <p:spPr>
          <a:xfrm>
            <a:off x="0" y="4892040"/>
            <a:ext cx="9144000" cy="256032"/>
          </a:xfrm>
          <a:prstGeom prst="rect">
            <a:avLst/>
          </a:prstGeom>
          <a:solidFill>
            <a:srgbClr val="003057"/>
          </a:solidFill>
          <a:ln/>
        </p:spPr>
        <p:txBody>
          <a:bodyPr/>
          <a:lstStyle/>
          <a:p>
            <a:endParaRPr lang="es-CO"/>
          </a:p>
        </p:txBody>
      </p:sp>
      <p:sp>
        <p:nvSpPr>
          <p:cNvPr id="36" name="Text 34"/>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37" name="Text 35"/>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12 / 20</a:t>
            </a:r>
            <a:endParaRPr lang="en-US" sz="800" dirty="0"/>
          </a:p>
        </p:txBody>
      </p:sp>
      <p:sp>
        <p:nvSpPr>
          <p:cNvPr id="38" name="Shape 36"/>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12 - CLI CISCO IOS</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5 - Crear las VLAN y puertos en el switch</a:t>
            </a:r>
            <a:endParaRPr lang="en-US" sz="2400" dirty="0"/>
          </a:p>
        </p:txBody>
      </p:sp>
      <p:sp>
        <p:nvSpPr>
          <p:cNvPr id="6" name="Shape 4"/>
          <p:cNvSpPr/>
          <p:nvPr/>
        </p:nvSpPr>
        <p:spPr>
          <a:xfrm>
            <a:off x="457200" y="1143000"/>
            <a:ext cx="8229600" cy="3566160"/>
          </a:xfrm>
          <a:prstGeom prst="rect">
            <a:avLst/>
          </a:prstGeom>
          <a:solidFill>
            <a:srgbClr val="0D1117"/>
          </a:solidFill>
          <a:ln/>
        </p:spPr>
        <p:txBody>
          <a:bodyPr/>
          <a:lstStyle/>
          <a:p>
            <a:endParaRPr lang="es-CO"/>
          </a:p>
        </p:txBody>
      </p:sp>
      <p:sp>
        <p:nvSpPr>
          <p:cNvPr id="7" name="Shape 5"/>
          <p:cNvSpPr/>
          <p:nvPr/>
        </p:nvSpPr>
        <p:spPr>
          <a:xfrm>
            <a:off x="457200" y="1143000"/>
            <a:ext cx="8229600" cy="320040"/>
          </a:xfrm>
          <a:prstGeom prst="rect">
            <a:avLst/>
          </a:prstGeom>
          <a:solidFill>
            <a:srgbClr val="21262D"/>
          </a:solidFill>
          <a:ln/>
        </p:spPr>
        <p:txBody>
          <a:bodyPr/>
          <a:lstStyle/>
          <a:p>
            <a:endParaRPr lang="es-CO"/>
          </a:p>
        </p:txBody>
      </p:sp>
      <p:sp>
        <p:nvSpPr>
          <p:cNvPr id="8" name="Text 6"/>
          <p:cNvSpPr/>
          <p:nvPr/>
        </p:nvSpPr>
        <p:spPr>
          <a:xfrm>
            <a:off x="640080" y="1143000"/>
            <a:ext cx="7863840" cy="320040"/>
          </a:xfrm>
          <a:prstGeom prst="rect">
            <a:avLst/>
          </a:prstGeom>
          <a:noFill/>
          <a:ln/>
        </p:spPr>
        <p:txBody>
          <a:bodyPr wrap="square" lIns="0" tIns="0" rIns="0" bIns="0" rtlCol="0" anchor="ctr"/>
          <a:lstStyle/>
          <a:p>
            <a:pPr marL="0" indent="0">
              <a:buNone/>
            </a:pPr>
            <a:r>
              <a:rPr lang="en-US" sz="1000" b="1" dirty="0">
                <a:solidFill>
                  <a:srgbClr val="8B949E"/>
                </a:solidFill>
              </a:rPr>
              <a:t>SW1# - configuracion de VLAN y troncal</a:t>
            </a:r>
            <a:endParaRPr lang="en-US" sz="1000" dirty="0"/>
          </a:p>
        </p:txBody>
      </p:sp>
      <p:sp>
        <p:nvSpPr>
          <p:cNvPr id="9" name="Text 7"/>
          <p:cNvSpPr/>
          <p:nvPr/>
        </p:nvSpPr>
        <p:spPr>
          <a:xfrm>
            <a:off x="640080" y="1508760"/>
            <a:ext cx="7863840" cy="3154680"/>
          </a:xfrm>
          <a:prstGeom prst="rect">
            <a:avLst/>
          </a:prstGeom>
          <a:noFill/>
          <a:ln/>
        </p:spPr>
        <p:txBody>
          <a:bodyPr wrap="square" lIns="0" tIns="0" rIns="0" bIns="0" rtlCol="0" anchor="t"/>
          <a:lstStyle/>
          <a:p>
            <a:pPr marL="0" indent="0">
              <a:buNone/>
            </a:pPr>
            <a:r>
              <a:rPr lang="en-US" sz="1050" dirty="0">
                <a:solidFill>
                  <a:srgbClr val="7EE787"/>
                </a:solidFill>
                <a:latin typeface="Consolas" pitchFamily="34" charset="0"/>
                <a:ea typeface="Consolas" pitchFamily="34" charset="-122"/>
                <a:cs typeface="Consolas" pitchFamily="34" charset="-120"/>
              </a:rPr>
              <a:t>Switch&gt; enable</a:t>
            </a:r>
            <a:endParaRPr lang="en-US" sz="1050" dirty="0"/>
          </a:p>
          <a:p>
            <a:pPr marL="0" indent="0">
              <a:buNone/>
            </a:pPr>
            <a:r>
              <a:rPr lang="en-US" sz="1050" dirty="0">
                <a:solidFill>
                  <a:srgbClr val="7EE787"/>
                </a:solidFill>
                <a:latin typeface="Consolas" pitchFamily="34" charset="0"/>
                <a:ea typeface="Consolas" pitchFamily="34" charset="-122"/>
                <a:cs typeface="Consolas" pitchFamily="34" charset="-120"/>
              </a:rPr>
              <a:t>Switch# configure terminal</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Switch(config)# hostname SW1</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SW1(config)# vlan 10</a:t>
            </a:r>
            <a:endParaRPr lang="en-US" sz="1050" dirty="0"/>
          </a:p>
          <a:p>
            <a:pPr marL="0" indent="0">
              <a:buNone/>
            </a:pPr>
            <a:r>
              <a:rPr lang="en-US" sz="1050" dirty="0">
                <a:solidFill>
                  <a:srgbClr val="F2CC60"/>
                </a:solidFill>
                <a:latin typeface="Consolas" pitchFamily="34" charset="0"/>
                <a:ea typeface="Consolas" pitchFamily="34" charset="-122"/>
                <a:cs typeface="Consolas" pitchFamily="34" charset="-120"/>
              </a:rPr>
              <a:t>SW1(config-vlan)# name Administrativa</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SW1(config-vlan)# vlan 20</a:t>
            </a:r>
            <a:endParaRPr lang="en-US" sz="1050" dirty="0"/>
          </a:p>
          <a:p>
            <a:pPr marL="0" indent="0">
              <a:buNone/>
            </a:pPr>
            <a:r>
              <a:rPr lang="en-US" sz="1050" dirty="0">
                <a:solidFill>
                  <a:srgbClr val="F2CC60"/>
                </a:solidFill>
                <a:latin typeface="Consolas" pitchFamily="34" charset="0"/>
                <a:ea typeface="Consolas" pitchFamily="34" charset="-122"/>
                <a:cs typeface="Consolas" pitchFamily="34" charset="-120"/>
              </a:rPr>
              <a:t>SW1(config-vlan)# name Financiera</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SW1(config-vlan)# vlan 30</a:t>
            </a:r>
            <a:endParaRPr lang="en-US" sz="1050" dirty="0"/>
          </a:p>
          <a:p>
            <a:pPr marL="0" indent="0">
              <a:buNone/>
            </a:pPr>
            <a:r>
              <a:rPr lang="en-US" sz="1050" dirty="0">
                <a:solidFill>
                  <a:srgbClr val="F2CC60"/>
                </a:solidFill>
                <a:latin typeface="Consolas" pitchFamily="34" charset="0"/>
                <a:ea typeface="Consolas" pitchFamily="34" charset="-122"/>
                <a:cs typeface="Consolas" pitchFamily="34" charset="-120"/>
              </a:rPr>
              <a:t>SW1(config-vlan)# name Tecnicos</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SW1(config-vlan)# vlan 40</a:t>
            </a:r>
            <a:endParaRPr lang="en-US" sz="1050" dirty="0"/>
          </a:p>
          <a:p>
            <a:pPr marL="0" indent="0">
              <a:buNone/>
            </a:pPr>
            <a:r>
              <a:rPr lang="en-US" sz="1050" dirty="0">
                <a:solidFill>
                  <a:srgbClr val="F2CC60"/>
                </a:solidFill>
                <a:latin typeface="Consolas" pitchFamily="34" charset="0"/>
                <a:ea typeface="Consolas" pitchFamily="34" charset="-122"/>
                <a:cs typeface="Consolas" pitchFamily="34" charset="-120"/>
              </a:rPr>
              <a:t>SW1(config-vlan)# name Visitantes</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SW1(config)# interface range fa0/1-5</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SW1(config-if-range)# switchport mode access</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SW1(config-if-range)# switchport access vlan 10</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 repetir para rangos de cada VLAN ...</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SW1(config)# interface gigabitEthernet 0/1</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SW1(config-if)# switchport mode trunk</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SW1(config-if)# switchport trunk allowed vlan 10,20,30,40</a:t>
            </a:r>
            <a:endParaRPr lang="en-US" sz="1050" dirty="0"/>
          </a:p>
        </p:txBody>
      </p:sp>
      <p:sp>
        <p:nvSpPr>
          <p:cNvPr id="10" name="Shape 8"/>
          <p:cNvSpPr/>
          <p:nvPr/>
        </p:nvSpPr>
        <p:spPr>
          <a:xfrm>
            <a:off x="0" y="4892040"/>
            <a:ext cx="9144000" cy="256032"/>
          </a:xfrm>
          <a:prstGeom prst="rect">
            <a:avLst/>
          </a:prstGeom>
          <a:solidFill>
            <a:srgbClr val="003057"/>
          </a:solidFill>
          <a:ln/>
        </p:spPr>
        <p:txBody>
          <a:bodyPr/>
          <a:lstStyle/>
          <a:p>
            <a:endParaRPr lang="es-CO"/>
          </a:p>
        </p:txBody>
      </p:sp>
      <p:sp>
        <p:nvSpPr>
          <p:cNvPr id="11" name="Text 9"/>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12" name="Text 10"/>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13 / 20</a:t>
            </a:r>
            <a:endParaRPr lang="en-US" sz="800" dirty="0"/>
          </a:p>
        </p:txBody>
      </p:sp>
      <p:sp>
        <p:nvSpPr>
          <p:cNvPr id="13" name="Shape 11"/>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13 - ROUTER R1</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6 - Subinterfaces en el router (IPv4)</a:t>
            </a:r>
            <a:endParaRPr lang="en-US" sz="2400" dirty="0"/>
          </a:p>
        </p:txBody>
      </p:sp>
      <p:sp>
        <p:nvSpPr>
          <p:cNvPr id="6" name="Shape 4"/>
          <p:cNvSpPr/>
          <p:nvPr/>
        </p:nvSpPr>
        <p:spPr>
          <a:xfrm>
            <a:off x="457200" y="1143000"/>
            <a:ext cx="8229600" cy="3566160"/>
          </a:xfrm>
          <a:prstGeom prst="rect">
            <a:avLst/>
          </a:prstGeom>
          <a:solidFill>
            <a:srgbClr val="0D1117"/>
          </a:solidFill>
          <a:ln/>
        </p:spPr>
        <p:txBody>
          <a:bodyPr/>
          <a:lstStyle/>
          <a:p>
            <a:endParaRPr lang="es-CO"/>
          </a:p>
        </p:txBody>
      </p:sp>
      <p:sp>
        <p:nvSpPr>
          <p:cNvPr id="7" name="Shape 5"/>
          <p:cNvSpPr/>
          <p:nvPr/>
        </p:nvSpPr>
        <p:spPr>
          <a:xfrm>
            <a:off x="457200" y="1143000"/>
            <a:ext cx="8229600" cy="320040"/>
          </a:xfrm>
          <a:prstGeom prst="rect">
            <a:avLst/>
          </a:prstGeom>
          <a:solidFill>
            <a:srgbClr val="21262D"/>
          </a:solidFill>
          <a:ln/>
        </p:spPr>
        <p:txBody>
          <a:bodyPr/>
          <a:lstStyle/>
          <a:p>
            <a:endParaRPr lang="es-CO"/>
          </a:p>
        </p:txBody>
      </p:sp>
      <p:sp>
        <p:nvSpPr>
          <p:cNvPr id="8" name="Text 6"/>
          <p:cNvSpPr/>
          <p:nvPr/>
        </p:nvSpPr>
        <p:spPr>
          <a:xfrm>
            <a:off x="640080" y="1143000"/>
            <a:ext cx="7863840" cy="320040"/>
          </a:xfrm>
          <a:prstGeom prst="rect">
            <a:avLst/>
          </a:prstGeom>
          <a:noFill/>
          <a:ln/>
        </p:spPr>
        <p:txBody>
          <a:bodyPr wrap="square" lIns="0" tIns="0" rIns="0" bIns="0" rtlCol="0" anchor="ctr"/>
          <a:lstStyle/>
          <a:p>
            <a:pPr marL="0" indent="0">
              <a:buNone/>
            </a:pPr>
            <a:r>
              <a:rPr lang="en-US" sz="1000" b="1" dirty="0">
                <a:solidFill>
                  <a:srgbClr val="8B949E"/>
                </a:solidFill>
              </a:rPr>
              <a:t>R1# - router-on-a-stick con 802.1Q</a:t>
            </a:r>
            <a:endParaRPr lang="en-US" sz="1000" dirty="0"/>
          </a:p>
        </p:txBody>
      </p:sp>
      <p:sp>
        <p:nvSpPr>
          <p:cNvPr id="9" name="Text 7"/>
          <p:cNvSpPr/>
          <p:nvPr/>
        </p:nvSpPr>
        <p:spPr>
          <a:xfrm>
            <a:off x="640080" y="1508760"/>
            <a:ext cx="7863840" cy="3154680"/>
          </a:xfrm>
          <a:prstGeom prst="rect">
            <a:avLst/>
          </a:prstGeom>
          <a:noFill/>
          <a:ln/>
        </p:spPr>
        <p:txBody>
          <a:bodyPr wrap="square" lIns="0" tIns="0" rIns="0" bIns="0" rtlCol="0" anchor="t"/>
          <a:lstStyle/>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R1(config-if)# no shutdown</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0/0.10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R1(config-subif)# encapsulation dot1Q 10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 address 192.168.1.193 255.255.255.224</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0/0.20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R1(config-subif)# encapsulation dot1Q 20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 address 192.168.1.129 255.255.255.192</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0/0.30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R1(config-subif)# encapsulation dot1Q 30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 address 192.168.1.225 255.255.255.224</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0/0.40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R1(config-subif)# encapsulation dot1Q 40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 address 192.168.1.1 255.255.255.128</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Cada subinterfaz es la puerta de enlace de su VLAN</a:t>
            </a:r>
            <a:endParaRPr lang="en-US" sz="1050" dirty="0"/>
          </a:p>
        </p:txBody>
      </p:sp>
      <p:sp>
        <p:nvSpPr>
          <p:cNvPr id="10" name="Shape 8"/>
          <p:cNvSpPr/>
          <p:nvPr/>
        </p:nvSpPr>
        <p:spPr>
          <a:xfrm>
            <a:off x="0" y="4892040"/>
            <a:ext cx="9144000" cy="256032"/>
          </a:xfrm>
          <a:prstGeom prst="rect">
            <a:avLst/>
          </a:prstGeom>
          <a:solidFill>
            <a:srgbClr val="003057"/>
          </a:solidFill>
          <a:ln/>
        </p:spPr>
        <p:txBody>
          <a:bodyPr/>
          <a:lstStyle/>
          <a:p>
            <a:endParaRPr lang="es-CO"/>
          </a:p>
        </p:txBody>
      </p:sp>
      <p:sp>
        <p:nvSpPr>
          <p:cNvPr id="11" name="Text 9"/>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12" name="Text 10"/>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14 / 20</a:t>
            </a:r>
            <a:endParaRPr lang="en-US" sz="800" dirty="0"/>
          </a:p>
        </p:txBody>
      </p:sp>
      <p:sp>
        <p:nvSpPr>
          <p:cNvPr id="13" name="Shape 11"/>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14 - DIRECCIONAMIENTO IPv6</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7 - Habilitar y configurar IPv6 en R1</a:t>
            </a:r>
            <a:endParaRPr lang="en-US" sz="2400" dirty="0"/>
          </a:p>
        </p:txBody>
      </p:sp>
      <p:sp>
        <p:nvSpPr>
          <p:cNvPr id="6" name="Shape 4"/>
          <p:cNvSpPr/>
          <p:nvPr/>
        </p:nvSpPr>
        <p:spPr>
          <a:xfrm>
            <a:off x="457200" y="1143000"/>
            <a:ext cx="8229600" cy="3566160"/>
          </a:xfrm>
          <a:prstGeom prst="rect">
            <a:avLst/>
          </a:prstGeom>
          <a:solidFill>
            <a:srgbClr val="0D1117"/>
          </a:solidFill>
          <a:ln/>
        </p:spPr>
        <p:txBody>
          <a:bodyPr/>
          <a:lstStyle/>
          <a:p>
            <a:endParaRPr lang="es-CO"/>
          </a:p>
        </p:txBody>
      </p:sp>
      <p:sp>
        <p:nvSpPr>
          <p:cNvPr id="7" name="Shape 5"/>
          <p:cNvSpPr/>
          <p:nvPr/>
        </p:nvSpPr>
        <p:spPr>
          <a:xfrm>
            <a:off x="457200" y="1143000"/>
            <a:ext cx="8229600" cy="320040"/>
          </a:xfrm>
          <a:prstGeom prst="rect">
            <a:avLst/>
          </a:prstGeom>
          <a:solidFill>
            <a:srgbClr val="21262D"/>
          </a:solidFill>
          <a:ln/>
        </p:spPr>
        <p:txBody>
          <a:bodyPr/>
          <a:lstStyle/>
          <a:p>
            <a:endParaRPr lang="es-CO"/>
          </a:p>
        </p:txBody>
      </p:sp>
      <p:sp>
        <p:nvSpPr>
          <p:cNvPr id="8" name="Text 6"/>
          <p:cNvSpPr/>
          <p:nvPr/>
        </p:nvSpPr>
        <p:spPr>
          <a:xfrm>
            <a:off x="640080" y="1143000"/>
            <a:ext cx="7863840" cy="320040"/>
          </a:xfrm>
          <a:prstGeom prst="rect">
            <a:avLst/>
          </a:prstGeom>
          <a:noFill/>
          <a:ln/>
        </p:spPr>
        <p:txBody>
          <a:bodyPr wrap="square" lIns="0" tIns="0" rIns="0" bIns="0" rtlCol="0" anchor="ctr"/>
          <a:lstStyle/>
          <a:p>
            <a:pPr marL="0" indent="0">
              <a:buNone/>
            </a:pPr>
            <a:r>
              <a:rPr lang="en-US" sz="1000" b="1" dirty="0">
                <a:solidFill>
                  <a:srgbClr val="8B949E"/>
                </a:solidFill>
              </a:rPr>
              <a:t>R1# - configuracion de direcciones IPv6 por VLAN</a:t>
            </a:r>
            <a:endParaRPr lang="en-US" sz="1000" dirty="0"/>
          </a:p>
        </p:txBody>
      </p:sp>
      <p:sp>
        <p:nvSpPr>
          <p:cNvPr id="9" name="Text 7"/>
          <p:cNvSpPr/>
          <p:nvPr/>
        </p:nvSpPr>
        <p:spPr>
          <a:xfrm>
            <a:off x="640080" y="1508760"/>
            <a:ext cx="7863840" cy="3154680"/>
          </a:xfrm>
          <a:prstGeom prst="rect">
            <a:avLst/>
          </a:prstGeom>
          <a:noFill/>
          <a:ln/>
        </p:spPr>
        <p:txBody>
          <a:bodyPr wrap="square" lIns="0" tIns="0" rIns="0" bIns="0" rtlCol="0" anchor="t"/>
          <a:lstStyle/>
          <a:p>
            <a:pPr marL="0" indent="0">
              <a:buNone/>
            </a:pPr>
            <a:r>
              <a:rPr lang="en-US" sz="1050" dirty="0">
                <a:solidFill>
                  <a:srgbClr val="FFA657"/>
                </a:solidFill>
                <a:latin typeface="Consolas" pitchFamily="34" charset="0"/>
                <a:ea typeface="Consolas" pitchFamily="34" charset="-122"/>
                <a:cs typeface="Consolas" pitchFamily="34" charset="-120"/>
              </a:rPr>
              <a:t>R1(config)# ipv6 unicast-routing</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 VLAN 10 --- Administrativa ---</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0/0.10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ipv6 address 2001:DB8:ACAD:10::1/64</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 VLAN 20 --- Financiera ---</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0/0.20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ipv6 address 2001:DB8:ACAD:20::1/64</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 VLAN 30 --- Tecnicos ---</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0/0.30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ipv6 address 2001:DB8:ACAD:30::1/64</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 VLAN 40 --- Visitantes ---</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interface gigabitEthernet 0/0.40</a:t>
            </a:r>
            <a:endParaRPr lang="en-US" sz="1050" dirty="0"/>
          </a:p>
          <a:p>
            <a:pPr marL="0" indent="0">
              <a:buNone/>
            </a:pPr>
            <a:r>
              <a:rPr lang="en-US" sz="1050" dirty="0">
                <a:solidFill>
                  <a:srgbClr val="C9D1D9"/>
                </a:solidFill>
                <a:latin typeface="Consolas" pitchFamily="34" charset="0"/>
                <a:ea typeface="Consolas" pitchFamily="34" charset="-122"/>
                <a:cs typeface="Consolas" pitchFamily="34" charset="-120"/>
              </a:rPr>
              <a:t>R1(config-subif)# ipv6 address 2001:DB8:ACAD:40::1/64</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Activa ademas link-local con: ipv6 enable</a:t>
            </a:r>
            <a:endParaRPr lang="en-US" sz="1050" dirty="0"/>
          </a:p>
        </p:txBody>
      </p:sp>
      <p:sp>
        <p:nvSpPr>
          <p:cNvPr id="10" name="Shape 8"/>
          <p:cNvSpPr/>
          <p:nvPr/>
        </p:nvSpPr>
        <p:spPr>
          <a:xfrm>
            <a:off x="0" y="4892040"/>
            <a:ext cx="9144000" cy="256032"/>
          </a:xfrm>
          <a:prstGeom prst="rect">
            <a:avLst/>
          </a:prstGeom>
          <a:solidFill>
            <a:srgbClr val="003057"/>
          </a:solidFill>
          <a:ln/>
        </p:spPr>
        <p:txBody>
          <a:bodyPr/>
          <a:lstStyle/>
          <a:p>
            <a:endParaRPr lang="es-CO"/>
          </a:p>
        </p:txBody>
      </p:sp>
      <p:sp>
        <p:nvSpPr>
          <p:cNvPr id="11" name="Text 9"/>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12" name="Text 10"/>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15 / 20</a:t>
            </a:r>
            <a:endParaRPr lang="en-US" sz="800" dirty="0"/>
          </a:p>
        </p:txBody>
      </p:sp>
      <p:sp>
        <p:nvSpPr>
          <p:cNvPr id="13" name="Shape 11"/>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15 - SEGURIDAD DE ENRUTAMIENTO</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8 - Configurar interfaces pasivas</a:t>
            </a:r>
            <a:endParaRPr lang="en-US" sz="2400" dirty="0"/>
          </a:p>
        </p:txBody>
      </p:sp>
      <p:sp>
        <p:nvSpPr>
          <p:cNvPr id="6" name="Shape 4"/>
          <p:cNvSpPr/>
          <p:nvPr/>
        </p:nvSpPr>
        <p:spPr>
          <a:xfrm>
            <a:off x="457200" y="1143000"/>
            <a:ext cx="8229600" cy="11430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43000"/>
            <a:ext cx="64008" cy="1143000"/>
          </a:xfrm>
          <a:prstGeom prst="rect">
            <a:avLst/>
          </a:prstGeom>
          <a:solidFill>
            <a:srgbClr val="1A4D7A"/>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85800" y="1371600"/>
            <a:ext cx="548640" cy="548640"/>
          </a:xfrm>
          <a:prstGeom prst="rect">
            <a:avLst/>
          </a:prstGeom>
        </p:spPr>
      </p:pic>
      <p:sp>
        <p:nvSpPr>
          <p:cNvPr id="9" name="Text 6"/>
          <p:cNvSpPr/>
          <p:nvPr/>
        </p:nvSpPr>
        <p:spPr>
          <a:xfrm>
            <a:off x="1371600" y="1280160"/>
            <a:ext cx="7132320" cy="320040"/>
          </a:xfrm>
          <a:prstGeom prst="rect">
            <a:avLst/>
          </a:prstGeom>
          <a:noFill/>
          <a:ln/>
        </p:spPr>
        <p:txBody>
          <a:bodyPr wrap="square" lIns="0" tIns="0" rIns="0" bIns="0" rtlCol="0" anchor="ctr"/>
          <a:lstStyle/>
          <a:p>
            <a:pPr marL="0" indent="0">
              <a:buNone/>
            </a:pPr>
            <a:r>
              <a:rPr lang="en-US" sz="1400" b="1" dirty="0">
                <a:solidFill>
                  <a:srgbClr val="003057"/>
                </a:solidFill>
              </a:rPr>
              <a:t>Que es una interfaz pasiva?</a:t>
            </a:r>
            <a:endParaRPr lang="en-US" sz="1400" dirty="0"/>
          </a:p>
        </p:txBody>
      </p:sp>
      <p:sp>
        <p:nvSpPr>
          <p:cNvPr id="10" name="Text 7"/>
          <p:cNvSpPr/>
          <p:nvPr/>
        </p:nvSpPr>
        <p:spPr>
          <a:xfrm>
            <a:off x="1371600" y="1600200"/>
            <a:ext cx="7132320" cy="685800"/>
          </a:xfrm>
          <a:prstGeom prst="rect">
            <a:avLst/>
          </a:prstGeom>
          <a:noFill/>
          <a:ln/>
        </p:spPr>
        <p:txBody>
          <a:bodyPr wrap="square" lIns="0" tIns="0" rIns="0" bIns="0" rtlCol="0" anchor="t"/>
          <a:lstStyle/>
          <a:p>
            <a:pPr marL="0" indent="0">
              <a:buNone/>
            </a:pPr>
            <a:r>
              <a:rPr lang="en-US" sz="1050" dirty="0">
                <a:solidFill>
                  <a:srgbClr val="374151"/>
                </a:solidFill>
              </a:rPr>
              <a:t>Interfaz donde el router NO envia mensajes de protocolo de enrutamiento (Hello de OSPF, updates de RIP), pero SI sigue anunciando la red asociada. Se usa en segmentos LAN finales, como las VLAN de usuarios, para evitar exponer el protocolo a estaciones cliente.</a:t>
            </a:r>
            <a:endParaRPr lang="en-US" sz="1050" dirty="0"/>
          </a:p>
        </p:txBody>
      </p:sp>
      <p:sp>
        <p:nvSpPr>
          <p:cNvPr id="11" name="Shape 8"/>
          <p:cNvSpPr/>
          <p:nvPr/>
        </p:nvSpPr>
        <p:spPr>
          <a:xfrm>
            <a:off x="457200" y="2468880"/>
            <a:ext cx="8229600" cy="2194560"/>
          </a:xfrm>
          <a:prstGeom prst="rect">
            <a:avLst/>
          </a:prstGeom>
          <a:solidFill>
            <a:srgbClr val="0D1117"/>
          </a:solidFill>
          <a:ln/>
        </p:spPr>
        <p:txBody>
          <a:bodyPr/>
          <a:lstStyle/>
          <a:p>
            <a:endParaRPr lang="es-CO"/>
          </a:p>
        </p:txBody>
      </p:sp>
      <p:sp>
        <p:nvSpPr>
          <p:cNvPr id="12" name="Shape 9"/>
          <p:cNvSpPr/>
          <p:nvPr/>
        </p:nvSpPr>
        <p:spPr>
          <a:xfrm>
            <a:off x="457200" y="2468880"/>
            <a:ext cx="8229600" cy="292608"/>
          </a:xfrm>
          <a:prstGeom prst="rect">
            <a:avLst/>
          </a:prstGeom>
          <a:solidFill>
            <a:srgbClr val="21262D"/>
          </a:solidFill>
          <a:ln/>
        </p:spPr>
        <p:txBody>
          <a:bodyPr/>
          <a:lstStyle/>
          <a:p>
            <a:endParaRPr lang="es-CO"/>
          </a:p>
        </p:txBody>
      </p:sp>
      <p:sp>
        <p:nvSpPr>
          <p:cNvPr id="13" name="Text 10"/>
          <p:cNvSpPr/>
          <p:nvPr/>
        </p:nvSpPr>
        <p:spPr>
          <a:xfrm>
            <a:off x="640080" y="2468880"/>
            <a:ext cx="7863840" cy="292608"/>
          </a:xfrm>
          <a:prstGeom prst="rect">
            <a:avLst/>
          </a:prstGeom>
          <a:noFill/>
          <a:ln/>
        </p:spPr>
        <p:txBody>
          <a:bodyPr wrap="square" lIns="0" tIns="0" rIns="0" bIns="0" rtlCol="0" anchor="ctr"/>
          <a:lstStyle/>
          <a:p>
            <a:pPr marL="0" indent="0">
              <a:buNone/>
            </a:pPr>
            <a:r>
              <a:rPr lang="en-US" sz="1000" b="1" dirty="0">
                <a:solidFill>
                  <a:srgbClr val="8B949E"/>
                </a:solidFill>
              </a:rPr>
              <a:t>R1# - interfaces pasivas en OSPFv2 / OSPFv3</a:t>
            </a:r>
            <a:endParaRPr lang="en-US" sz="1000" dirty="0"/>
          </a:p>
        </p:txBody>
      </p:sp>
      <p:sp>
        <p:nvSpPr>
          <p:cNvPr id="14" name="Text 11"/>
          <p:cNvSpPr/>
          <p:nvPr/>
        </p:nvSpPr>
        <p:spPr>
          <a:xfrm>
            <a:off x="640080" y="2788920"/>
            <a:ext cx="7863840" cy="1874520"/>
          </a:xfrm>
          <a:prstGeom prst="rect">
            <a:avLst/>
          </a:prstGeom>
          <a:noFill/>
          <a:ln/>
        </p:spPr>
        <p:txBody>
          <a:bodyPr wrap="square" lIns="0" tIns="0" rIns="0" bIns="0" rtlCol="0" anchor="t"/>
          <a:lstStyle/>
          <a:p>
            <a:pPr marL="0" indent="0">
              <a:buNone/>
            </a:pPr>
            <a:r>
              <a:rPr lang="en-US" sz="1050" dirty="0">
                <a:solidFill>
                  <a:srgbClr val="79C0FF"/>
                </a:solidFill>
                <a:latin typeface="Consolas" pitchFamily="34" charset="0"/>
                <a:ea typeface="Consolas" pitchFamily="34" charset="-122"/>
                <a:cs typeface="Consolas" pitchFamily="34" charset="-120"/>
              </a:rPr>
              <a:t>R1(config)# router ospf 1</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R1(config-router)# passive-interface GigabitEthernet0/0.10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R1(config-router)# passive-interface GigabitEthernet0/0.20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R1(config-router)# passive-interface GigabitEthernet0/0.30</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R1(config-router)# passive-interface GigabitEthernet0/0.40</a:t>
            </a:r>
            <a:endParaRPr lang="en-US" sz="1050" dirty="0"/>
          </a:p>
          <a:p>
            <a:pPr marL="0" indent="0">
              <a:buNone/>
            </a:pPr>
            <a:r>
              <a:rPr lang="en-US" sz="1050" i="1" dirty="0">
                <a:solidFill>
                  <a:srgbClr val="6A737D"/>
                </a:solidFill>
                <a:latin typeface="Consolas" pitchFamily="34" charset="0"/>
                <a:ea typeface="Consolas" pitchFamily="34" charset="-122"/>
                <a:cs typeface="Consolas" pitchFamily="34" charset="-120"/>
              </a:rPr>
              <a:t>! Alternativa: passive-interface default + no passive-interface &lt;enlace-WAN&gt;</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R1(config)# ipv6 router ospf 1</a:t>
            </a:r>
            <a:endParaRPr lang="en-US" sz="1050" dirty="0"/>
          </a:p>
          <a:p>
            <a:pPr marL="0" indent="0">
              <a:buNone/>
            </a:pPr>
            <a:r>
              <a:rPr lang="en-US" sz="1050" dirty="0">
                <a:solidFill>
                  <a:srgbClr val="FFA657"/>
                </a:solidFill>
                <a:latin typeface="Consolas" pitchFamily="34" charset="0"/>
                <a:ea typeface="Consolas" pitchFamily="34" charset="-122"/>
                <a:cs typeface="Consolas" pitchFamily="34" charset="-120"/>
              </a:rPr>
              <a:t>R1(config-rtr)# passive-interface GigabitEthernet0/0.10</a:t>
            </a:r>
            <a:endParaRPr lang="en-US" sz="1050" dirty="0"/>
          </a:p>
        </p:txBody>
      </p:sp>
      <p:sp>
        <p:nvSpPr>
          <p:cNvPr id="15" name="Shape 12"/>
          <p:cNvSpPr/>
          <p:nvPr/>
        </p:nvSpPr>
        <p:spPr>
          <a:xfrm>
            <a:off x="0" y="4892040"/>
            <a:ext cx="9144000" cy="256032"/>
          </a:xfrm>
          <a:prstGeom prst="rect">
            <a:avLst/>
          </a:prstGeom>
          <a:solidFill>
            <a:srgbClr val="003057"/>
          </a:solidFill>
          <a:ln/>
        </p:spPr>
        <p:txBody>
          <a:bodyPr/>
          <a:lstStyle/>
          <a:p>
            <a:endParaRPr lang="es-CO"/>
          </a:p>
        </p:txBody>
      </p:sp>
      <p:sp>
        <p:nvSpPr>
          <p:cNvPr id="16" name="Text 13"/>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17" name="Text 14"/>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16 / 20</a:t>
            </a:r>
            <a:endParaRPr lang="en-US" sz="800" dirty="0"/>
          </a:p>
        </p:txBody>
      </p:sp>
      <p:sp>
        <p:nvSpPr>
          <p:cNvPr id="18" name="Shape 15"/>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16 - VALIDANDO LA RED</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9 - Pruebas de verificacion</a:t>
            </a:r>
            <a:endParaRPr lang="en-US" sz="2400" dirty="0"/>
          </a:p>
        </p:txBody>
      </p:sp>
      <p:sp>
        <p:nvSpPr>
          <p:cNvPr id="6" name="Shape 4"/>
          <p:cNvSpPr/>
          <p:nvPr/>
        </p:nvSpPr>
        <p:spPr>
          <a:xfrm>
            <a:off x="457200" y="1143000"/>
            <a:ext cx="4023360" cy="35661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43000"/>
            <a:ext cx="64008" cy="3566160"/>
          </a:xfrm>
          <a:prstGeom prst="rect">
            <a:avLst/>
          </a:prstGeom>
          <a:solidFill>
            <a:srgbClr val="39A900"/>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40080" y="1280160"/>
            <a:ext cx="365760" cy="365760"/>
          </a:xfrm>
          <a:prstGeom prst="rect">
            <a:avLst/>
          </a:prstGeom>
        </p:spPr>
      </p:pic>
      <p:sp>
        <p:nvSpPr>
          <p:cNvPr id="9" name="Text 6"/>
          <p:cNvSpPr/>
          <p:nvPr/>
        </p:nvSpPr>
        <p:spPr>
          <a:xfrm>
            <a:off x="1097280" y="1280160"/>
            <a:ext cx="2743200" cy="365760"/>
          </a:xfrm>
          <a:prstGeom prst="rect">
            <a:avLst/>
          </a:prstGeom>
          <a:noFill/>
          <a:ln/>
        </p:spPr>
        <p:txBody>
          <a:bodyPr wrap="square" lIns="0" tIns="0" rIns="0" bIns="0" rtlCol="0" anchor="ctr"/>
          <a:lstStyle/>
          <a:p>
            <a:pPr marL="0" indent="0">
              <a:buNone/>
            </a:pPr>
            <a:r>
              <a:rPr lang="en-US" sz="1400" b="1" dirty="0">
                <a:solidFill>
                  <a:srgbClr val="003057"/>
                </a:solidFill>
              </a:rPr>
              <a:t>Pruebas IPv4</a:t>
            </a:r>
            <a:endParaRPr lang="en-US" sz="1400" dirty="0"/>
          </a:p>
        </p:txBody>
      </p:sp>
      <p:sp>
        <p:nvSpPr>
          <p:cNvPr id="10" name="Shape 7"/>
          <p:cNvSpPr/>
          <p:nvPr/>
        </p:nvSpPr>
        <p:spPr>
          <a:xfrm>
            <a:off x="640080" y="1737360"/>
            <a:ext cx="3657600" cy="2788920"/>
          </a:xfrm>
          <a:prstGeom prst="rect">
            <a:avLst/>
          </a:prstGeom>
          <a:solidFill>
            <a:srgbClr val="0D1117"/>
          </a:solidFill>
          <a:ln/>
        </p:spPr>
        <p:txBody>
          <a:bodyPr/>
          <a:lstStyle/>
          <a:p>
            <a:endParaRPr lang="es-CO"/>
          </a:p>
        </p:txBody>
      </p:sp>
      <p:sp>
        <p:nvSpPr>
          <p:cNvPr id="11" name="Text 8"/>
          <p:cNvSpPr/>
          <p:nvPr/>
        </p:nvSpPr>
        <p:spPr>
          <a:xfrm>
            <a:off x="777240" y="1828800"/>
            <a:ext cx="3429000" cy="2606040"/>
          </a:xfrm>
          <a:prstGeom prst="rect">
            <a:avLst/>
          </a:prstGeom>
          <a:noFill/>
          <a:ln/>
        </p:spPr>
        <p:txBody>
          <a:bodyPr wrap="square" lIns="0" tIns="0" rIns="0" bIns="0" rtlCol="0" anchor="t"/>
          <a:lstStyle/>
          <a:p>
            <a:pPr marL="0" indent="0">
              <a:buNone/>
            </a:pPr>
            <a:r>
              <a:rPr lang="en-US" sz="950" dirty="0">
                <a:solidFill>
                  <a:srgbClr val="7EE787"/>
                </a:solidFill>
                <a:latin typeface="Consolas" pitchFamily="34" charset="0"/>
                <a:ea typeface="Consolas" pitchFamily="34" charset="-122"/>
                <a:cs typeface="Consolas" pitchFamily="34" charset="-120"/>
              </a:rPr>
              <a:t>PC-Admin&gt; ping 192.168.1.129</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Reply from 192.168.1.129 ...</a:t>
            </a:r>
            <a:endParaRPr lang="en-US" sz="950" dirty="0"/>
          </a:p>
          <a:p>
            <a:pPr marL="0" indent="0">
              <a:buNone/>
            </a:pPr>
            <a:endParaRPr lang="en-US" sz="950" dirty="0"/>
          </a:p>
          <a:p>
            <a:pPr marL="0" indent="0">
              <a:buNone/>
            </a:pPr>
            <a:r>
              <a:rPr lang="en-US" sz="950" dirty="0">
                <a:solidFill>
                  <a:srgbClr val="7EE787"/>
                </a:solidFill>
                <a:latin typeface="Consolas" pitchFamily="34" charset="0"/>
                <a:ea typeface="Consolas" pitchFamily="34" charset="-122"/>
                <a:cs typeface="Consolas" pitchFamily="34" charset="-120"/>
              </a:rPr>
              <a:t>PC-Financiera&gt; ping 192.168.1.1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Reply from 192.168.1.1 ...</a:t>
            </a:r>
            <a:endParaRPr lang="en-US" sz="950" dirty="0"/>
          </a:p>
          <a:p>
            <a:pPr marL="0" indent="0">
              <a:buNone/>
            </a:pP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ip interface brief</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SW1# show vlan brief</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ip route</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interfaces trunk</a:t>
            </a:r>
            <a:endParaRPr lang="en-US" sz="950" dirty="0"/>
          </a:p>
        </p:txBody>
      </p:sp>
      <p:sp>
        <p:nvSpPr>
          <p:cNvPr id="12" name="Shape 9"/>
          <p:cNvSpPr/>
          <p:nvPr/>
        </p:nvSpPr>
        <p:spPr>
          <a:xfrm>
            <a:off x="4663440" y="1143000"/>
            <a:ext cx="4023360" cy="35661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3" name="Shape 10"/>
          <p:cNvSpPr/>
          <p:nvPr/>
        </p:nvSpPr>
        <p:spPr>
          <a:xfrm>
            <a:off x="4663440" y="1143000"/>
            <a:ext cx="64008" cy="3566160"/>
          </a:xfrm>
          <a:prstGeom prst="rect">
            <a:avLst/>
          </a:prstGeom>
          <a:solidFill>
            <a:srgbClr val="1A4D7A"/>
          </a:solidFill>
          <a:ln/>
        </p:spPr>
        <p:txBody>
          <a:bodyPr/>
          <a:lstStyle/>
          <a:p>
            <a:endParaRPr lang="es-CO"/>
          </a:p>
        </p:txBody>
      </p:sp>
      <p:pic>
        <p:nvPicPr>
          <p:cNvPr id="14" name="Image 1" descr="preencoded.png"/>
          <p:cNvPicPr>
            <a:picLocks noChangeAspect="1"/>
          </p:cNvPicPr>
          <p:nvPr/>
        </p:nvPicPr>
        <p:blipFill>
          <a:blip r:embed="rId3"/>
          <a:stretch>
            <a:fillRect/>
          </a:stretch>
        </p:blipFill>
        <p:spPr>
          <a:xfrm>
            <a:off x="4846320" y="1280160"/>
            <a:ext cx="365760" cy="365760"/>
          </a:xfrm>
          <a:prstGeom prst="rect">
            <a:avLst/>
          </a:prstGeom>
        </p:spPr>
      </p:pic>
      <p:sp>
        <p:nvSpPr>
          <p:cNvPr id="15" name="Text 11"/>
          <p:cNvSpPr/>
          <p:nvPr/>
        </p:nvSpPr>
        <p:spPr>
          <a:xfrm>
            <a:off x="5303520" y="1280160"/>
            <a:ext cx="2743200" cy="365760"/>
          </a:xfrm>
          <a:prstGeom prst="rect">
            <a:avLst/>
          </a:prstGeom>
          <a:noFill/>
          <a:ln/>
        </p:spPr>
        <p:txBody>
          <a:bodyPr wrap="square" lIns="0" tIns="0" rIns="0" bIns="0" rtlCol="0" anchor="ctr"/>
          <a:lstStyle/>
          <a:p>
            <a:pPr marL="0" indent="0">
              <a:buNone/>
            </a:pPr>
            <a:r>
              <a:rPr lang="en-US" sz="1400" b="1" dirty="0">
                <a:solidFill>
                  <a:srgbClr val="003057"/>
                </a:solidFill>
              </a:rPr>
              <a:t>Pruebas IPv6</a:t>
            </a:r>
            <a:endParaRPr lang="en-US" sz="1400" dirty="0"/>
          </a:p>
        </p:txBody>
      </p:sp>
      <p:sp>
        <p:nvSpPr>
          <p:cNvPr id="16" name="Shape 12"/>
          <p:cNvSpPr/>
          <p:nvPr/>
        </p:nvSpPr>
        <p:spPr>
          <a:xfrm>
            <a:off x="4846320" y="1737360"/>
            <a:ext cx="3657600" cy="2788920"/>
          </a:xfrm>
          <a:prstGeom prst="rect">
            <a:avLst/>
          </a:prstGeom>
          <a:solidFill>
            <a:srgbClr val="0D1117"/>
          </a:solidFill>
          <a:ln/>
        </p:spPr>
        <p:txBody>
          <a:bodyPr/>
          <a:lstStyle/>
          <a:p>
            <a:endParaRPr lang="es-CO"/>
          </a:p>
        </p:txBody>
      </p:sp>
      <p:sp>
        <p:nvSpPr>
          <p:cNvPr id="17" name="Text 13"/>
          <p:cNvSpPr/>
          <p:nvPr/>
        </p:nvSpPr>
        <p:spPr>
          <a:xfrm>
            <a:off x="4983480" y="1828800"/>
            <a:ext cx="3429000" cy="2606040"/>
          </a:xfrm>
          <a:prstGeom prst="rect">
            <a:avLst/>
          </a:prstGeom>
          <a:noFill/>
          <a:ln/>
        </p:spPr>
        <p:txBody>
          <a:bodyPr wrap="square" lIns="0" tIns="0" rIns="0" bIns="0" rtlCol="0" anchor="t"/>
          <a:lstStyle/>
          <a:p>
            <a:pPr marL="0" indent="0">
              <a:buNone/>
            </a:pPr>
            <a:r>
              <a:rPr lang="en-US" sz="950" dirty="0">
                <a:solidFill>
                  <a:srgbClr val="7EE787"/>
                </a:solidFill>
                <a:latin typeface="Consolas" pitchFamily="34" charset="0"/>
                <a:ea typeface="Consolas" pitchFamily="34" charset="-122"/>
                <a:cs typeface="Consolas" pitchFamily="34" charset="-120"/>
              </a:rPr>
              <a:t>PC-Admin&gt; ping 2001:DB8:ACAD:20::1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Reply from 2001:DB8:ACAD:20::1</a:t>
            </a:r>
            <a:endParaRPr lang="en-US" sz="950" dirty="0"/>
          </a:p>
          <a:p>
            <a:pPr marL="0" indent="0">
              <a:buNone/>
            </a:pPr>
            <a:endParaRPr lang="en-US" sz="950" dirty="0"/>
          </a:p>
          <a:p>
            <a:pPr marL="0" indent="0">
              <a:buNone/>
            </a:pPr>
            <a:r>
              <a:rPr lang="en-US" sz="950" dirty="0">
                <a:solidFill>
                  <a:srgbClr val="7EE787"/>
                </a:solidFill>
                <a:latin typeface="Consolas" pitchFamily="34" charset="0"/>
                <a:ea typeface="Consolas" pitchFamily="34" charset="-122"/>
                <a:cs typeface="Consolas" pitchFamily="34" charset="-120"/>
              </a:rPr>
              <a:t>PC-Tecnicos&gt; ping 2001:DB8:ACAD:40::1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Reply from 2001:DB8:ACAD:40::1</a:t>
            </a:r>
            <a:endParaRPr lang="en-US" sz="950" dirty="0"/>
          </a:p>
          <a:p>
            <a:pPr marL="0" indent="0">
              <a:buNone/>
            </a:pP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ipv6 interface brief</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ipv6 route</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ipv6 neighbors</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R1# show running-config</a:t>
            </a:r>
            <a:endParaRPr lang="en-US" sz="950" dirty="0"/>
          </a:p>
        </p:txBody>
      </p:sp>
      <p:sp>
        <p:nvSpPr>
          <p:cNvPr id="18" name="Shape 14"/>
          <p:cNvSpPr/>
          <p:nvPr/>
        </p:nvSpPr>
        <p:spPr>
          <a:xfrm>
            <a:off x="0" y="4892040"/>
            <a:ext cx="9144000" cy="256032"/>
          </a:xfrm>
          <a:prstGeom prst="rect">
            <a:avLst/>
          </a:prstGeom>
          <a:solidFill>
            <a:srgbClr val="003057"/>
          </a:solidFill>
          <a:ln/>
        </p:spPr>
        <p:txBody>
          <a:bodyPr/>
          <a:lstStyle/>
          <a:p>
            <a:endParaRPr lang="es-CO"/>
          </a:p>
        </p:txBody>
      </p:sp>
      <p:sp>
        <p:nvSpPr>
          <p:cNvPr id="19" name="Text 15"/>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20" name="Text 16"/>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17 / 20</a:t>
            </a:r>
            <a:endParaRPr lang="en-US" sz="800" dirty="0"/>
          </a:p>
        </p:txBody>
      </p:sp>
      <p:sp>
        <p:nvSpPr>
          <p:cNvPr id="21" name="Shape 17"/>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17 - ENTREGABLES DEL APRENDIZ</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Paso 10 - Producto a entregar</a:t>
            </a:r>
            <a:endParaRPr lang="en-US" sz="2400" dirty="0"/>
          </a:p>
        </p:txBody>
      </p:sp>
      <p:sp>
        <p:nvSpPr>
          <p:cNvPr id="6" name="Shape 4"/>
          <p:cNvSpPr/>
          <p:nvPr/>
        </p:nvSpPr>
        <p:spPr>
          <a:xfrm>
            <a:off x="457200" y="1188720"/>
            <a:ext cx="8229600" cy="502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502920"/>
          </a:xfrm>
          <a:prstGeom prst="rect">
            <a:avLst/>
          </a:prstGeom>
          <a:solidFill>
            <a:srgbClr val="39A900"/>
          </a:solidFill>
          <a:ln/>
        </p:spPr>
        <p:txBody>
          <a:bodyPr/>
          <a:lstStyle/>
          <a:p>
            <a:endParaRPr lang="es-CO"/>
          </a:p>
        </p:txBody>
      </p:sp>
      <p:sp>
        <p:nvSpPr>
          <p:cNvPr id="8" name="Text 6"/>
          <p:cNvSpPr/>
          <p:nvPr/>
        </p:nvSpPr>
        <p:spPr>
          <a:xfrm>
            <a:off x="685800" y="1234440"/>
            <a:ext cx="7863840" cy="411480"/>
          </a:xfrm>
          <a:prstGeom prst="rect">
            <a:avLst/>
          </a:prstGeom>
          <a:noFill/>
          <a:ln/>
        </p:spPr>
        <p:txBody>
          <a:bodyPr wrap="square" lIns="0" tIns="0" rIns="0" bIns="0" rtlCol="0" anchor="ctr"/>
          <a:lstStyle/>
          <a:p>
            <a:pPr marL="0" indent="0">
              <a:buNone/>
            </a:pPr>
            <a:r>
              <a:rPr lang="en-US" sz="1200" b="1" dirty="0">
                <a:solidFill>
                  <a:srgbClr val="003057"/>
                </a:solidFill>
              </a:rPr>
              <a:t>Formato: </a:t>
            </a:r>
            <a:r>
              <a:rPr lang="en-US" sz="1200" dirty="0">
                <a:solidFill>
                  <a:srgbClr val="374151"/>
                </a:solidFill>
              </a:rPr>
              <a:t>carpeta comprimida (.zip) que contenga los dos archivos siguientes, subida a la plataforma Zajuna.</a:t>
            </a:r>
            <a:endParaRPr lang="en-US" sz="1200" dirty="0"/>
          </a:p>
        </p:txBody>
      </p:sp>
      <p:sp>
        <p:nvSpPr>
          <p:cNvPr id="9" name="Shape 7"/>
          <p:cNvSpPr/>
          <p:nvPr/>
        </p:nvSpPr>
        <p:spPr>
          <a:xfrm>
            <a:off x="457200" y="1828800"/>
            <a:ext cx="4023360" cy="28346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0" name="Shape 8"/>
          <p:cNvSpPr/>
          <p:nvPr/>
        </p:nvSpPr>
        <p:spPr>
          <a:xfrm>
            <a:off x="457200" y="1828800"/>
            <a:ext cx="64008" cy="2834640"/>
          </a:xfrm>
          <a:prstGeom prst="rect">
            <a:avLst/>
          </a:prstGeom>
          <a:solidFill>
            <a:srgbClr val="E85D04"/>
          </a:solidFill>
          <a:ln/>
        </p:spPr>
        <p:txBody>
          <a:bodyPr/>
          <a:lstStyle/>
          <a:p>
            <a:endParaRPr lang="es-CO"/>
          </a:p>
        </p:txBody>
      </p:sp>
      <p:pic>
        <p:nvPicPr>
          <p:cNvPr id="11" name="Image 0" descr="preencoded.png"/>
          <p:cNvPicPr>
            <a:picLocks noChangeAspect="1"/>
          </p:cNvPicPr>
          <p:nvPr/>
        </p:nvPicPr>
        <p:blipFill>
          <a:blip r:embed="rId3"/>
          <a:stretch>
            <a:fillRect/>
          </a:stretch>
        </p:blipFill>
        <p:spPr>
          <a:xfrm>
            <a:off x="640080" y="1965960"/>
            <a:ext cx="594360" cy="594360"/>
          </a:xfrm>
          <a:prstGeom prst="rect">
            <a:avLst/>
          </a:prstGeom>
        </p:spPr>
      </p:pic>
      <p:sp>
        <p:nvSpPr>
          <p:cNvPr id="12" name="Text 9"/>
          <p:cNvSpPr/>
          <p:nvPr/>
        </p:nvSpPr>
        <p:spPr>
          <a:xfrm>
            <a:off x="1371600" y="2011680"/>
            <a:ext cx="3017520" cy="320040"/>
          </a:xfrm>
          <a:prstGeom prst="rect">
            <a:avLst/>
          </a:prstGeom>
          <a:noFill/>
          <a:ln/>
        </p:spPr>
        <p:txBody>
          <a:bodyPr wrap="square" lIns="0" tIns="0" rIns="0" bIns="0" rtlCol="0" anchor="ctr"/>
          <a:lstStyle/>
          <a:p>
            <a:pPr marL="0" indent="0">
              <a:buNone/>
            </a:pPr>
            <a:r>
              <a:rPr lang="en-US" sz="1400" b="1" dirty="0">
                <a:solidFill>
                  <a:srgbClr val="003057"/>
                </a:solidFill>
              </a:rPr>
              <a:t>Simulacion Packet Tracer</a:t>
            </a:r>
            <a:endParaRPr lang="en-US" sz="1400" dirty="0"/>
          </a:p>
        </p:txBody>
      </p:sp>
      <p:sp>
        <p:nvSpPr>
          <p:cNvPr id="13" name="Text 10"/>
          <p:cNvSpPr/>
          <p:nvPr/>
        </p:nvSpPr>
        <p:spPr>
          <a:xfrm>
            <a:off x="1371600" y="2331720"/>
            <a:ext cx="3017520" cy="274320"/>
          </a:xfrm>
          <a:prstGeom prst="rect">
            <a:avLst/>
          </a:prstGeom>
          <a:noFill/>
          <a:ln/>
        </p:spPr>
        <p:txBody>
          <a:bodyPr wrap="square" lIns="0" tIns="0" rIns="0" bIns="0" rtlCol="0" anchor="ctr"/>
          <a:lstStyle/>
          <a:p>
            <a:pPr marL="0" indent="0">
              <a:buNone/>
            </a:pPr>
            <a:r>
              <a:rPr lang="en-US" sz="1200" b="1" dirty="0">
                <a:solidFill>
                  <a:srgbClr val="E85D04"/>
                </a:solidFill>
              </a:rPr>
              <a:t>.pkt</a:t>
            </a:r>
            <a:endParaRPr lang="en-US" sz="1200" dirty="0"/>
          </a:p>
        </p:txBody>
      </p:sp>
      <p:sp>
        <p:nvSpPr>
          <p:cNvPr id="14" name="Text 11"/>
          <p:cNvSpPr/>
          <p:nvPr/>
        </p:nvSpPr>
        <p:spPr>
          <a:xfrm>
            <a:off x="640080" y="2743200"/>
            <a:ext cx="3657600" cy="1874520"/>
          </a:xfrm>
          <a:prstGeom prst="rect">
            <a:avLst/>
          </a:prstGeom>
          <a:noFill/>
          <a:ln/>
        </p:spPr>
        <p:txBody>
          <a:bodyPr wrap="square" lIns="0" tIns="0" rIns="0" bIns="0" rtlCol="0" anchor="t"/>
          <a:lstStyle/>
          <a:p>
            <a:pPr marL="0" indent="0">
              <a:buNone/>
            </a:pPr>
            <a:r>
              <a:rPr lang="en-US" sz="1000" b="1" dirty="0">
                <a:solidFill>
                  <a:srgbClr val="003057"/>
                </a:solidFill>
              </a:rPr>
              <a:t>Debe incluir:</a:t>
            </a:r>
            <a:endParaRPr lang="en-US" sz="1000" dirty="0"/>
          </a:p>
          <a:p>
            <a:pPr marL="0" indent="0">
              <a:buNone/>
            </a:pPr>
            <a:r>
              <a:rPr lang="en-US" sz="1000" dirty="0">
                <a:solidFill>
                  <a:srgbClr val="374151"/>
                </a:solidFill>
              </a:rPr>
              <a:t>- Topologia completa (router, switch, PCs)</a:t>
            </a:r>
            <a:endParaRPr lang="en-US" sz="1000" dirty="0"/>
          </a:p>
          <a:p>
            <a:pPr marL="0" indent="0">
              <a:buNone/>
            </a:pPr>
            <a:r>
              <a:rPr lang="en-US" sz="1000" dirty="0">
                <a:solidFill>
                  <a:srgbClr val="374151"/>
                </a:solidFill>
              </a:rPr>
              <a:t>- VLAN configuradas con su nombre</a:t>
            </a:r>
            <a:endParaRPr lang="en-US" sz="1000" dirty="0"/>
          </a:p>
          <a:p>
            <a:pPr marL="0" indent="0">
              <a:buNone/>
            </a:pPr>
            <a:r>
              <a:rPr lang="en-US" sz="1000" dirty="0">
                <a:solidFill>
                  <a:srgbClr val="374151"/>
                </a:solidFill>
              </a:rPr>
              <a:t>- Direccionamiento IPv4 + IPv6 aplicado</a:t>
            </a:r>
            <a:endParaRPr lang="en-US" sz="1000" dirty="0"/>
          </a:p>
          <a:p>
            <a:pPr marL="0" indent="0">
              <a:buNone/>
            </a:pPr>
            <a:r>
              <a:rPr lang="en-US" sz="1000" dirty="0">
                <a:solidFill>
                  <a:srgbClr val="374151"/>
                </a:solidFill>
              </a:rPr>
              <a:t>- Interfaces pasivas configuradas</a:t>
            </a:r>
            <a:endParaRPr lang="en-US" sz="1000" dirty="0"/>
          </a:p>
          <a:p>
            <a:pPr marL="0" indent="0">
              <a:buNone/>
            </a:pPr>
            <a:r>
              <a:rPr lang="en-US" sz="1000" dirty="0">
                <a:solidFill>
                  <a:srgbClr val="374151"/>
                </a:solidFill>
              </a:rPr>
              <a:t>- Al menos un PC por VLAN con IPs</a:t>
            </a:r>
            <a:endParaRPr lang="en-US" sz="1000" dirty="0"/>
          </a:p>
        </p:txBody>
      </p:sp>
      <p:sp>
        <p:nvSpPr>
          <p:cNvPr id="15" name="Shape 12"/>
          <p:cNvSpPr/>
          <p:nvPr/>
        </p:nvSpPr>
        <p:spPr>
          <a:xfrm>
            <a:off x="4663440" y="1828800"/>
            <a:ext cx="4023360" cy="28346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6" name="Shape 13"/>
          <p:cNvSpPr/>
          <p:nvPr/>
        </p:nvSpPr>
        <p:spPr>
          <a:xfrm>
            <a:off x="4663440" y="1828800"/>
            <a:ext cx="64008" cy="2834640"/>
          </a:xfrm>
          <a:prstGeom prst="rect">
            <a:avLst/>
          </a:prstGeom>
          <a:solidFill>
            <a:srgbClr val="2E8500"/>
          </a:solidFill>
          <a:ln/>
        </p:spPr>
        <p:txBody>
          <a:bodyPr/>
          <a:lstStyle/>
          <a:p>
            <a:endParaRPr lang="es-CO"/>
          </a:p>
        </p:txBody>
      </p:sp>
      <p:pic>
        <p:nvPicPr>
          <p:cNvPr id="17" name="Image 1" descr="preencoded.png"/>
          <p:cNvPicPr>
            <a:picLocks noChangeAspect="1"/>
          </p:cNvPicPr>
          <p:nvPr/>
        </p:nvPicPr>
        <p:blipFill>
          <a:blip r:embed="rId4"/>
          <a:stretch>
            <a:fillRect/>
          </a:stretch>
        </p:blipFill>
        <p:spPr>
          <a:xfrm>
            <a:off x="4846320" y="1965960"/>
            <a:ext cx="594360" cy="594360"/>
          </a:xfrm>
          <a:prstGeom prst="rect">
            <a:avLst/>
          </a:prstGeom>
        </p:spPr>
      </p:pic>
      <p:sp>
        <p:nvSpPr>
          <p:cNvPr id="18" name="Text 14"/>
          <p:cNvSpPr/>
          <p:nvPr/>
        </p:nvSpPr>
        <p:spPr>
          <a:xfrm>
            <a:off x="5577840" y="2011680"/>
            <a:ext cx="3017520" cy="320040"/>
          </a:xfrm>
          <a:prstGeom prst="rect">
            <a:avLst/>
          </a:prstGeom>
          <a:noFill/>
          <a:ln/>
        </p:spPr>
        <p:txBody>
          <a:bodyPr wrap="square" lIns="0" tIns="0" rIns="0" bIns="0" rtlCol="0" anchor="ctr"/>
          <a:lstStyle/>
          <a:p>
            <a:pPr marL="0" indent="0">
              <a:buNone/>
            </a:pPr>
            <a:r>
              <a:rPr lang="en-US" sz="1400" b="1" dirty="0">
                <a:solidFill>
                  <a:srgbClr val="003057"/>
                </a:solidFill>
              </a:rPr>
              <a:t>Tablas de direccionamiento</a:t>
            </a:r>
            <a:endParaRPr lang="en-US" sz="1400" dirty="0"/>
          </a:p>
        </p:txBody>
      </p:sp>
      <p:sp>
        <p:nvSpPr>
          <p:cNvPr id="19" name="Text 15"/>
          <p:cNvSpPr/>
          <p:nvPr/>
        </p:nvSpPr>
        <p:spPr>
          <a:xfrm>
            <a:off x="5577840" y="2331720"/>
            <a:ext cx="3017520" cy="274320"/>
          </a:xfrm>
          <a:prstGeom prst="rect">
            <a:avLst/>
          </a:prstGeom>
          <a:noFill/>
          <a:ln/>
        </p:spPr>
        <p:txBody>
          <a:bodyPr wrap="square" lIns="0" tIns="0" rIns="0" bIns="0" rtlCol="0" anchor="ctr"/>
          <a:lstStyle/>
          <a:p>
            <a:pPr marL="0" indent="0">
              <a:buNone/>
            </a:pPr>
            <a:r>
              <a:rPr lang="en-US" sz="1200" b="1" dirty="0">
                <a:solidFill>
                  <a:srgbClr val="2E8500"/>
                </a:solidFill>
              </a:rPr>
              <a:t>.xlsx</a:t>
            </a:r>
            <a:endParaRPr lang="en-US" sz="1200" dirty="0"/>
          </a:p>
        </p:txBody>
      </p:sp>
      <p:sp>
        <p:nvSpPr>
          <p:cNvPr id="20" name="Text 16"/>
          <p:cNvSpPr/>
          <p:nvPr/>
        </p:nvSpPr>
        <p:spPr>
          <a:xfrm>
            <a:off x="4846320" y="2743200"/>
            <a:ext cx="3657600" cy="1874520"/>
          </a:xfrm>
          <a:prstGeom prst="rect">
            <a:avLst/>
          </a:prstGeom>
          <a:noFill/>
          <a:ln/>
        </p:spPr>
        <p:txBody>
          <a:bodyPr wrap="square" lIns="0" tIns="0" rIns="0" bIns="0" rtlCol="0" anchor="t"/>
          <a:lstStyle/>
          <a:p>
            <a:pPr marL="0" indent="0">
              <a:buNone/>
            </a:pPr>
            <a:r>
              <a:rPr lang="en-US" sz="1000" b="1" dirty="0">
                <a:solidFill>
                  <a:srgbClr val="003057"/>
                </a:solidFill>
              </a:rPr>
              <a:t>Debe contener:</a:t>
            </a:r>
            <a:endParaRPr lang="en-US" sz="1000" dirty="0"/>
          </a:p>
          <a:p>
            <a:pPr marL="0" indent="0">
              <a:buNone/>
            </a:pPr>
            <a:r>
              <a:rPr lang="en-US" sz="1000" dirty="0">
                <a:solidFill>
                  <a:srgbClr val="374151"/>
                </a:solidFill>
              </a:rPr>
              <a:t>- Hoja 1 IPv4: VLAN, red, mascara,</a:t>
            </a:r>
            <a:endParaRPr lang="en-US" sz="1000" dirty="0"/>
          </a:p>
          <a:p>
            <a:pPr marL="0" indent="0">
              <a:buNone/>
            </a:pPr>
            <a:r>
              <a:rPr lang="en-US" sz="1000" dirty="0">
                <a:solidFill>
                  <a:srgbClr val="374151"/>
                </a:solidFill>
              </a:rPr>
              <a:t>  rango usable, broadcast, gateway</a:t>
            </a:r>
            <a:endParaRPr lang="en-US" sz="1000" dirty="0"/>
          </a:p>
          <a:p>
            <a:pPr marL="0" indent="0">
              <a:buNone/>
            </a:pPr>
            <a:r>
              <a:rPr lang="en-US" sz="1000" dirty="0">
                <a:solidFill>
                  <a:srgbClr val="374151"/>
                </a:solidFill>
              </a:rPr>
              <a:t>- Hoja 2 IPv6: VLAN, prefijo /64,</a:t>
            </a:r>
            <a:endParaRPr lang="en-US" sz="1000" dirty="0"/>
          </a:p>
          <a:p>
            <a:pPr marL="0" indent="0">
              <a:buNone/>
            </a:pPr>
            <a:r>
              <a:rPr lang="en-US" sz="1000" dirty="0">
                <a:solidFill>
                  <a:srgbClr val="374151"/>
                </a:solidFill>
              </a:rPr>
              <a:t>  gateway, tipo de direccion</a:t>
            </a:r>
            <a:endParaRPr lang="en-US" sz="1000" dirty="0"/>
          </a:p>
          <a:p>
            <a:pPr marL="0" indent="0">
              <a:buNone/>
            </a:pPr>
            <a:r>
              <a:rPr lang="en-US" sz="1000" dirty="0">
                <a:solidFill>
                  <a:srgbClr val="374151"/>
                </a:solidFill>
              </a:rPr>
              <a:t>- Hoja 3 Resumen de VLAN y puertos</a:t>
            </a:r>
            <a:endParaRPr lang="en-US" sz="1000" dirty="0"/>
          </a:p>
        </p:txBody>
      </p:sp>
      <p:sp>
        <p:nvSpPr>
          <p:cNvPr id="21" name="Shape 17"/>
          <p:cNvSpPr/>
          <p:nvPr/>
        </p:nvSpPr>
        <p:spPr>
          <a:xfrm>
            <a:off x="0" y="4892040"/>
            <a:ext cx="9144000" cy="256032"/>
          </a:xfrm>
          <a:prstGeom prst="rect">
            <a:avLst/>
          </a:prstGeom>
          <a:solidFill>
            <a:srgbClr val="003057"/>
          </a:solidFill>
          <a:ln/>
        </p:spPr>
        <p:txBody>
          <a:bodyPr/>
          <a:lstStyle/>
          <a:p>
            <a:endParaRPr lang="es-CO"/>
          </a:p>
        </p:txBody>
      </p:sp>
      <p:sp>
        <p:nvSpPr>
          <p:cNvPr id="22" name="Text 18"/>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23" name="Text 19"/>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18 / 20</a:t>
            </a:r>
            <a:endParaRPr lang="en-US" sz="800" dirty="0"/>
          </a:p>
        </p:txBody>
      </p:sp>
      <p:sp>
        <p:nvSpPr>
          <p:cNvPr id="24" name="Shape 20"/>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057"/>
          </a:solidFill>
          <a:ln/>
        </p:spPr>
        <p:txBody>
          <a:bodyPr/>
          <a:lstStyle/>
          <a:p>
            <a:endParaRPr lang="es-CO"/>
          </a:p>
        </p:txBody>
      </p:sp>
      <p:sp>
        <p:nvSpPr>
          <p:cNvPr id="3" name="Shape 1"/>
          <p:cNvSpPr/>
          <p:nvPr/>
        </p:nvSpPr>
        <p:spPr>
          <a:xfrm>
            <a:off x="0" y="0"/>
            <a:ext cx="109728" cy="960120"/>
          </a:xfrm>
          <a:prstGeom prst="rect">
            <a:avLst/>
          </a:prstGeom>
          <a:solidFill>
            <a:srgbClr val="39A900"/>
          </a:solidFill>
          <a:ln/>
        </p:spPr>
        <p:txBody>
          <a:bodyPr/>
          <a:lstStyle/>
          <a:p>
            <a:endParaRPr lang="es-CO"/>
          </a:p>
        </p:txBody>
      </p:sp>
      <p:sp>
        <p:nvSpPr>
          <p:cNvPr id="4" name="Text 2"/>
          <p:cNvSpPr/>
          <p:nvPr/>
        </p:nvSpPr>
        <p:spPr>
          <a:xfrm>
            <a:off x="274320" y="109728"/>
            <a:ext cx="8503920" cy="228600"/>
          </a:xfrm>
          <a:prstGeom prst="rect">
            <a:avLst/>
          </a:prstGeom>
          <a:noFill/>
          <a:ln/>
        </p:spPr>
        <p:txBody>
          <a:bodyPr wrap="square" lIns="0" tIns="0" rIns="0" bIns="0" rtlCol="0" anchor="ctr"/>
          <a:lstStyle/>
          <a:p>
            <a:pPr marL="0" indent="0">
              <a:buNone/>
            </a:pPr>
            <a:r>
              <a:rPr lang="en-US" sz="1000" b="1" dirty="0">
                <a:solidFill>
                  <a:srgbClr val="AABFD0"/>
                </a:solidFill>
              </a:rPr>
              <a:t>18 - ANTES DE ENTREGAR</a:t>
            </a:r>
            <a:endParaRPr lang="en-US" sz="1000" dirty="0"/>
          </a:p>
        </p:txBody>
      </p:sp>
      <p:sp>
        <p:nvSpPr>
          <p:cNvPr id="5" name="Text 3"/>
          <p:cNvSpPr/>
          <p:nvPr/>
        </p:nvSpPr>
        <p:spPr>
          <a:xfrm>
            <a:off x="274320" y="365760"/>
            <a:ext cx="8503920" cy="502920"/>
          </a:xfrm>
          <a:prstGeom prst="rect">
            <a:avLst/>
          </a:prstGeom>
          <a:noFill/>
          <a:ln/>
        </p:spPr>
        <p:txBody>
          <a:bodyPr wrap="square" lIns="0" tIns="0" rIns="0" bIns="0" rtlCol="0" anchor="ctr"/>
          <a:lstStyle/>
          <a:p>
            <a:pPr marL="0" indent="0" algn="l">
              <a:buNone/>
            </a:pPr>
            <a:r>
              <a:rPr lang="en-US" sz="2400" b="1" dirty="0">
                <a:solidFill>
                  <a:srgbClr val="FFFFFF"/>
                </a:solidFill>
              </a:rPr>
              <a:t>Criterios de evaluacion y tips clave</a:t>
            </a:r>
            <a:endParaRPr lang="en-US" sz="2400" dirty="0"/>
          </a:p>
        </p:txBody>
      </p:sp>
      <p:sp>
        <p:nvSpPr>
          <p:cNvPr id="6" name="Shape 4"/>
          <p:cNvSpPr/>
          <p:nvPr/>
        </p:nvSpPr>
        <p:spPr>
          <a:xfrm>
            <a:off x="457200" y="118872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457200" y="1188720"/>
            <a:ext cx="64008" cy="1097280"/>
          </a:xfrm>
          <a:prstGeom prst="rect">
            <a:avLst/>
          </a:prstGeom>
          <a:solidFill>
            <a:srgbClr val="39A900"/>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640080" y="1371600"/>
            <a:ext cx="365760" cy="365760"/>
          </a:xfrm>
          <a:prstGeom prst="rect">
            <a:avLst/>
          </a:prstGeom>
        </p:spPr>
      </p:pic>
      <p:sp>
        <p:nvSpPr>
          <p:cNvPr id="9" name="Text 6"/>
          <p:cNvSpPr/>
          <p:nvPr/>
        </p:nvSpPr>
        <p:spPr>
          <a:xfrm>
            <a:off x="1097280" y="130759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Direccionamiento correcto</a:t>
            </a:r>
            <a:endParaRPr lang="en-US" sz="1200" dirty="0"/>
          </a:p>
        </p:txBody>
      </p:sp>
      <p:sp>
        <p:nvSpPr>
          <p:cNvPr id="10" name="Text 7"/>
          <p:cNvSpPr/>
          <p:nvPr/>
        </p:nvSpPr>
        <p:spPr>
          <a:xfrm>
            <a:off x="640080" y="1737360"/>
            <a:ext cx="3657600" cy="502920"/>
          </a:xfrm>
          <a:prstGeom prst="rect">
            <a:avLst/>
          </a:prstGeom>
          <a:noFill/>
          <a:ln/>
        </p:spPr>
        <p:txBody>
          <a:bodyPr wrap="square" lIns="0" tIns="0" rIns="0" bIns="0" rtlCol="0" anchor="t"/>
          <a:lstStyle/>
          <a:p>
            <a:pPr marL="0" indent="0">
              <a:buNone/>
            </a:pPr>
            <a:r>
              <a:rPr lang="en-US" sz="950" dirty="0">
                <a:solidFill>
                  <a:srgbClr val="374151"/>
                </a:solidFill>
              </a:rPr>
              <a:t>Sin solapamiento de subredes. Mascara adecuada al numero de hosts.</a:t>
            </a:r>
            <a:endParaRPr lang="en-US" sz="950" dirty="0"/>
          </a:p>
        </p:txBody>
      </p:sp>
      <p:sp>
        <p:nvSpPr>
          <p:cNvPr id="11" name="Shape 8"/>
          <p:cNvSpPr/>
          <p:nvPr/>
        </p:nvSpPr>
        <p:spPr>
          <a:xfrm>
            <a:off x="4663440" y="118872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2" name="Shape 9"/>
          <p:cNvSpPr/>
          <p:nvPr/>
        </p:nvSpPr>
        <p:spPr>
          <a:xfrm>
            <a:off x="4663440" y="1188720"/>
            <a:ext cx="64008" cy="1097280"/>
          </a:xfrm>
          <a:prstGeom prst="rect">
            <a:avLst/>
          </a:prstGeom>
          <a:solidFill>
            <a:srgbClr val="E85D04"/>
          </a:solidFill>
          <a:ln/>
        </p:spPr>
        <p:txBody>
          <a:bodyPr/>
          <a:lstStyle/>
          <a:p>
            <a:endParaRPr lang="es-CO"/>
          </a:p>
        </p:txBody>
      </p:sp>
      <p:pic>
        <p:nvPicPr>
          <p:cNvPr id="13" name="Image 1" descr="preencoded.png"/>
          <p:cNvPicPr>
            <a:picLocks noChangeAspect="1"/>
          </p:cNvPicPr>
          <p:nvPr/>
        </p:nvPicPr>
        <p:blipFill>
          <a:blip r:embed="rId3"/>
          <a:stretch>
            <a:fillRect/>
          </a:stretch>
        </p:blipFill>
        <p:spPr>
          <a:xfrm>
            <a:off x="4846320" y="1371600"/>
            <a:ext cx="365760" cy="365760"/>
          </a:xfrm>
          <a:prstGeom prst="rect">
            <a:avLst/>
          </a:prstGeom>
        </p:spPr>
      </p:pic>
      <p:sp>
        <p:nvSpPr>
          <p:cNvPr id="14" name="Text 10"/>
          <p:cNvSpPr/>
          <p:nvPr/>
        </p:nvSpPr>
        <p:spPr>
          <a:xfrm>
            <a:off x="5303520" y="130759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VLAN bien identificadas</a:t>
            </a:r>
            <a:endParaRPr lang="en-US" sz="1200" dirty="0"/>
          </a:p>
        </p:txBody>
      </p:sp>
      <p:sp>
        <p:nvSpPr>
          <p:cNvPr id="15" name="Text 11"/>
          <p:cNvSpPr/>
          <p:nvPr/>
        </p:nvSpPr>
        <p:spPr>
          <a:xfrm>
            <a:off x="4846320" y="1737360"/>
            <a:ext cx="3657600" cy="502920"/>
          </a:xfrm>
          <a:prstGeom prst="rect">
            <a:avLst/>
          </a:prstGeom>
          <a:noFill/>
          <a:ln/>
        </p:spPr>
        <p:txBody>
          <a:bodyPr wrap="square" lIns="0" tIns="0" rIns="0" bIns="0" rtlCol="0" anchor="t"/>
          <a:lstStyle/>
          <a:p>
            <a:pPr marL="0" indent="0">
              <a:buNone/>
            </a:pPr>
            <a:r>
              <a:rPr lang="en-US" sz="950" dirty="0">
                <a:solidFill>
                  <a:srgbClr val="374151"/>
                </a:solidFill>
              </a:rPr>
              <a:t>Numero, nombre y puertos asignados coinciden con el requerimiento.</a:t>
            </a:r>
            <a:endParaRPr lang="en-US" sz="950" dirty="0"/>
          </a:p>
        </p:txBody>
      </p:sp>
      <p:sp>
        <p:nvSpPr>
          <p:cNvPr id="16" name="Shape 12"/>
          <p:cNvSpPr/>
          <p:nvPr/>
        </p:nvSpPr>
        <p:spPr>
          <a:xfrm>
            <a:off x="457200" y="242316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17" name="Shape 13"/>
          <p:cNvSpPr/>
          <p:nvPr/>
        </p:nvSpPr>
        <p:spPr>
          <a:xfrm>
            <a:off x="457200" y="2423160"/>
            <a:ext cx="64008" cy="1097280"/>
          </a:xfrm>
          <a:prstGeom prst="rect">
            <a:avLst/>
          </a:prstGeom>
          <a:solidFill>
            <a:srgbClr val="1A4D7A"/>
          </a:solidFill>
          <a:ln/>
        </p:spPr>
        <p:txBody>
          <a:bodyPr/>
          <a:lstStyle/>
          <a:p>
            <a:endParaRPr lang="es-CO"/>
          </a:p>
        </p:txBody>
      </p:sp>
      <p:pic>
        <p:nvPicPr>
          <p:cNvPr id="18" name="Image 2" descr="preencoded.png"/>
          <p:cNvPicPr>
            <a:picLocks noChangeAspect="1"/>
          </p:cNvPicPr>
          <p:nvPr/>
        </p:nvPicPr>
        <p:blipFill>
          <a:blip r:embed="rId3"/>
          <a:stretch>
            <a:fillRect/>
          </a:stretch>
        </p:blipFill>
        <p:spPr>
          <a:xfrm>
            <a:off x="640080" y="2606040"/>
            <a:ext cx="365760" cy="365760"/>
          </a:xfrm>
          <a:prstGeom prst="rect">
            <a:avLst/>
          </a:prstGeom>
        </p:spPr>
      </p:pic>
      <p:sp>
        <p:nvSpPr>
          <p:cNvPr id="19" name="Text 14"/>
          <p:cNvSpPr/>
          <p:nvPr/>
        </p:nvSpPr>
        <p:spPr>
          <a:xfrm>
            <a:off x="1097280" y="254203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Conectividad intra-VLAN</a:t>
            </a:r>
            <a:endParaRPr lang="en-US" sz="1200" dirty="0"/>
          </a:p>
        </p:txBody>
      </p:sp>
      <p:sp>
        <p:nvSpPr>
          <p:cNvPr id="20" name="Text 15"/>
          <p:cNvSpPr/>
          <p:nvPr/>
        </p:nvSpPr>
        <p:spPr>
          <a:xfrm>
            <a:off x="640080" y="2971800"/>
            <a:ext cx="3657600" cy="502920"/>
          </a:xfrm>
          <a:prstGeom prst="rect">
            <a:avLst/>
          </a:prstGeom>
          <a:noFill/>
          <a:ln/>
        </p:spPr>
        <p:txBody>
          <a:bodyPr wrap="square" lIns="0" tIns="0" rIns="0" bIns="0" rtlCol="0" anchor="t"/>
          <a:lstStyle/>
          <a:p>
            <a:pPr marL="0" indent="0">
              <a:buNone/>
            </a:pPr>
            <a:r>
              <a:rPr lang="en-US" sz="950" dirty="0">
                <a:solidFill>
                  <a:srgbClr val="374151"/>
                </a:solidFill>
              </a:rPr>
              <a:t>PCs de la misma VLAN se hacen ping en IPv4 e IPv6.</a:t>
            </a:r>
            <a:endParaRPr lang="en-US" sz="950" dirty="0"/>
          </a:p>
        </p:txBody>
      </p:sp>
      <p:sp>
        <p:nvSpPr>
          <p:cNvPr id="21" name="Shape 16"/>
          <p:cNvSpPr/>
          <p:nvPr/>
        </p:nvSpPr>
        <p:spPr>
          <a:xfrm>
            <a:off x="4663440" y="242316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2" name="Shape 17"/>
          <p:cNvSpPr/>
          <p:nvPr/>
        </p:nvSpPr>
        <p:spPr>
          <a:xfrm>
            <a:off x="4663440" y="2423160"/>
            <a:ext cx="64008" cy="1097280"/>
          </a:xfrm>
          <a:prstGeom prst="rect">
            <a:avLst/>
          </a:prstGeom>
          <a:solidFill>
            <a:srgbClr val="F59E0B"/>
          </a:solidFill>
          <a:ln/>
        </p:spPr>
        <p:txBody>
          <a:bodyPr/>
          <a:lstStyle/>
          <a:p>
            <a:endParaRPr lang="es-CO"/>
          </a:p>
        </p:txBody>
      </p:sp>
      <p:pic>
        <p:nvPicPr>
          <p:cNvPr id="23" name="Image 3" descr="preencoded.png"/>
          <p:cNvPicPr>
            <a:picLocks noChangeAspect="1"/>
          </p:cNvPicPr>
          <p:nvPr/>
        </p:nvPicPr>
        <p:blipFill>
          <a:blip r:embed="rId3"/>
          <a:stretch>
            <a:fillRect/>
          </a:stretch>
        </p:blipFill>
        <p:spPr>
          <a:xfrm>
            <a:off x="4846320" y="2606040"/>
            <a:ext cx="365760" cy="365760"/>
          </a:xfrm>
          <a:prstGeom prst="rect">
            <a:avLst/>
          </a:prstGeom>
        </p:spPr>
      </p:pic>
      <p:sp>
        <p:nvSpPr>
          <p:cNvPr id="24" name="Text 18"/>
          <p:cNvSpPr/>
          <p:nvPr/>
        </p:nvSpPr>
        <p:spPr>
          <a:xfrm>
            <a:off x="5303520" y="254203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Conectividad inter-VLAN</a:t>
            </a:r>
            <a:endParaRPr lang="en-US" sz="1200" dirty="0"/>
          </a:p>
        </p:txBody>
      </p:sp>
      <p:sp>
        <p:nvSpPr>
          <p:cNvPr id="25" name="Text 19"/>
          <p:cNvSpPr/>
          <p:nvPr/>
        </p:nvSpPr>
        <p:spPr>
          <a:xfrm>
            <a:off x="4846320" y="2971800"/>
            <a:ext cx="3657600" cy="502920"/>
          </a:xfrm>
          <a:prstGeom prst="rect">
            <a:avLst/>
          </a:prstGeom>
          <a:noFill/>
          <a:ln/>
        </p:spPr>
        <p:txBody>
          <a:bodyPr wrap="square" lIns="0" tIns="0" rIns="0" bIns="0" rtlCol="0" anchor="t"/>
          <a:lstStyle/>
          <a:p>
            <a:pPr marL="0" indent="0">
              <a:buNone/>
            </a:pPr>
            <a:r>
              <a:rPr lang="en-US" sz="950" dirty="0">
                <a:solidFill>
                  <a:srgbClr val="374151"/>
                </a:solidFill>
              </a:rPr>
              <a:t>PCs de VLAN distintas se hacen ping cruzando R1.</a:t>
            </a:r>
            <a:endParaRPr lang="en-US" sz="950" dirty="0"/>
          </a:p>
        </p:txBody>
      </p:sp>
      <p:sp>
        <p:nvSpPr>
          <p:cNvPr id="26" name="Shape 20"/>
          <p:cNvSpPr/>
          <p:nvPr/>
        </p:nvSpPr>
        <p:spPr>
          <a:xfrm>
            <a:off x="457200" y="365760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27" name="Shape 21"/>
          <p:cNvSpPr/>
          <p:nvPr/>
        </p:nvSpPr>
        <p:spPr>
          <a:xfrm>
            <a:off x="457200" y="3657600"/>
            <a:ext cx="64008" cy="1097280"/>
          </a:xfrm>
          <a:prstGeom prst="rect">
            <a:avLst/>
          </a:prstGeom>
          <a:solidFill>
            <a:srgbClr val="2ECC71"/>
          </a:solidFill>
          <a:ln/>
        </p:spPr>
        <p:txBody>
          <a:bodyPr/>
          <a:lstStyle/>
          <a:p>
            <a:endParaRPr lang="es-CO"/>
          </a:p>
        </p:txBody>
      </p:sp>
      <p:pic>
        <p:nvPicPr>
          <p:cNvPr id="28" name="Image 4" descr="preencoded.png"/>
          <p:cNvPicPr>
            <a:picLocks noChangeAspect="1"/>
          </p:cNvPicPr>
          <p:nvPr/>
        </p:nvPicPr>
        <p:blipFill>
          <a:blip r:embed="rId3"/>
          <a:stretch>
            <a:fillRect/>
          </a:stretch>
        </p:blipFill>
        <p:spPr>
          <a:xfrm>
            <a:off x="640080" y="3840480"/>
            <a:ext cx="365760" cy="365760"/>
          </a:xfrm>
          <a:prstGeom prst="rect">
            <a:avLst/>
          </a:prstGeom>
        </p:spPr>
      </p:pic>
      <p:sp>
        <p:nvSpPr>
          <p:cNvPr id="29" name="Text 22"/>
          <p:cNvSpPr/>
          <p:nvPr/>
        </p:nvSpPr>
        <p:spPr>
          <a:xfrm>
            <a:off x="1097280" y="377647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Interfaces pasivas</a:t>
            </a:r>
            <a:endParaRPr lang="en-US" sz="1200" dirty="0"/>
          </a:p>
        </p:txBody>
      </p:sp>
      <p:sp>
        <p:nvSpPr>
          <p:cNvPr id="30" name="Text 23"/>
          <p:cNvSpPr/>
          <p:nvPr/>
        </p:nvSpPr>
        <p:spPr>
          <a:xfrm>
            <a:off x="640080" y="4206240"/>
            <a:ext cx="3657600" cy="502920"/>
          </a:xfrm>
          <a:prstGeom prst="rect">
            <a:avLst/>
          </a:prstGeom>
          <a:noFill/>
          <a:ln/>
        </p:spPr>
        <p:txBody>
          <a:bodyPr wrap="square" lIns="0" tIns="0" rIns="0" bIns="0" rtlCol="0" anchor="t"/>
          <a:lstStyle/>
          <a:p>
            <a:pPr marL="0" indent="0">
              <a:buNone/>
            </a:pPr>
            <a:r>
              <a:rPr lang="en-US" sz="950" dirty="0">
                <a:solidFill>
                  <a:srgbClr val="374151"/>
                </a:solidFill>
              </a:rPr>
              <a:t>Aplicadas en las subinterfaces LAN, no en las de gestion/WAN.</a:t>
            </a:r>
            <a:endParaRPr lang="en-US" sz="950" dirty="0"/>
          </a:p>
        </p:txBody>
      </p:sp>
      <p:sp>
        <p:nvSpPr>
          <p:cNvPr id="31" name="Shape 24"/>
          <p:cNvSpPr/>
          <p:nvPr/>
        </p:nvSpPr>
        <p:spPr>
          <a:xfrm>
            <a:off x="4663440" y="3657600"/>
            <a:ext cx="402336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s-CO"/>
          </a:p>
        </p:txBody>
      </p:sp>
      <p:sp>
        <p:nvSpPr>
          <p:cNvPr id="32" name="Shape 25"/>
          <p:cNvSpPr/>
          <p:nvPr/>
        </p:nvSpPr>
        <p:spPr>
          <a:xfrm>
            <a:off x="4663440" y="3657600"/>
            <a:ext cx="64008" cy="1097280"/>
          </a:xfrm>
          <a:prstGeom prst="rect">
            <a:avLst/>
          </a:prstGeom>
          <a:solidFill>
            <a:srgbClr val="C0392B"/>
          </a:solidFill>
          <a:ln/>
        </p:spPr>
        <p:txBody>
          <a:bodyPr/>
          <a:lstStyle/>
          <a:p>
            <a:endParaRPr lang="es-CO"/>
          </a:p>
        </p:txBody>
      </p:sp>
      <p:pic>
        <p:nvPicPr>
          <p:cNvPr id="33" name="Image 5" descr="preencoded.png"/>
          <p:cNvPicPr>
            <a:picLocks noChangeAspect="1"/>
          </p:cNvPicPr>
          <p:nvPr/>
        </p:nvPicPr>
        <p:blipFill>
          <a:blip r:embed="rId3"/>
          <a:stretch>
            <a:fillRect/>
          </a:stretch>
        </p:blipFill>
        <p:spPr>
          <a:xfrm>
            <a:off x="4846320" y="3840480"/>
            <a:ext cx="365760" cy="365760"/>
          </a:xfrm>
          <a:prstGeom prst="rect">
            <a:avLst/>
          </a:prstGeom>
        </p:spPr>
      </p:pic>
      <p:sp>
        <p:nvSpPr>
          <p:cNvPr id="34" name="Text 26"/>
          <p:cNvSpPr/>
          <p:nvPr/>
        </p:nvSpPr>
        <p:spPr>
          <a:xfrm>
            <a:off x="5303520" y="3776472"/>
            <a:ext cx="3200400" cy="320040"/>
          </a:xfrm>
          <a:prstGeom prst="rect">
            <a:avLst/>
          </a:prstGeom>
          <a:noFill/>
          <a:ln/>
        </p:spPr>
        <p:txBody>
          <a:bodyPr wrap="square" lIns="0" tIns="0" rIns="0" bIns="0" rtlCol="0" anchor="ctr"/>
          <a:lstStyle/>
          <a:p>
            <a:pPr marL="0" indent="0">
              <a:buNone/>
            </a:pPr>
            <a:r>
              <a:rPr lang="en-US" sz="1200" b="1" dirty="0">
                <a:solidFill>
                  <a:srgbClr val="003057"/>
                </a:solidFill>
              </a:rPr>
              <a:t>Documentacion clara</a:t>
            </a:r>
            <a:endParaRPr lang="en-US" sz="1200" dirty="0"/>
          </a:p>
        </p:txBody>
      </p:sp>
      <p:sp>
        <p:nvSpPr>
          <p:cNvPr id="35" name="Text 27"/>
          <p:cNvSpPr/>
          <p:nvPr/>
        </p:nvSpPr>
        <p:spPr>
          <a:xfrm>
            <a:off x="4846320" y="4206240"/>
            <a:ext cx="3657600" cy="502920"/>
          </a:xfrm>
          <a:prstGeom prst="rect">
            <a:avLst/>
          </a:prstGeom>
          <a:noFill/>
          <a:ln/>
        </p:spPr>
        <p:txBody>
          <a:bodyPr wrap="square" lIns="0" tIns="0" rIns="0" bIns="0" rtlCol="0" anchor="t"/>
          <a:lstStyle/>
          <a:p>
            <a:pPr marL="0" indent="0">
              <a:buNone/>
            </a:pPr>
            <a:r>
              <a:rPr lang="en-US" sz="950" dirty="0">
                <a:solidFill>
                  <a:srgbClr val="374151"/>
                </a:solidFill>
              </a:rPr>
              <a:t>Tablas legibles, nombres consistentes, capturas de verificacion.</a:t>
            </a:r>
            <a:endParaRPr lang="en-US" sz="950" dirty="0"/>
          </a:p>
        </p:txBody>
      </p:sp>
      <p:sp>
        <p:nvSpPr>
          <p:cNvPr id="36" name="Shape 28"/>
          <p:cNvSpPr/>
          <p:nvPr/>
        </p:nvSpPr>
        <p:spPr>
          <a:xfrm>
            <a:off x="0" y="4892040"/>
            <a:ext cx="9144000" cy="256032"/>
          </a:xfrm>
          <a:prstGeom prst="rect">
            <a:avLst/>
          </a:prstGeom>
          <a:solidFill>
            <a:srgbClr val="003057"/>
          </a:solidFill>
          <a:ln/>
        </p:spPr>
        <p:txBody>
          <a:bodyPr/>
          <a:lstStyle/>
          <a:p>
            <a:endParaRPr lang="es-CO"/>
          </a:p>
        </p:txBody>
      </p:sp>
      <p:sp>
        <p:nvSpPr>
          <p:cNvPr id="37" name="Text 29"/>
          <p:cNvSpPr/>
          <p:nvPr/>
        </p:nvSpPr>
        <p:spPr>
          <a:xfrm>
            <a:off x="274320" y="4892040"/>
            <a:ext cx="7772400" cy="256032"/>
          </a:xfrm>
          <a:prstGeom prst="rect">
            <a:avLst/>
          </a:prstGeom>
          <a:noFill/>
          <a:ln/>
        </p:spPr>
        <p:txBody>
          <a:bodyPr wrap="square" lIns="0" tIns="0" rIns="0" bIns="0" rtlCol="0" anchor="ctr"/>
          <a:lstStyle/>
          <a:p>
            <a:pPr marL="0" indent="0">
              <a:buNone/>
            </a:pPr>
            <a:r>
              <a:rPr lang="en-US" sz="750" dirty="0">
                <a:solidFill>
                  <a:srgbClr val="AABFD0"/>
                </a:solidFill>
              </a:rPr>
              <a:t>Evidencia GA4-220501104-AA1-EV01 - Simulacion de subredes y direccionamiento IPv4/IPv6</a:t>
            </a:r>
            <a:endParaRPr lang="en-US" sz="750" dirty="0"/>
          </a:p>
        </p:txBody>
      </p:sp>
      <p:sp>
        <p:nvSpPr>
          <p:cNvPr id="38" name="Text 30"/>
          <p:cNvSpPr/>
          <p:nvPr/>
        </p:nvSpPr>
        <p:spPr>
          <a:xfrm>
            <a:off x="8503920" y="4892040"/>
            <a:ext cx="457200" cy="256032"/>
          </a:xfrm>
          <a:prstGeom prst="rect">
            <a:avLst/>
          </a:prstGeom>
          <a:noFill/>
          <a:ln/>
        </p:spPr>
        <p:txBody>
          <a:bodyPr wrap="square" lIns="0" tIns="0" rIns="0" bIns="0" rtlCol="0" anchor="ctr"/>
          <a:lstStyle/>
          <a:p>
            <a:pPr marL="0" indent="0" algn="r">
              <a:buNone/>
            </a:pPr>
            <a:r>
              <a:rPr lang="en-US" sz="800" dirty="0">
                <a:solidFill>
                  <a:srgbClr val="AABFD0"/>
                </a:solidFill>
              </a:rPr>
              <a:t>19 / 20</a:t>
            </a:r>
            <a:endParaRPr lang="en-US" sz="800" dirty="0"/>
          </a:p>
        </p:txBody>
      </p:sp>
      <p:sp>
        <p:nvSpPr>
          <p:cNvPr id="39" name="Shape 31"/>
          <p:cNvSpPr/>
          <p:nvPr/>
        </p:nvSpPr>
        <p:spPr>
          <a:xfrm>
            <a:off x="0" y="4892040"/>
            <a:ext cx="54864" cy="256032"/>
          </a:xfrm>
          <a:prstGeom prst="rect">
            <a:avLst/>
          </a:prstGeom>
          <a:solidFill>
            <a:srgbClr val="39A900"/>
          </a:solidFill>
          <a:ln/>
        </p:spPr>
        <p:txBody>
          <a:bodyPr/>
          <a:lstStyle/>
          <a:p>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9A900"/>
          </a:solidFill>
          <a:ln/>
        </p:spPr>
        <p:txBody>
          <a:bodyPr/>
          <a:lstStyle/>
          <a:p>
            <a:endParaRPr lang="es-CO"/>
          </a:p>
        </p:txBody>
      </p:sp>
      <p:sp>
        <p:nvSpPr>
          <p:cNvPr id="3" name="Shape 1"/>
          <p:cNvSpPr/>
          <p:nvPr/>
        </p:nvSpPr>
        <p:spPr>
          <a:xfrm>
            <a:off x="0" y="4800600"/>
            <a:ext cx="9144000" cy="73152"/>
          </a:xfrm>
          <a:prstGeom prst="rect">
            <a:avLst/>
          </a:prstGeom>
          <a:solidFill>
            <a:srgbClr val="39A900"/>
          </a:solidFill>
          <a:ln/>
        </p:spPr>
        <p:txBody>
          <a:bodyPr/>
          <a:lstStyle/>
          <a:p>
            <a:endParaRPr lang="es-CO"/>
          </a:p>
        </p:txBody>
      </p:sp>
      <p:sp>
        <p:nvSpPr>
          <p:cNvPr id="4" name="Text 2"/>
          <p:cNvSpPr/>
          <p:nvPr/>
        </p:nvSpPr>
        <p:spPr>
          <a:xfrm>
            <a:off x="548640" y="1005840"/>
            <a:ext cx="8046720" cy="777240"/>
          </a:xfrm>
          <a:prstGeom prst="rect">
            <a:avLst/>
          </a:prstGeom>
          <a:noFill/>
          <a:ln/>
        </p:spPr>
        <p:txBody>
          <a:bodyPr wrap="square" lIns="0" tIns="0" rIns="0" bIns="0" rtlCol="0" anchor="ctr"/>
          <a:lstStyle/>
          <a:p>
            <a:pPr marL="0" indent="0">
              <a:buNone/>
            </a:pPr>
            <a:r>
              <a:rPr lang="en-US" sz="4200" b="1" dirty="0">
                <a:solidFill>
                  <a:srgbClr val="FFFFFF"/>
                </a:solidFill>
              </a:rPr>
              <a:t>Listo para implementar!</a:t>
            </a:r>
            <a:endParaRPr lang="en-US" sz="4200" dirty="0"/>
          </a:p>
        </p:txBody>
      </p:sp>
      <p:sp>
        <p:nvSpPr>
          <p:cNvPr id="5" name="Text 3"/>
          <p:cNvSpPr/>
          <p:nvPr/>
        </p:nvSpPr>
        <p:spPr>
          <a:xfrm>
            <a:off x="548640" y="1828800"/>
            <a:ext cx="8046720" cy="1005840"/>
          </a:xfrm>
          <a:prstGeom prst="rect">
            <a:avLst/>
          </a:prstGeom>
          <a:noFill/>
          <a:ln/>
        </p:spPr>
        <p:txBody>
          <a:bodyPr wrap="square" lIns="0" tIns="0" rIns="0" bIns="0" rtlCol="0" anchor="t"/>
          <a:lstStyle/>
          <a:p>
            <a:pPr marL="0" indent="0">
              <a:buNone/>
            </a:pPr>
            <a:r>
              <a:rPr lang="en-US" sz="1500" i="1" dirty="0">
                <a:solidFill>
                  <a:srgbClr val="AABFD0"/>
                </a:solidFill>
              </a:rPr>
              <a:t>Con este tutorial tienes la hoja de ruta completa para entregar la evidencia GA4-220501104-AA1-EV01 y demostrar el dominio del esquema de subredes IPv4 e IPv6.</a:t>
            </a:r>
            <a:endParaRPr lang="en-US" sz="1500" dirty="0"/>
          </a:p>
        </p:txBody>
      </p:sp>
      <p:sp>
        <p:nvSpPr>
          <p:cNvPr id="6" name="Shape 4"/>
          <p:cNvSpPr/>
          <p:nvPr/>
        </p:nvSpPr>
        <p:spPr>
          <a:xfrm>
            <a:off x="548640" y="3200400"/>
            <a:ext cx="1965960" cy="822960"/>
          </a:xfrm>
          <a:prstGeom prst="rect">
            <a:avLst/>
          </a:prstGeom>
          <a:solidFill>
            <a:srgbClr val="001F3F"/>
          </a:solidFill>
          <a:ln/>
          <a:effectLst>
            <a:outerShdw blurRad="50800" dist="25400" dir="8100000" algn="bl" rotWithShape="0">
              <a:srgbClr val="000000">
                <a:alpha val="12000"/>
              </a:srgbClr>
            </a:outerShdw>
          </a:effectLst>
        </p:spPr>
        <p:txBody>
          <a:bodyPr/>
          <a:lstStyle/>
          <a:p>
            <a:endParaRPr lang="es-CO"/>
          </a:p>
        </p:txBody>
      </p:sp>
      <p:sp>
        <p:nvSpPr>
          <p:cNvPr id="7" name="Shape 5"/>
          <p:cNvSpPr/>
          <p:nvPr/>
        </p:nvSpPr>
        <p:spPr>
          <a:xfrm>
            <a:off x="548640" y="3200400"/>
            <a:ext cx="64008" cy="822960"/>
          </a:xfrm>
          <a:prstGeom prst="rect">
            <a:avLst/>
          </a:prstGeom>
          <a:solidFill>
            <a:srgbClr val="39A900"/>
          </a:solidFill>
          <a:ln/>
        </p:spPr>
        <p:txBody>
          <a:bodyPr/>
          <a:lstStyle/>
          <a:p>
            <a:endParaRPr lang="es-CO"/>
          </a:p>
        </p:txBody>
      </p:sp>
      <p:sp>
        <p:nvSpPr>
          <p:cNvPr id="8" name="Text 6"/>
          <p:cNvSpPr/>
          <p:nvPr/>
        </p:nvSpPr>
        <p:spPr>
          <a:xfrm>
            <a:off x="685800" y="3246120"/>
            <a:ext cx="1828800" cy="320040"/>
          </a:xfrm>
          <a:prstGeom prst="rect">
            <a:avLst/>
          </a:prstGeom>
          <a:noFill/>
          <a:ln/>
        </p:spPr>
        <p:txBody>
          <a:bodyPr wrap="square" lIns="0" tIns="0" rIns="0" bIns="0" rtlCol="0" anchor="ctr"/>
          <a:lstStyle/>
          <a:p>
            <a:pPr marL="0" indent="0">
              <a:buNone/>
            </a:pPr>
            <a:r>
              <a:rPr lang="en-US" sz="1100" b="1" dirty="0">
                <a:solidFill>
                  <a:srgbClr val="FFFFFF"/>
                </a:solidFill>
              </a:rPr>
              <a:t>Cisco NetAcad</a:t>
            </a:r>
            <a:endParaRPr lang="en-US" sz="1100" dirty="0"/>
          </a:p>
        </p:txBody>
      </p:sp>
      <p:sp>
        <p:nvSpPr>
          <p:cNvPr id="9" name="Text 7"/>
          <p:cNvSpPr/>
          <p:nvPr/>
        </p:nvSpPr>
        <p:spPr>
          <a:xfrm>
            <a:off x="685800" y="3566160"/>
            <a:ext cx="1828800" cy="320040"/>
          </a:xfrm>
          <a:prstGeom prst="rect">
            <a:avLst/>
          </a:prstGeom>
          <a:noFill/>
          <a:ln/>
        </p:spPr>
        <p:txBody>
          <a:bodyPr wrap="square" lIns="0" tIns="0" rIns="0" bIns="0" rtlCol="0" anchor="ctr"/>
          <a:lstStyle/>
          <a:p>
            <a:pPr marL="0" indent="0">
              <a:buNone/>
            </a:pPr>
            <a:r>
              <a:rPr lang="en-US" sz="900" i="1" dirty="0">
                <a:solidFill>
                  <a:srgbClr val="AABFD0"/>
                </a:solidFill>
              </a:rPr>
              <a:t>netacad.com</a:t>
            </a:r>
            <a:endParaRPr lang="en-US" sz="900" dirty="0"/>
          </a:p>
        </p:txBody>
      </p:sp>
      <p:sp>
        <p:nvSpPr>
          <p:cNvPr id="10" name="Shape 8"/>
          <p:cNvSpPr/>
          <p:nvPr/>
        </p:nvSpPr>
        <p:spPr>
          <a:xfrm>
            <a:off x="2606040" y="3200400"/>
            <a:ext cx="1965960" cy="822960"/>
          </a:xfrm>
          <a:prstGeom prst="rect">
            <a:avLst/>
          </a:prstGeom>
          <a:solidFill>
            <a:srgbClr val="001F3F"/>
          </a:solidFill>
          <a:ln/>
          <a:effectLst>
            <a:outerShdw blurRad="50800" dist="25400" dir="8100000" algn="bl" rotWithShape="0">
              <a:srgbClr val="000000">
                <a:alpha val="12000"/>
              </a:srgbClr>
            </a:outerShdw>
          </a:effectLst>
        </p:spPr>
        <p:txBody>
          <a:bodyPr/>
          <a:lstStyle/>
          <a:p>
            <a:endParaRPr lang="es-CO"/>
          </a:p>
        </p:txBody>
      </p:sp>
      <p:sp>
        <p:nvSpPr>
          <p:cNvPr id="11" name="Shape 9"/>
          <p:cNvSpPr/>
          <p:nvPr/>
        </p:nvSpPr>
        <p:spPr>
          <a:xfrm>
            <a:off x="2606040" y="3200400"/>
            <a:ext cx="64008" cy="822960"/>
          </a:xfrm>
          <a:prstGeom prst="rect">
            <a:avLst/>
          </a:prstGeom>
          <a:solidFill>
            <a:srgbClr val="39A900"/>
          </a:solidFill>
          <a:ln/>
        </p:spPr>
        <p:txBody>
          <a:bodyPr/>
          <a:lstStyle/>
          <a:p>
            <a:endParaRPr lang="es-CO"/>
          </a:p>
        </p:txBody>
      </p:sp>
      <p:sp>
        <p:nvSpPr>
          <p:cNvPr id="12" name="Text 10"/>
          <p:cNvSpPr/>
          <p:nvPr/>
        </p:nvSpPr>
        <p:spPr>
          <a:xfrm>
            <a:off x="2743200" y="3246120"/>
            <a:ext cx="1828800" cy="320040"/>
          </a:xfrm>
          <a:prstGeom prst="rect">
            <a:avLst/>
          </a:prstGeom>
          <a:noFill/>
          <a:ln/>
        </p:spPr>
        <p:txBody>
          <a:bodyPr wrap="square" lIns="0" tIns="0" rIns="0" bIns="0" rtlCol="0" anchor="ctr"/>
          <a:lstStyle/>
          <a:p>
            <a:pPr marL="0" indent="0">
              <a:buNone/>
            </a:pPr>
            <a:r>
              <a:rPr lang="en-US" sz="1100" b="1" dirty="0">
                <a:solidFill>
                  <a:srgbClr val="FFFFFF"/>
                </a:solidFill>
              </a:rPr>
              <a:t>Documentacion Cisco IOS</a:t>
            </a:r>
            <a:endParaRPr lang="en-US" sz="1100" dirty="0"/>
          </a:p>
        </p:txBody>
      </p:sp>
      <p:sp>
        <p:nvSpPr>
          <p:cNvPr id="13" name="Text 11"/>
          <p:cNvSpPr/>
          <p:nvPr/>
        </p:nvSpPr>
        <p:spPr>
          <a:xfrm>
            <a:off x="2743200" y="3566160"/>
            <a:ext cx="1828800" cy="320040"/>
          </a:xfrm>
          <a:prstGeom prst="rect">
            <a:avLst/>
          </a:prstGeom>
          <a:noFill/>
          <a:ln/>
        </p:spPr>
        <p:txBody>
          <a:bodyPr wrap="square" lIns="0" tIns="0" rIns="0" bIns="0" rtlCol="0" anchor="ctr"/>
          <a:lstStyle/>
          <a:p>
            <a:pPr marL="0" indent="0">
              <a:buNone/>
            </a:pPr>
            <a:r>
              <a:rPr lang="en-US" sz="900" i="1" dirty="0">
                <a:solidFill>
                  <a:srgbClr val="AABFD0"/>
                </a:solidFill>
              </a:rPr>
              <a:t>cisco.com/support</a:t>
            </a:r>
            <a:endParaRPr lang="en-US" sz="900" dirty="0"/>
          </a:p>
        </p:txBody>
      </p:sp>
      <p:sp>
        <p:nvSpPr>
          <p:cNvPr id="14" name="Shape 12"/>
          <p:cNvSpPr/>
          <p:nvPr/>
        </p:nvSpPr>
        <p:spPr>
          <a:xfrm>
            <a:off x="4663440" y="3200400"/>
            <a:ext cx="1965960" cy="822960"/>
          </a:xfrm>
          <a:prstGeom prst="rect">
            <a:avLst/>
          </a:prstGeom>
          <a:solidFill>
            <a:srgbClr val="001F3F"/>
          </a:solidFill>
          <a:ln/>
          <a:effectLst>
            <a:outerShdw blurRad="50800" dist="25400" dir="8100000" algn="bl" rotWithShape="0">
              <a:srgbClr val="000000">
                <a:alpha val="12000"/>
              </a:srgbClr>
            </a:outerShdw>
          </a:effectLst>
        </p:spPr>
        <p:txBody>
          <a:bodyPr/>
          <a:lstStyle/>
          <a:p>
            <a:endParaRPr lang="es-CO"/>
          </a:p>
        </p:txBody>
      </p:sp>
      <p:sp>
        <p:nvSpPr>
          <p:cNvPr id="15" name="Shape 13"/>
          <p:cNvSpPr/>
          <p:nvPr/>
        </p:nvSpPr>
        <p:spPr>
          <a:xfrm>
            <a:off x="4663440" y="3200400"/>
            <a:ext cx="64008" cy="822960"/>
          </a:xfrm>
          <a:prstGeom prst="rect">
            <a:avLst/>
          </a:prstGeom>
          <a:solidFill>
            <a:srgbClr val="39A900"/>
          </a:solidFill>
          <a:ln/>
        </p:spPr>
        <p:txBody>
          <a:bodyPr/>
          <a:lstStyle/>
          <a:p>
            <a:endParaRPr lang="es-CO"/>
          </a:p>
        </p:txBody>
      </p:sp>
      <p:sp>
        <p:nvSpPr>
          <p:cNvPr id="16" name="Text 14"/>
          <p:cNvSpPr/>
          <p:nvPr/>
        </p:nvSpPr>
        <p:spPr>
          <a:xfrm>
            <a:off x="4800600" y="3246120"/>
            <a:ext cx="1828800" cy="320040"/>
          </a:xfrm>
          <a:prstGeom prst="rect">
            <a:avLst/>
          </a:prstGeom>
          <a:noFill/>
          <a:ln/>
        </p:spPr>
        <p:txBody>
          <a:bodyPr wrap="square" lIns="0" tIns="0" rIns="0" bIns="0" rtlCol="0" anchor="ctr"/>
          <a:lstStyle/>
          <a:p>
            <a:pPr marL="0" indent="0">
              <a:buNone/>
            </a:pPr>
            <a:r>
              <a:rPr lang="en-US" sz="1100" b="1" dirty="0">
                <a:solidFill>
                  <a:srgbClr val="FFFFFF"/>
                </a:solidFill>
              </a:rPr>
              <a:t>Calculadora VLSM</a:t>
            </a:r>
            <a:endParaRPr lang="en-US" sz="1100" dirty="0"/>
          </a:p>
        </p:txBody>
      </p:sp>
      <p:sp>
        <p:nvSpPr>
          <p:cNvPr id="17" name="Text 15"/>
          <p:cNvSpPr/>
          <p:nvPr/>
        </p:nvSpPr>
        <p:spPr>
          <a:xfrm>
            <a:off x="4800600" y="3566160"/>
            <a:ext cx="1828800" cy="320040"/>
          </a:xfrm>
          <a:prstGeom prst="rect">
            <a:avLst/>
          </a:prstGeom>
          <a:noFill/>
          <a:ln/>
        </p:spPr>
        <p:txBody>
          <a:bodyPr wrap="square" lIns="0" tIns="0" rIns="0" bIns="0" rtlCol="0" anchor="ctr"/>
          <a:lstStyle/>
          <a:p>
            <a:pPr marL="0" indent="0">
              <a:buNone/>
            </a:pPr>
            <a:r>
              <a:rPr lang="en-US" sz="900" i="1" dirty="0">
                <a:solidFill>
                  <a:srgbClr val="AABFD0"/>
                </a:solidFill>
              </a:rPr>
              <a:t>subnet-calculator.com</a:t>
            </a:r>
            <a:endParaRPr lang="en-US" sz="900" dirty="0"/>
          </a:p>
        </p:txBody>
      </p:sp>
      <p:sp>
        <p:nvSpPr>
          <p:cNvPr id="18" name="Shape 16"/>
          <p:cNvSpPr/>
          <p:nvPr/>
        </p:nvSpPr>
        <p:spPr>
          <a:xfrm>
            <a:off x="6720840" y="3200400"/>
            <a:ext cx="1965960" cy="822960"/>
          </a:xfrm>
          <a:prstGeom prst="rect">
            <a:avLst/>
          </a:prstGeom>
          <a:solidFill>
            <a:srgbClr val="001F3F"/>
          </a:solidFill>
          <a:ln/>
          <a:effectLst>
            <a:outerShdw blurRad="50800" dist="25400" dir="8100000" algn="bl" rotWithShape="0">
              <a:srgbClr val="000000">
                <a:alpha val="12000"/>
              </a:srgbClr>
            </a:outerShdw>
          </a:effectLst>
        </p:spPr>
        <p:txBody>
          <a:bodyPr/>
          <a:lstStyle/>
          <a:p>
            <a:endParaRPr lang="es-CO"/>
          </a:p>
        </p:txBody>
      </p:sp>
      <p:sp>
        <p:nvSpPr>
          <p:cNvPr id="19" name="Shape 17"/>
          <p:cNvSpPr/>
          <p:nvPr/>
        </p:nvSpPr>
        <p:spPr>
          <a:xfrm>
            <a:off x="6720840" y="3200400"/>
            <a:ext cx="64008" cy="822960"/>
          </a:xfrm>
          <a:prstGeom prst="rect">
            <a:avLst/>
          </a:prstGeom>
          <a:solidFill>
            <a:srgbClr val="39A900"/>
          </a:solidFill>
          <a:ln/>
        </p:spPr>
        <p:txBody>
          <a:bodyPr/>
          <a:lstStyle/>
          <a:p>
            <a:endParaRPr lang="es-CO"/>
          </a:p>
        </p:txBody>
      </p:sp>
      <p:sp>
        <p:nvSpPr>
          <p:cNvPr id="20" name="Text 18"/>
          <p:cNvSpPr/>
          <p:nvPr/>
        </p:nvSpPr>
        <p:spPr>
          <a:xfrm>
            <a:off x="6858000" y="3246120"/>
            <a:ext cx="1828800" cy="320040"/>
          </a:xfrm>
          <a:prstGeom prst="rect">
            <a:avLst/>
          </a:prstGeom>
          <a:noFill/>
          <a:ln/>
        </p:spPr>
        <p:txBody>
          <a:bodyPr wrap="square" lIns="0" tIns="0" rIns="0" bIns="0" rtlCol="0" anchor="ctr"/>
          <a:lstStyle/>
          <a:p>
            <a:pPr marL="0" indent="0">
              <a:buNone/>
            </a:pPr>
            <a:r>
              <a:rPr lang="en-US" sz="1100" b="1" dirty="0">
                <a:solidFill>
                  <a:srgbClr val="FFFFFF"/>
                </a:solidFill>
              </a:rPr>
              <a:t>RFC IPv6</a:t>
            </a:r>
            <a:endParaRPr lang="en-US" sz="1100" dirty="0"/>
          </a:p>
        </p:txBody>
      </p:sp>
      <p:sp>
        <p:nvSpPr>
          <p:cNvPr id="21" name="Text 19"/>
          <p:cNvSpPr/>
          <p:nvPr/>
        </p:nvSpPr>
        <p:spPr>
          <a:xfrm>
            <a:off x="6858000" y="3566160"/>
            <a:ext cx="1828800" cy="320040"/>
          </a:xfrm>
          <a:prstGeom prst="rect">
            <a:avLst/>
          </a:prstGeom>
          <a:noFill/>
          <a:ln/>
        </p:spPr>
        <p:txBody>
          <a:bodyPr wrap="square" lIns="0" tIns="0" rIns="0" bIns="0" rtlCol="0" anchor="ctr"/>
          <a:lstStyle/>
          <a:p>
            <a:pPr marL="0" indent="0">
              <a:buNone/>
            </a:pPr>
            <a:r>
              <a:rPr lang="en-US" sz="900" i="1" dirty="0">
                <a:solidFill>
                  <a:srgbClr val="AABFD0"/>
                </a:solidFill>
              </a:rPr>
              <a:t>RFC 4291, RFC 8200</a:t>
            </a:r>
            <a:endParaRPr lang="en-US" sz="900" dirty="0"/>
          </a:p>
        </p:txBody>
      </p:sp>
      <p:sp>
        <p:nvSpPr>
          <p:cNvPr id="22" name="Shape 20"/>
          <p:cNvSpPr/>
          <p:nvPr/>
        </p:nvSpPr>
        <p:spPr>
          <a:xfrm>
            <a:off x="548640" y="4389120"/>
            <a:ext cx="731520" cy="320040"/>
          </a:xfrm>
          <a:prstGeom prst="rect">
            <a:avLst/>
          </a:prstGeom>
          <a:solidFill>
            <a:srgbClr val="39A900"/>
          </a:solidFill>
          <a:ln/>
        </p:spPr>
        <p:txBody>
          <a:bodyPr/>
          <a:lstStyle/>
          <a:p>
            <a:endParaRPr lang="es-CO"/>
          </a:p>
        </p:txBody>
      </p:sp>
      <p:sp>
        <p:nvSpPr>
          <p:cNvPr id="23" name="Text 21"/>
          <p:cNvSpPr/>
          <p:nvPr/>
        </p:nvSpPr>
        <p:spPr>
          <a:xfrm>
            <a:off x="548640" y="4389120"/>
            <a:ext cx="731520" cy="320040"/>
          </a:xfrm>
          <a:prstGeom prst="rect">
            <a:avLst/>
          </a:prstGeom>
          <a:noFill/>
          <a:ln/>
        </p:spPr>
        <p:txBody>
          <a:bodyPr wrap="square" lIns="0" tIns="0" rIns="0" bIns="0" rtlCol="0" anchor="ctr"/>
          <a:lstStyle/>
          <a:p>
            <a:pPr marL="0" indent="0" algn="ctr">
              <a:buNone/>
            </a:pPr>
            <a:r>
              <a:rPr lang="en-US" sz="1200" b="1" dirty="0">
                <a:solidFill>
                  <a:srgbClr val="FFFFFF"/>
                </a:solidFill>
              </a:rPr>
              <a:t>SENA</a:t>
            </a:r>
            <a:endParaRPr lang="en-US" sz="1200" dirty="0"/>
          </a:p>
        </p:txBody>
      </p:sp>
      <p:sp>
        <p:nvSpPr>
          <p:cNvPr id="24" name="Text 22"/>
          <p:cNvSpPr/>
          <p:nvPr/>
        </p:nvSpPr>
        <p:spPr>
          <a:xfrm>
            <a:off x="1325880" y="4425696"/>
            <a:ext cx="2743200" cy="256032"/>
          </a:xfrm>
          <a:prstGeom prst="rect">
            <a:avLst/>
          </a:prstGeom>
          <a:noFill/>
          <a:ln/>
        </p:spPr>
        <p:txBody>
          <a:bodyPr wrap="square" lIns="0" tIns="0" rIns="0" bIns="0" rtlCol="0" anchor="ctr"/>
          <a:lstStyle/>
          <a:p>
            <a:pPr marL="0" indent="0">
              <a:buNone/>
            </a:pPr>
            <a:r>
              <a:rPr lang="en-US" sz="800" dirty="0">
                <a:solidFill>
                  <a:srgbClr val="6B7280"/>
                </a:solidFill>
              </a:rPr>
              <a:t>Servicio Nacional de Aprendizaje</a:t>
            </a:r>
            <a:endParaRPr lang="en-US" sz="800" dirty="0"/>
          </a:p>
        </p:txBody>
      </p:sp>
      <p:sp>
        <p:nvSpPr>
          <p:cNvPr id="25" name="Text 23"/>
          <p:cNvSpPr/>
          <p:nvPr/>
        </p:nvSpPr>
        <p:spPr>
          <a:xfrm>
            <a:off x="8412480" y="4389120"/>
            <a:ext cx="548640" cy="274320"/>
          </a:xfrm>
          <a:prstGeom prst="rect">
            <a:avLst/>
          </a:prstGeom>
          <a:noFill/>
          <a:ln/>
        </p:spPr>
        <p:txBody>
          <a:bodyPr wrap="square" lIns="0" tIns="0" rIns="0" bIns="0" rtlCol="0" anchor="ctr"/>
          <a:lstStyle/>
          <a:p>
            <a:pPr marL="0" indent="0" algn="r">
              <a:buNone/>
            </a:pPr>
            <a:r>
              <a:rPr lang="en-US" sz="900" dirty="0">
                <a:solidFill>
                  <a:srgbClr val="8FA9BF"/>
                </a:solidFill>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2380</Words>
  <Application>Microsoft Office PowerPoint</Application>
  <PresentationFormat>Presentación en pantalla (16:9)</PresentationFormat>
  <Paragraphs>424</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Evidencia GA4-220501104-AA1-EV01 - Simulacion IPv4/IPv6</dc:title>
  <dc:subject>PptxGenJS Presentation</dc:subject>
  <dc:creator>SENA - Analisis y Desarrollo de Software</dc:creator>
  <cp:lastModifiedBy>David Bohorquez</cp:lastModifiedBy>
  <cp:revision>1</cp:revision>
  <dcterms:created xsi:type="dcterms:W3CDTF">2026-04-22T17:50:38Z</dcterms:created>
  <dcterms:modified xsi:type="dcterms:W3CDTF">2026-04-22T17:53:19Z</dcterms:modified>
</cp:coreProperties>
</file>